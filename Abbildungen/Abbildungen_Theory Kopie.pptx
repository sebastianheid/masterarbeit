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62" r:id="rId2"/>
  </p:sldIdLst>
  <p:sldSz cx="7199313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4"/>
    <p:restoredTop sz="85352"/>
  </p:normalViewPr>
  <p:slideViewPr>
    <p:cSldViewPr snapToGrid="0">
      <p:cViewPr varScale="1">
        <p:scale>
          <a:sx n="159" d="100"/>
          <a:sy n="159" d="100"/>
        </p:scale>
        <p:origin x="12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9D8636-5D06-C446-9D1E-AF216C15BDC8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C073E5-9120-D246-9AE6-4372A486E4B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404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04784" rtl="0" eaLnBrk="1" latinLnBrk="0" hangingPunct="1">
      <a:defRPr sz="794" kern="1200">
        <a:solidFill>
          <a:schemeClr val="tx1"/>
        </a:solidFill>
        <a:latin typeface="+mn-lt"/>
        <a:ea typeface="+mn-ea"/>
        <a:cs typeface="+mn-cs"/>
      </a:defRPr>
    </a:lvl1pPr>
    <a:lvl2pPr marL="302392" algn="l" defTabSz="604784" rtl="0" eaLnBrk="1" latinLnBrk="0" hangingPunct="1">
      <a:defRPr sz="794" kern="1200">
        <a:solidFill>
          <a:schemeClr val="tx1"/>
        </a:solidFill>
        <a:latin typeface="+mn-lt"/>
        <a:ea typeface="+mn-ea"/>
        <a:cs typeface="+mn-cs"/>
      </a:defRPr>
    </a:lvl2pPr>
    <a:lvl3pPr marL="604784" algn="l" defTabSz="604784" rtl="0" eaLnBrk="1" latinLnBrk="0" hangingPunct="1">
      <a:defRPr sz="794" kern="1200">
        <a:solidFill>
          <a:schemeClr val="tx1"/>
        </a:solidFill>
        <a:latin typeface="+mn-lt"/>
        <a:ea typeface="+mn-ea"/>
        <a:cs typeface="+mn-cs"/>
      </a:defRPr>
    </a:lvl3pPr>
    <a:lvl4pPr marL="907176" algn="l" defTabSz="604784" rtl="0" eaLnBrk="1" latinLnBrk="0" hangingPunct="1">
      <a:defRPr sz="794" kern="1200">
        <a:solidFill>
          <a:schemeClr val="tx1"/>
        </a:solidFill>
        <a:latin typeface="+mn-lt"/>
        <a:ea typeface="+mn-ea"/>
        <a:cs typeface="+mn-cs"/>
      </a:defRPr>
    </a:lvl4pPr>
    <a:lvl5pPr marL="1209568" algn="l" defTabSz="604784" rtl="0" eaLnBrk="1" latinLnBrk="0" hangingPunct="1">
      <a:defRPr sz="794" kern="1200">
        <a:solidFill>
          <a:schemeClr val="tx1"/>
        </a:solidFill>
        <a:latin typeface="+mn-lt"/>
        <a:ea typeface="+mn-ea"/>
        <a:cs typeface="+mn-cs"/>
      </a:defRPr>
    </a:lvl5pPr>
    <a:lvl6pPr marL="1511960" algn="l" defTabSz="604784" rtl="0" eaLnBrk="1" latinLnBrk="0" hangingPunct="1">
      <a:defRPr sz="794" kern="1200">
        <a:solidFill>
          <a:schemeClr val="tx1"/>
        </a:solidFill>
        <a:latin typeface="+mn-lt"/>
        <a:ea typeface="+mn-ea"/>
        <a:cs typeface="+mn-cs"/>
      </a:defRPr>
    </a:lvl6pPr>
    <a:lvl7pPr marL="1814352" algn="l" defTabSz="604784" rtl="0" eaLnBrk="1" latinLnBrk="0" hangingPunct="1">
      <a:defRPr sz="794" kern="1200">
        <a:solidFill>
          <a:schemeClr val="tx1"/>
        </a:solidFill>
        <a:latin typeface="+mn-lt"/>
        <a:ea typeface="+mn-ea"/>
        <a:cs typeface="+mn-cs"/>
      </a:defRPr>
    </a:lvl7pPr>
    <a:lvl8pPr marL="2116745" algn="l" defTabSz="604784" rtl="0" eaLnBrk="1" latinLnBrk="0" hangingPunct="1">
      <a:defRPr sz="794" kern="1200">
        <a:solidFill>
          <a:schemeClr val="tx1"/>
        </a:solidFill>
        <a:latin typeface="+mn-lt"/>
        <a:ea typeface="+mn-ea"/>
        <a:cs typeface="+mn-cs"/>
      </a:defRPr>
    </a:lvl8pPr>
    <a:lvl9pPr marL="2419137" algn="l" defTabSz="604784" rtl="0" eaLnBrk="1" latinLnBrk="0" hangingPunct="1">
      <a:defRPr sz="79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1AF7C-EE23-D6DD-8D10-F1956AA41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DA16A68-2F8D-1CD2-FF15-77638E28AE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A236A5A-7F58-DBC1-F1F4-33808DA55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$t \sim \</a:t>
            </a:r>
            <a:r>
              <a:rPr lang="en-GB" dirty="0" err="1"/>
              <a:t>mathcal</a:t>
            </a:r>
            <a:r>
              <a:rPr lang="en-GB" dirty="0"/>
              <a:t>{U}(1,T)$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$\</a:t>
            </a:r>
            <a:r>
              <a:rPr lang="en-GB" dirty="0" err="1"/>
              <a:t>mathbf</a:t>
            </a:r>
            <a:r>
              <a:rPr lang="en-GB" dirty="0"/>
              <a:t>{x}_0 \sim p_\text{data}$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$\</a:t>
            </a:r>
            <a:r>
              <a:rPr lang="en-GB" dirty="0" err="1"/>
              <a:t>mathbf</a:t>
            </a:r>
            <a:r>
              <a:rPr lang="en-GB" dirty="0"/>
              <a:t>{</a:t>
            </a:r>
            <a:r>
              <a:rPr lang="en-GB" dirty="0" err="1"/>
              <a:t>x_t</a:t>
            </a:r>
            <a:r>
              <a:rPr lang="en-GB" dirty="0"/>
              <a:t>} =  \sqrt{\bar{\alpha}_t} \</a:t>
            </a:r>
            <a:r>
              <a:rPr lang="en-GB" dirty="0" err="1"/>
              <a:t>mathbf</a:t>
            </a:r>
            <a:r>
              <a:rPr lang="en-GB" dirty="0"/>
              <a:t>{x_0} + \sqrt{(1- \bar{\alpha}_t)} \</a:t>
            </a:r>
            <a:r>
              <a:rPr lang="en-GB" dirty="0" err="1"/>
              <a:t>boldsymbol</a:t>
            </a:r>
            <a:r>
              <a:rPr lang="en-GB" dirty="0"/>
              <a:t>{\epsilon}$</a:t>
            </a:r>
          </a:p>
          <a:p>
            <a:endParaRPr lang="en-GB" dirty="0"/>
          </a:p>
          <a:p>
            <a:r>
              <a:rPr lang="en-GB" dirty="0"/>
              <a:t>$\</a:t>
            </a:r>
            <a:r>
              <a:rPr lang="en-GB" dirty="0" err="1"/>
              <a:t>mathcal</a:t>
            </a:r>
            <a:r>
              <a:rPr lang="en-GB" dirty="0"/>
              <a:t>{L}_{\text{DDPM}}  =| \</a:t>
            </a:r>
            <a:r>
              <a:rPr lang="en-GB" dirty="0" err="1"/>
              <a:t>boldsymbol</a:t>
            </a:r>
            <a:r>
              <a:rPr lang="en-GB" dirty="0"/>
              <a:t>{\epsilon}_\theta(</a:t>
            </a:r>
            <a:r>
              <a:rPr lang="en-GB" dirty="0" err="1"/>
              <a:t>x_t</a:t>
            </a:r>
            <a:r>
              <a:rPr lang="en-GB" dirty="0"/>
              <a:t>, t) - \</a:t>
            </a:r>
            <a:r>
              <a:rPr lang="en-GB" dirty="0" err="1"/>
              <a:t>boldsymbol</a:t>
            </a:r>
            <a:r>
              <a:rPr lang="en-GB" dirty="0"/>
              <a:t>{\epsilon}_t |_2^2 $</a:t>
            </a:r>
          </a:p>
          <a:p>
            <a:endParaRPr lang="en-GB" dirty="0"/>
          </a:p>
          <a:p>
            <a:r>
              <a:rPr lang="en-GB" dirty="0"/>
              <a:t>$\</a:t>
            </a:r>
            <a:r>
              <a:rPr lang="en-GB" dirty="0" err="1"/>
              <a:t>boldsymbol</a:t>
            </a:r>
            <a:r>
              <a:rPr lang="en-GB" dirty="0"/>
              <a:t>{\epsilon} \sim \</a:t>
            </a:r>
            <a:r>
              <a:rPr lang="en-GB" dirty="0" err="1"/>
              <a:t>mathcal</a:t>
            </a:r>
            <a:r>
              <a:rPr lang="en-GB" dirty="0"/>
              <a:t>{N}(\</a:t>
            </a:r>
            <a:r>
              <a:rPr lang="en-GB" dirty="0" err="1"/>
              <a:t>mathbf</a:t>
            </a:r>
            <a:r>
              <a:rPr lang="en-GB" dirty="0"/>
              <a:t>{0}, \</a:t>
            </a:r>
            <a:r>
              <a:rPr lang="en-GB" dirty="0" err="1"/>
              <a:t>mathbf</a:t>
            </a:r>
            <a:r>
              <a:rPr lang="en-GB" dirty="0"/>
              <a:t>{1})$</a:t>
            </a:r>
          </a:p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833DFF3-E8F2-A76B-91D2-950A50032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073E5-9120-D246-9AE6-4372A486E4B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203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914" y="706933"/>
            <a:ext cx="5399485" cy="1503857"/>
          </a:xfrm>
        </p:spPr>
        <p:txBody>
          <a:bodyPr anchor="b"/>
          <a:lstStyle>
            <a:lvl1pPr algn="ctr">
              <a:defRPr sz="354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2268784"/>
            <a:ext cx="5399485" cy="1042900"/>
          </a:xfrm>
        </p:spPr>
        <p:txBody>
          <a:bodyPr/>
          <a:lstStyle>
            <a:lvl1pPr marL="0" indent="0" algn="ctr">
              <a:buNone/>
              <a:defRPr sz="1417"/>
            </a:lvl1pPr>
            <a:lvl2pPr marL="269977" indent="0" algn="ctr">
              <a:buNone/>
              <a:defRPr sz="1181"/>
            </a:lvl2pPr>
            <a:lvl3pPr marL="539953" indent="0" algn="ctr">
              <a:buNone/>
              <a:defRPr sz="1063"/>
            </a:lvl3pPr>
            <a:lvl4pPr marL="809930" indent="0" algn="ctr">
              <a:buNone/>
              <a:defRPr sz="945"/>
            </a:lvl4pPr>
            <a:lvl5pPr marL="1079906" indent="0" algn="ctr">
              <a:buNone/>
              <a:defRPr sz="945"/>
            </a:lvl5pPr>
            <a:lvl6pPr marL="1349883" indent="0" algn="ctr">
              <a:buNone/>
              <a:defRPr sz="945"/>
            </a:lvl6pPr>
            <a:lvl7pPr marL="1619860" indent="0" algn="ctr">
              <a:buNone/>
              <a:defRPr sz="945"/>
            </a:lvl7pPr>
            <a:lvl8pPr marL="1889836" indent="0" algn="ctr">
              <a:buNone/>
              <a:defRPr sz="945"/>
            </a:lvl8pPr>
            <a:lvl9pPr marL="2159813" indent="0" algn="ctr">
              <a:buNone/>
              <a:defRPr sz="945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92A5-1A7D-3947-B6EA-FDE40E3DBF9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EB3-F351-A642-8ABB-0C09A70251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412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92A5-1A7D-3947-B6EA-FDE40E3DBF9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EB3-F351-A642-8ABB-0C09A70251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85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3" y="1076898"/>
            <a:ext cx="6209407" cy="1796828"/>
          </a:xfrm>
        </p:spPr>
        <p:txBody>
          <a:bodyPr anchor="b"/>
          <a:lstStyle>
            <a:lvl1pPr>
              <a:defRPr sz="354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3" y="2890725"/>
            <a:ext cx="6209407" cy="944910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1pPr>
            <a:lvl2pPr marL="269977" indent="0">
              <a:buNone/>
              <a:defRPr sz="1181">
                <a:solidFill>
                  <a:schemeClr val="tx1">
                    <a:tint val="82000"/>
                  </a:schemeClr>
                </a:solidFill>
              </a:defRPr>
            </a:lvl2pPr>
            <a:lvl3pPr marL="539953" indent="0">
              <a:buNone/>
              <a:defRPr sz="1063">
                <a:solidFill>
                  <a:schemeClr val="tx1">
                    <a:tint val="82000"/>
                  </a:schemeClr>
                </a:solidFill>
              </a:defRPr>
            </a:lvl3pPr>
            <a:lvl4pPr marL="80993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4pPr>
            <a:lvl5pPr marL="1079906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5pPr>
            <a:lvl6pPr marL="1349883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6pPr>
            <a:lvl7pPr marL="161986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7pPr>
            <a:lvl8pPr marL="1889836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8pPr>
            <a:lvl9pPr marL="2159813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92A5-1A7D-3947-B6EA-FDE40E3DBF9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EB3-F351-A642-8ABB-0C09A70251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059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149890"/>
            <a:ext cx="3059708" cy="274073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149890"/>
            <a:ext cx="3059708" cy="274073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92A5-1A7D-3947-B6EA-FDE40E3DBF9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EB3-F351-A642-8ABB-0C09A70251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5638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29978"/>
            <a:ext cx="6209407" cy="8349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058899"/>
            <a:ext cx="3045647" cy="518950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69977" indent="0">
              <a:buNone/>
              <a:defRPr sz="1181" b="1"/>
            </a:lvl2pPr>
            <a:lvl3pPr marL="539953" indent="0">
              <a:buNone/>
              <a:defRPr sz="1063" b="1"/>
            </a:lvl3pPr>
            <a:lvl4pPr marL="809930" indent="0">
              <a:buNone/>
              <a:defRPr sz="945" b="1"/>
            </a:lvl4pPr>
            <a:lvl5pPr marL="1079906" indent="0">
              <a:buNone/>
              <a:defRPr sz="945" b="1"/>
            </a:lvl5pPr>
            <a:lvl6pPr marL="1349883" indent="0">
              <a:buNone/>
              <a:defRPr sz="945" b="1"/>
            </a:lvl6pPr>
            <a:lvl7pPr marL="1619860" indent="0">
              <a:buNone/>
              <a:defRPr sz="945" b="1"/>
            </a:lvl7pPr>
            <a:lvl8pPr marL="1889836" indent="0">
              <a:buNone/>
              <a:defRPr sz="945" b="1"/>
            </a:lvl8pPr>
            <a:lvl9pPr marL="2159813" indent="0">
              <a:buNone/>
              <a:defRPr sz="945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577849"/>
            <a:ext cx="3045647" cy="23207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058899"/>
            <a:ext cx="3060646" cy="518950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69977" indent="0">
              <a:buNone/>
              <a:defRPr sz="1181" b="1"/>
            </a:lvl2pPr>
            <a:lvl3pPr marL="539953" indent="0">
              <a:buNone/>
              <a:defRPr sz="1063" b="1"/>
            </a:lvl3pPr>
            <a:lvl4pPr marL="809930" indent="0">
              <a:buNone/>
              <a:defRPr sz="945" b="1"/>
            </a:lvl4pPr>
            <a:lvl5pPr marL="1079906" indent="0">
              <a:buNone/>
              <a:defRPr sz="945" b="1"/>
            </a:lvl5pPr>
            <a:lvl6pPr marL="1349883" indent="0">
              <a:buNone/>
              <a:defRPr sz="945" b="1"/>
            </a:lvl6pPr>
            <a:lvl7pPr marL="1619860" indent="0">
              <a:buNone/>
              <a:defRPr sz="945" b="1"/>
            </a:lvl7pPr>
            <a:lvl8pPr marL="1889836" indent="0">
              <a:buNone/>
              <a:defRPr sz="945" b="1"/>
            </a:lvl8pPr>
            <a:lvl9pPr marL="2159813" indent="0">
              <a:buNone/>
              <a:defRPr sz="945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577849"/>
            <a:ext cx="3060646" cy="23207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92A5-1A7D-3947-B6EA-FDE40E3DBF9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EB3-F351-A642-8ABB-0C09A70251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99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92A5-1A7D-3947-B6EA-FDE40E3DBF9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EB3-F351-A642-8ABB-0C09A70251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75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92A5-1A7D-3947-B6EA-FDE40E3DBF9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EB3-F351-A642-8ABB-0C09A70251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8750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972"/>
            <a:ext cx="2321966" cy="100790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621941"/>
            <a:ext cx="3644652" cy="3069707"/>
          </a:xfrm>
        </p:spPr>
        <p:txBody>
          <a:bodyPr/>
          <a:lstStyle>
            <a:lvl1pPr>
              <a:defRPr sz="1890"/>
            </a:lvl1pPr>
            <a:lvl2pPr>
              <a:defRPr sz="1653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1295877"/>
            <a:ext cx="2321966" cy="2400771"/>
          </a:xfrm>
        </p:spPr>
        <p:txBody>
          <a:bodyPr/>
          <a:lstStyle>
            <a:lvl1pPr marL="0" indent="0">
              <a:buNone/>
              <a:defRPr sz="945"/>
            </a:lvl1pPr>
            <a:lvl2pPr marL="269977" indent="0">
              <a:buNone/>
              <a:defRPr sz="827"/>
            </a:lvl2pPr>
            <a:lvl3pPr marL="539953" indent="0">
              <a:buNone/>
              <a:defRPr sz="709"/>
            </a:lvl3pPr>
            <a:lvl4pPr marL="809930" indent="0">
              <a:buNone/>
              <a:defRPr sz="591"/>
            </a:lvl4pPr>
            <a:lvl5pPr marL="1079906" indent="0">
              <a:buNone/>
              <a:defRPr sz="591"/>
            </a:lvl5pPr>
            <a:lvl6pPr marL="1349883" indent="0">
              <a:buNone/>
              <a:defRPr sz="591"/>
            </a:lvl6pPr>
            <a:lvl7pPr marL="1619860" indent="0">
              <a:buNone/>
              <a:defRPr sz="591"/>
            </a:lvl7pPr>
            <a:lvl8pPr marL="1889836" indent="0">
              <a:buNone/>
              <a:defRPr sz="591"/>
            </a:lvl8pPr>
            <a:lvl9pPr marL="2159813" indent="0">
              <a:buNone/>
              <a:defRPr sz="59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92A5-1A7D-3947-B6EA-FDE40E3DBF9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EB3-F351-A642-8ABB-0C09A70251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2832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972"/>
            <a:ext cx="2321966" cy="100790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621941"/>
            <a:ext cx="3644652" cy="3069707"/>
          </a:xfrm>
        </p:spPr>
        <p:txBody>
          <a:bodyPr anchor="t"/>
          <a:lstStyle>
            <a:lvl1pPr marL="0" indent="0">
              <a:buNone/>
              <a:defRPr sz="1890"/>
            </a:lvl1pPr>
            <a:lvl2pPr marL="269977" indent="0">
              <a:buNone/>
              <a:defRPr sz="1653"/>
            </a:lvl2pPr>
            <a:lvl3pPr marL="539953" indent="0">
              <a:buNone/>
              <a:defRPr sz="1417"/>
            </a:lvl3pPr>
            <a:lvl4pPr marL="809930" indent="0">
              <a:buNone/>
              <a:defRPr sz="1181"/>
            </a:lvl4pPr>
            <a:lvl5pPr marL="1079906" indent="0">
              <a:buNone/>
              <a:defRPr sz="1181"/>
            </a:lvl5pPr>
            <a:lvl6pPr marL="1349883" indent="0">
              <a:buNone/>
              <a:defRPr sz="1181"/>
            </a:lvl6pPr>
            <a:lvl7pPr marL="1619860" indent="0">
              <a:buNone/>
              <a:defRPr sz="1181"/>
            </a:lvl7pPr>
            <a:lvl8pPr marL="1889836" indent="0">
              <a:buNone/>
              <a:defRPr sz="1181"/>
            </a:lvl8pPr>
            <a:lvl9pPr marL="2159813" indent="0">
              <a:buNone/>
              <a:defRPr sz="1181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1295877"/>
            <a:ext cx="2321966" cy="2400771"/>
          </a:xfrm>
        </p:spPr>
        <p:txBody>
          <a:bodyPr/>
          <a:lstStyle>
            <a:lvl1pPr marL="0" indent="0">
              <a:buNone/>
              <a:defRPr sz="945"/>
            </a:lvl1pPr>
            <a:lvl2pPr marL="269977" indent="0">
              <a:buNone/>
              <a:defRPr sz="827"/>
            </a:lvl2pPr>
            <a:lvl3pPr marL="539953" indent="0">
              <a:buNone/>
              <a:defRPr sz="709"/>
            </a:lvl3pPr>
            <a:lvl4pPr marL="809930" indent="0">
              <a:buNone/>
              <a:defRPr sz="591"/>
            </a:lvl4pPr>
            <a:lvl5pPr marL="1079906" indent="0">
              <a:buNone/>
              <a:defRPr sz="591"/>
            </a:lvl5pPr>
            <a:lvl6pPr marL="1349883" indent="0">
              <a:buNone/>
              <a:defRPr sz="591"/>
            </a:lvl6pPr>
            <a:lvl7pPr marL="1619860" indent="0">
              <a:buNone/>
              <a:defRPr sz="591"/>
            </a:lvl7pPr>
            <a:lvl8pPr marL="1889836" indent="0">
              <a:buNone/>
              <a:defRPr sz="591"/>
            </a:lvl8pPr>
            <a:lvl9pPr marL="2159813" indent="0">
              <a:buNone/>
              <a:defRPr sz="59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92A5-1A7D-3947-B6EA-FDE40E3DBF9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EB3-F351-A642-8ABB-0C09A70251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379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92A5-1A7D-3947-B6EA-FDE40E3DBF9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EB3-F351-A642-8ABB-0C09A70251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0123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8" y="229978"/>
            <a:ext cx="1552352" cy="366065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229978"/>
            <a:ext cx="4567064" cy="366065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92A5-1A7D-3947-B6EA-FDE40E3DBF9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EB3-F351-A642-8ABB-0C09A70251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9085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229978"/>
            <a:ext cx="6209407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149890"/>
            <a:ext cx="6209407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4003618"/>
            <a:ext cx="161984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0892A5-1A7D-3947-B6EA-FDE40E3DBF9E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4003618"/>
            <a:ext cx="242976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4003618"/>
            <a:ext cx="161984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ADBEB3-F351-A642-8ABB-0C09A70251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975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39953" rtl="0" eaLnBrk="1" latinLnBrk="0" hangingPunct="1">
        <a:lnSpc>
          <a:spcPct val="90000"/>
        </a:lnSpc>
        <a:spcBef>
          <a:spcPct val="0"/>
        </a:spcBef>
        <a:buNone/>
        <a:defRPr sz="25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988" indent="-134988" algn="l" defTabSz="539953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1pPr>
      <a:lvl2pPr marL="40496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4942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4918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489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4871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4848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482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4801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69977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3995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0993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79906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4988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1986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89836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5981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4.emf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3.emf"/><Relationship Id="rId2" Type="http://schemas.openxmlformats.org/officeDocument/2006/relationships/tags" Target="../tags/tag2.xml"/><Relationship Id="rId16" Type="http://schemas.openxmlformats.org/officeDocument/2006/relationships/image" Target="../media/image7.emf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.emf"/><Relationship Id="rId5" Type="http://schemas.openxmlformats.org/officeDocument/2006/relationships/tags" Target="../tags/tag5.xml"/><Relationship Id="rId15" Type="http://schemas.openxmlformats.org/officeDocument/2006/relationships/image" Target="../media/image6.emf"/><Relationship Id="rId10" Type="http://schemas.openxmlformats.org/officeDocument/2006/relationships/image" Target="../media/image1.emf"/><Relationship Id="rId4" Type="http://schemas.openxmlformats.org/officeDocument/2006/relationships/tags" Target="../tags/tag4.xml"/><Relationship Id="rId9" Type="http://schemas.openxmlformats.org/officeDocument/2006/relationships/notesSlide" Target="../notesSlides/notesSlide1.xml"/><Relationship Id="rId1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A2258-2D83-1F17-5889-B58E7CC4B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688FA575-FAEB-532F-B154-28C9DADE03B2}"/>
              </a:ext>
            </a:extLst>
          </p:cNvPr>
          <p:cNvGrpSpPr/>
          <p:nvPr/>
        </p:nvGrpSpPr>
        <p:grpSpPr>
          <a:xfrm>
            <a:off x="44630" y="354981"/>
            <a:ext cx="7110053" cy="3609627"/>
            <a:chOff x="548468" y="765444"/>
            <a:chExt cx="7110053" cy="3609627"/>
          </a:xfrm>
        </p:grpSpPr>
        <p:sp>
          <p:nvSpPr>
            <p:cNvPr id="20" name="Abgerundetes Rechteck 19">
              <a:extLst>
                <a:ext uri="{FF2B5EF4-FFF2-40B4-BE49-F238E27FC236}">
                  <a16:creationId xmlns:a16="http://schemas.microsoft.com/office/drawing/2014/main" id="{32C72AA8-85AB-F1CB-BCCA-5A1024E94086}"/>
                </a:ext>
              </a:extLst>
            </p:cNvPr>
            <p:cNvSpPr/>
            <p:nvPr/>
          </p:nvSpPr>
          <p:spPr>
            <a:xfrm>
              <a:off x="2309249" y="3786136"/>
              <a:ext cx="4021809" cy="588935"/>
            </a:xfrm>
            <a:prstGeom prst="round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Abgerundetes Rechteck 18">
              <a:extLst>
                <a:ext uri="{FF2B5EF4-FFF2-40B4-BE49-F238E27FC236}">
                  <a16:creationId xmlns:a16="http://schemas.microsoft.com/office/drawing/2014/main" id="{94D9A41C-4EAA-A5B8-9C8F-EDF679A51815}"/>
                </a:ext>
              </a:extLst>
            </p:cNvPr>
            <p:cNvSpPr/>
            <p:nvPr/>
          </p:nvSpPr>
          <p:spPr>
            <a:xfrm>
              <a:off x="3212533" y="1404000"/>
              <a:ext cx="2960176" cy="588935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" name="Grafik 5" descr="\documentclass{article}&#10;\usepackage{amsmath}&#10;\pagestyle{empty}&#10;\begin{document}&#10;&#10;$t \sim \mathcal{U}(1,T)$&#10;&#10;&#10;\end{document}" title="IguanaTex Bitmap Display">
              <a:extLst>
                <a:ext uri="{FF2B5EF4-FFF2-40B4-BE49-F238E27FC236}">
                  <a16:creationId xmlns:a16="http://schemas.microsoft.com/office/drawing/2014/main" id="{97C9E2C3-91D0-895F-83DB-330DD9ADE9C6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548468" y="765444"/>
              <a:ext cx="1120140" cy="274320"/>
            </a:xfrm>
            <a:prstGeom prst="rect">
              <a:avLst/>
            </a:prstGeom>
          </p:spPr>
        </p:pic>
        <p:pic>
          <p:nvPicPr>
            <p:cNvPr id="14" name="Grafik 13" descr="\documentclass{article}&#10;\usepackage{amsmath}&#10;\pagestyle{empty}&#10;\begin{document}&#10;&#10;&#10;$\mathbf{x_t} =  \sqrt{\bar{\alpha}_t} \mathbf{x_0} + \sqrt{(1- \bar{\alpha}_t)} \boldsymbol{\epsilon}$&#10;&#10;&#10;&#10;\end{document}" title="IguanaTex Bitmap Display">
              <a:extLst>
                <a:ext uri="{FF2B5EF4-FFF2-40B4-BE49-F238E27FC236}">
                  <a16:creationId xmlns:a16="http://schemas.microsoft.com/office/drawing/2014/main" id="{5DC0D175-D42D-A1FC-67A8-34AE68880C03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3366741" y="1543336"/>
              <a:ext cx="2651760" cy="320040"/>
            </a:xfrm>
            <a:prstGeom prst="rect">
              <a:avLst/>
            </a:prstGeom>
          </p:spPr>
        </p:pic>
        <p:sp>
          <p:nvSpPr>
            <p:cNvPr id="17" name="Sechseck 16">
              <a:extLst>
                <a:ext uri="{FF2B5EF4-FFF2-40B4-BE49-F238E27FC236}">
                  <a16:creationId xmlns:a16="http://schemas.microsoft.com/office/drawing/2014/main" id="{E59CF1E7-CBD2-E739-1755-94DAB36A0780}"/>
                </a:ext>
              </a:extLst>
            </p:cNvPr>
            <p:cNvSpPr/>
            <p:nvPr/>
          </p:nvSpPr>
          <p:spPr>
            <a:xfrm>
              <a:off x="6819721" y="1332556"/>
              <a:ext cx="838800" cy="741600"/>
            </a:xfrm>
            <a:prstGeom prst="hexagon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pic>
          <p:nvPicPr>
            <p:cNvPr id="18" name="Grafik 17" descr="\documentclass{article}&#10;\usepackage{amsmath}&#10;\pagestyle{empty}&#10;\begin{document}&#10;&#10;&#10;$\text{DDPM}$&#10;&#10;\end{document}" title="IguanaTex Bitmap Display">
              <a:extLst>
                <a:ext uri="{FF2B5EF4-FFF2-40B4-BE49-F238E27FC236}">
                  <a16:creationId xmlns:a16="http://schemas.microsoft.com/office/drawing/2014/main" id="{4C2B24EB-2A03-F36E-0A6C-EC1C408E42E6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6863394" y="1591188"/>
              <a:ext cx="754380" cy="205740"/>
            </a:xfrm>
            <a:prstGeom prst="rect">
              <a:avLst/>
            </a:prstGeom>
          </p:spPr>
        </p:pic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C8C770F-3493-C953-936C-4ECB2720D664}"/>
                </a:ext>
              </a:extLst>
            </p:cNvPr>
            <p:cNvSpPr/>
            <p:nvPr/>
          </p:nvSpPr>
          <p:spPr>
            <a:xfrm>
              <a:off x="6891672" y="2718880"/>
              <a:ext cx="741600" cy="741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22" name="Grafik 21" descr="\documentclass{article}&#10;\usepackage{amsmath}&#10;\pagestyle{empty}&#10;\begin{document}&#10;&#10;&#10;$\boldsymbol{\epsilon}_\theta$&#10;&#10;&#10;\end{document}" title="IguanaTex Bitmap Display">
              <a:extLst>
                <a:ext uri="{FF2B5EF4-FFF2-40B4-BE49-F238E27FC236}">
                  <a16:creationId xmlns:a16="http://schemas.microsoft.com/office/drawing/2014/main" id="{1410B055-09D6-2936-2AF9-AB5EA31C332C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7132674" y="3027934"/>
              <a:ext cx="228600" cy="182880"/>
            </a:xfrm>
            <a:prstGeom prst="rect">
              <a:avLst/>
            </a:prstGeom>
          </p:spPr>
        </p:pic>
        <p:cxnSp>
          <p:nvCxnSpPr>
            <p:cNvPr id="24" name="Gerade Verbindung 23">
              <a:extLst>
                <a:ext uri="{FF2B5EF4-FFF2-40B4-BE49-F238E27FC236}">
                  <a16:creationId xmlns:a16="http://schemas.microsoft.com/office/drawing/2014/main" id="{1383D22A-6CEA-DB90-EBAC-806E82FC5E8E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V="1">
              <a:off x="1668608" y="881353"/>
              <a:ext cx="5592348" cy="2125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Gerade Verbindung mit Pfeil 25">
              <a:extLst>
                <a:ext uri="{FF2B5EF4-FFF2-40B4-BE49-F238E27FC236}">
                  <a16:creationId xmlns:a16="http://schemas.microsoft.com/office/drawing/2014/main" id="{5ADDF3D8-98C5-503C-90B0-BD6C860A63D9}"/>
                </a:ext>
              </a:extLst>
            </p:cNvPr>
            <p:cNvCxnSpPr>
              <a:cxnSpLocks/>
            </p:cNvCxnSpPr>
            <p:nvPr/>
          </p:nvCxnSpPr>
          <p:spPr>
            <a:xfrm>
              <a:off x="7260956" y="881353"/>
              <a:ext cx="0" cy="4512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Gerade Verbindung mit Pfeil 29">
              <a:extLst>
                <a:ext uri="{FF2B5EF4-FFF2-40B4-BE49-F238E27FC236}">
                  <a16:creationId xmlns:a16="http://schemas.microsoft.com/office/drawing/2014/main" id="{C11091DB-49C3-4F52-557B-BEBB55C45B14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7260956" y="2074156"/>
              <a:ext cx="1516" cy="6447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Gerade Verbindung mit Pfeil 32">
              <a:extLst>
                <a:ext uri="{FF2B5EF4-FFF2-40B4-BE49-F238E27FC236}">
                  <a16:creationId xmlns:a16="http://schemas.microsoft.com/office/drawing/2014/main" id="{7B25DA65-EBD9-3FEA-6917-D4829A97DA1F}"/>
                </a:ext>
              </a:extLst>
            </p:cNvPr>
            <p:cNvCxnSpPr>
              <a:cxnSpLocks/>
            </p:cNvCxnSpPr>
            <p:nvPr/>
          </p:nvCxnSpPr>
          <p:spPr>
            <a:xfrm>
              <a:off x="2696939" y="1699200"/>
              <a:ext cx="5155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Gerade Verbindung 34">
              <a:extLst>
                <a:ext uri="{FF2B5EF4-FFF2-40B4-BE49-F238E27FC236}">
                  <a16:creationId xmlns:a16="http://schemas.microsoft.com/office/drawing/2014/main" id="{66727121-40B1-B75C-0BDF-C88EDB909F69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1108538" y="1039764"/>
              <a:ext cx="0" cy="317223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7689665E-C271-5931-A48C-1E25132309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538" y="4212000"/>
              <a:ext cx="12007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Gerade Verbindung 39">
              <a:extLst>
                <a:ext uri="{FF2B5EF4-FFF2-40B4-BE49-F238E27FC236}">
                  <a16:creationId xmlns:a16="http://schemas.microsoft.com/office/drawing/2014/main" id="{2207A865-F772-6D59-F249-4FA0FEF4F446}"/>
                </a:ext>
              </a:extLst>
            </p:cNvPr>
            <p:cNvCxnSpPr>
              <a:cxnSpLocks/>
              <a:stCxn id="21" idx="4"/>
            </p:cNvCxnSpPr>
            <p:nvPr/>
          </p:nvCxnSpPr>
          <p:spPr>
            <a:xfrm flipH="1">
              <a:off x="7260956" y="3460480"/>
              <a:ext cx="1516" cy="6201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AD2C06B0-70D3-D8CB-FB6B-9812D322BAB9}"/>
                </a:ext>
              </a:extLst>
            </p:cNvPr>
            <p:cNvCxnSpPr>
              <a:cxnSpLocks/>
              <a:endCxn id="20" idx="3"/>
            </p:cNvCxnSpPr>
            <p:nvPr/>
          </p:nvCxnSpPr>
          <p:spPr>
            <a:xfrm flipH="1">
              <a:off x="6331058" y="4080604"/>
              <a:ext cx="9298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Gerade Verbindung 48">
              <a:extLst>
                <a:ext uri="{FF2B5EF4-FFF2-40B4-BE49-F238E27FC236}">
                  <a16:creationId xmlns:a16="http://schemas.microsoft.com/office/drawing/2014/main" id="{15437C52-1B5C-A5A1-A680-FC7ABF051E54}"/>
                </a:ext>
              </a:extLst>
            </p:cNvPr>
            <p:cNvCxnSpPr>
              <a:cxnSpLocks/>
            </p:cNvCxnSpPr>
            <p:nvPr/>
          </p:nvCxnSpPr>
          <p:spPr>
            <a:xfrm>
              <a:off x="2628340" y="2934704"/>
              <a:ext cx="205902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Gerade Verbindung mit Pfeil 50">
              <a:extLst>
                <a:ext uri="{FF2B5EF4-FFF2-40B4-BE49-F238E27FC236}">
                  <a16:creationId xmlns:a16="http://schemas.microsoft.com/office/drawing/2014/main" id="{9A240164-EF1E-DB6F-22A4-708C07DA8710}"/>
                </a:ext>
              </a:extLst>
            </p:cNvPr>
            <p:cNvCxnSpPr>
              <a:endCxn id="19" idx="2"/>
            </p:cNvCxnSpPr>
            <p:nvPr/>
          </p:nvCxnSpPr>
          <p:spPr>
            <a:xfrm flipV="1">
              <a:off x="4692621" y="1992935"/>
              <a:ext cx="0" cy="9597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Gerade Verbindung 52">
              <a:extLst>
                <a:ext uri="{FF2B5EF4-FFF2-40B4-BE49-F238E27FC236}">
                  <a16:creationId xmlns:a16="http://schemas.microsoft.com/office/drawing/2014/main" id="{DD5500B5-A9D4-3CC2-757C-7BF6B4F6BC0E}"/>
                </a:ext>
              </a:extLst>
            </p:cNvPr>
            <p:cNvCxnSpPr>
              <a:cxnSpLocks/>
            </p:cNvCxnSpPr>
            <p:nvPr/>
          </p:nvCxnSpPr>
          <p:spPr>
            <a:xfrm>
              <a:off x="2033980" y="3071864"/>
              <a:ext cx="0" cy="90973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Gerade Verbindung mit Pfeil 54">
              <a:extLst>
                <a:ext uri="{FF2B5EF4-FFF2-40B4-BE49-F238E27FC236}">
                  <a16:creationId xmlns:a16="http://schemas.microsoft.com/office/drawing/2014/main" id="{0B43E198-9517-D888-8002-66DB03EF3753}"/>
                </a:ext>
              </a:extLst>
            </p:cNvPr>
            <p:cNvCxnSpPr/>
            <p:nvPr/>
          </p:nvCxnSpPr>
          <p:spPr>
            <a:xfrm>
              <a:off x="2033980" y="3981600"/>
              <a:ext cx="2752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3" name="Grafik 2" descr="\documentclass{article}&#10;\usepackage{amsmath}&#10;\pagestyle{empty}&#10;\begin{document}&#10;&#10;&#10;$\mathcal{L}_{\text{DDPM}}  =| \boldsymbol{\epsilon}_\theta(x_t, t) - \boldsymbol{\epsilon}_t |_2^2 $&#13;&#10;&#10;&#10;\end{document}" title="IguanaTex Bitmap Display">
              <a:extLst>
                <a:ext uri="{FF2B5EF4-FFF2-40B4-BE49-F238E27FC236}">
                  <a16:creationId xmlns:a16="http://schemas.microsoft.com/office/drawing/2014/main" id="{55EE5C01-58C5-0601-F56A-83FA53493DE7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3051423" y="3946156"/>
              <a:ext cx="2537460" cy="279983"/>
            </a:xfrm>
            <a:prstGeom prst="rect">
              <a:avLst/>
            </a:prstGeom>
          </p:spPr>
        </p:pic>
        <p:pic>
          <p:nvPicPr>
            <p:cNvPr id="5" name="Grafik 4" descr="\documentclass{article}&#10;\usepackage{amsmath}&#10;\pagestyle{empty}&#10;\begin{document}&#10;&#10;&#10;$\mathbf{x}_0 \sim p_\text{data}$&#13;&#10;&#10;&#10;\end{document}" title="IguanaTex Bitmap Display">
              <a:extLst>
                <a:ext uri="{FF2B5EF4-FFF2-40B4-BE49-F238E27FC236}">
                  <a16:creationId xmlns:a16="http://schemas.microsoft.com/office/drawing/2014/main" id="{6CA4AFDE-C99C-1BF6-8D10-62D4C9199393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1592857" y="1605600"/>
              <a:ext cx="1051560" cy="182880"/>
            </a:xfrm>
            <a:prstGeom prst="rect">
              <a:avLst/>
            </a:prstGeom>
          </p:spPr>
        </p:pic>
        <p:cxnSp>
          <p:nvCxnSpPr>
            <p:cNvPr id="9" name="Gerade Verbindung mit Pfeil 8">
              <a:extLst>
                <a:ext uri="{FF2B5EF4-FFF2-40B4-BE49-F238E27FC236}">
                  <a16:creationId xmlns:a16="http://schemas.microsoft.com/office/drawing/2014/main" id="{AB7FD5BC-E4F7-3D2B-9971-DD0C9D87C1BC}"/>
                </a:ext>
              </a:extLst>
            </p:cNvPr>
            <p:cNvCxnSpPr>
              <a:cxnSpLocks/>
            </p:cNvCxnSpPr>
            <p:nvPr/>
          </p:nvCxnSpPr>
          <p:spPr>
            <a:xfrm>
              <a:off x="6172709" y="1694058"/>
              <a:ext cx="623298" cy="92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4" name="Grafik 3" descr="\documentclass{article}&#10;\usepackage{amsmath}&#10;\pagestyle{empty}&#10;\begin{document}&#10;&#10;&#10;$\boldsymbol{\epsilon} \sim \mathcal{N}(\mathbf{0}, \mathbf{I})$&#10;&#10;\end{document}" title="IguanaTex Bitmap Display">
              <a:extLst>
                <a:ext uri="{FF2B5EF4-FFF2-40B4-BE49-F238E27FC236}">
                  <a16:creationId xmlns:a16="http://schemas.microsoft.com/office/drawing/2014/main" id="{10002449-7AE2-76DC-F816-A546CB30BC42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1299920" y="2759444"/>
              <a:ext cx="1295400" cy="304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691319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"/>
  <p:tag name="ORIGINALWIDTH" val="49"/>
  <p:tag name="OUTPUTTYPE" val="PDF"/>
  <p:tag name="IGUANATEXVERSION" val="160"/>
  <p:tag name="LATEXADDIN" val="\documentclass{article}&#10;\usepackage{amsmath}&#10;\pagestyle{empty}&#10;\begin{document}&#10;&#10;$t \sim \mathcal{U}(1,T)$&#10;&#10;&#10;\end{document}"/>
  <p:tag name="IGUANATEXSIZE" val="18"/>
  <p:tag name="IGUANATEXCURSOR" val="81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"/>
  <p:tag name="ORIGINALWIDTH" val="116"/>
  <p:tag name="OUTPUTTYPE" val="PDF"/>
  <p:tag name="IGUANATEXVERSION" val="160"/>
  <p:tag name="LATEXADDIN" val="\documentclass{article}&#10;\usepackage{amsmath}&#10;\pagestyle{empty}&#10;\begin{document}&#10;&#10;&#10;$\mathbf{x_t} =  \sqrt{\bar{\alpha}_t} \mathbf{x_0} + \sqrt{(1- \bar{\alpha}_t)} \boldsymbol{\epsilon}$&#10;&#10;&#10;&#10;\end{document}"/>
  <p:tag name="IGUANATEXSIZE" val="18"/>
  <p:tag name="IGUANATEXCURSOR" val="186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"/>
  <p:tag name="ORIGINALWIDTH" val="33"/>
  <p:tag name="OUTPUTTYPE" val="PDF"/>
  <p:tag name="IGUANATEXVERSION" val="160"/>
  <p:tag name="LATEXADDIN" val="\documentclass{article}&#10;\usepackage{amsmath}&#10;\pagestyle{empty}&#10;\begin{document}&#10;&#10;&#10;$\text{DDPM}$&#10;&#10;\end{document}"/>
  <p:tag name="IGUANATEXSIZE" val="18"/>
  <p:tag name="IGUANATEXCURSOR" val="95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"/>
  <p:tag name="ORIGINALWIDTH" val="10"/>
  <p:tag name="OUTPUTTYPE" val="PDF"/>
  <p:tag name="IGUANATEXVERSION" val="160"/>
  <p:tag name="LATEXADDIN" val="\documentclass{article}&#10;\usepackage{amsmath}&#10;\pagestyle{empty}&#10;\begin{document}&#10;&#10;&#10;$\boldsymbol{\epsilon}_\theta$&#10;&#10;&#10;\end{document}"/>
  <p:tag name="IGUANATEXSIZE" val="18"/>
  <p:tag name="IGUANATEXCURSOR" val="94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"/>
  <p:tag name="ORIGINALWIDTH" val="111"/>
  <p:tag name="OUTPUTTYPE" val="PDF"/>
  <p:tag name="IGUANATEXVERSION" val="160"/>
  <p:tag name="LATEXADDIN" val="\documentclass{article}&#10;\usepackage{amsmath}&#10;\pagestyle{empty}&#10;\begin{document}&#10;&#10;&#10;$\mathcal{L}_{\text{DDPM}}  =| \boldsymbol{\epsilon}_\theta(x_t, t) - \boldsymbol{\epsilon}_t |_2^2 $&#13;&#10;&#10;&#10;\end{document}"/>
  <p:tag name="IGUANATEXSIZE" val="18"/>
  <p:tag name="IGUANATEXCURSOR" val="185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"/>
  <p:tag name="ORIGINALWIDTH" val="46"/>
  <p:tag name="OUTPUTTYPE" val="PDF"/>
  <p:tag name="IGUANATEXVERSION" val="160"/>
  <p:tag name="LATEXADDIN" val="\documentclass{article}&#10;\usepackage{amsmath}&#10;\pagestyle{empty}&#10;\begin{document}&#10;&#10;&#10;$\mathbf{x}_0 \sim p_\text{data}$&#13;&#10;&#10;&#10;\end{document}"/>
  <p:tag name="IGUANATEXSIZE" val="18"/>
  <p:tag name="IGUANATEXCURSOR" val="117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"/>
  <p:tag name="ORIGINALWIDTH" val="51"/>
  <p:tag name="OUTPUTTYPE" val="PDF"/>
  <p:tag name="IGUANATEXVERSION" val="160"/>
  <p:tag name="LATEXADDIN" val="\documentclass{article}&#10;\usepackage{amsmath}&#10;\pagestyle{empty}&#10;\begin{document}&#10;&#10;&#10;$\boldsymbol{\epsilon} \sim \mathcal{N}(\mathbf{0}, \mathbf{I})$&#10;&#10;\end{document}"/>
  <p:tag name="IGUANATEXSIZE" val="20"/>
  <p:tag name="IGUANATEXCURSOR" val="146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heme/theme1.xml><?xml version="1.0" encoding="utf-8"?>
<a:theme xmlns:a="http://schemas.openxmlformats.org/drawingml/2006/main" name="Office">
  <a:themeElements>
    <a:clrScheme name="Masterarbeit">
      <a:dk1>
        <a:srgbClr val="000000"/>
      </a:dk1>
      <a:lt1>
        <a:srgbClr val="F9FFFD"/>
      </a:lt1>
      <a:dk2>
        <a:srgbClr val="FFFFFF"/>
      </a:dk2>
      <a:lt2>
        <a:srgbClr val="D6DAE9"/>
      </a:lt2>
      <a:accent1>
        <a:srgbClr val="FFE1BA"/>
      </a:accent1>
      <a:accent2>
        <a:srgbClr val="F1F4C1"/>
      </a:accent2>
      <a:accent3>
        <a:srgbClr val="CCE6CF"/>
      </a:accent3>
      <a:accent4>
        <a:srgbClr val="C1E8F7"/>
      </a:accent4>
      <a:accent5>
        <a:srgbClr val="FBDFE1"/>
      </a:accent5>
      <a:accent6>
        <a:srgbClr val="B9B2D0"/>
      </a:accent6>
      <a:hlink>
        <a:srgbClr val="D6DAE9"/>
      </a:hlink>
      <a:folHlink>
        <a:srgbClr val="D3D3D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123</Words>
  <Application>Microsoft Macintosh PowerPoint</Application>
  <PresentationFormat>Benutzerdefiniert</PresentationFormat>
  <Paragraphs>12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Sabine Hofmann-Heid</dc:creator>
  <cp:lastModifiedBy>Sabine Hofmann-Heid</cp:lastModifiedBy>
  <cp:revision>52</cp:revision>
  <dcterms:created xsi:type="dcterms:W3CDTF">2025-06-10T13:06:19Z</dcterms:created>
  <dcterms:modified xsi:type="dcterms:W3CDTF">2026-01-19T09:04:59Z</dcterms:modified>
</cp:coreProperties>
</file>