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2" r:id="rId2"/>
  </p:sldIdLst>
  <p:sldSz cx="7920038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718"/>
  </p:normalViewPr>
  <p:slideViewPr>
    <p:cSldViewPr snapToGrid="0">
      <p:cViewPr>
        <p:scale>
          <a:sx n="76" d="100"/>
          <a:sy n="76" d="100"/>
        </p:scale>
        <p:origin x="2208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631F8-56CD-FA4C-8FD6-5AC3DB652C39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19150" y="1143000"/>
            <a:ext cx="5219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2BCF0-7F49-9241-8C34-F1AFDC5209D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979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1pPr>
    <a:lvl2pPr marL="302363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2pPr>
    <a:lvl3pPr marL="604727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3pPr>
    <a:lvl4pPr marL="907089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4pPr>
    <a:lvl5pPr marL="1209453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5pPr>
    <a:lvl6pPr marL="1511816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6pPr>
    <a:lvl7pPr marL="1814180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7pPr>
    <a:lvl8pPr marL="2116542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8pPr>
    <a:lvl9pPr marL="2418906" algn="l" defTabSz="604727" rtl="0" eaLnBrk="1" latinLnBrk="0" hangingPunct="1">
      <a:defRPr sz="79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AF7C-EE23-D6DD-8D10-F1956AA4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A16A68-2F8D-1CD2-FF15-77638E28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19150" y="1143000"/>
            <a:ext cx="52197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236A5A-7F58-DBC1-F1F4-33808DA55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$t \sim \</a:t>
            </a:r>
            <a:r>
              <a:rPr lang="en-GB" dirty="0" err="1"/>
              <a:t>mathcal</a:t>
            </a:r>
            <a:r>
              <a:rPr lang="en-GB" dirty="0"/>
              <a:t>{U}(1,T)$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{x}_0 \sim p_\text{data}$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</a:t>
            </a:r>
            <a:r>
              <a:rPr lang="en-GB" dirty="0" err="1"/>
              <a:t>x_t</a:t>
            </a:r>
            <a:r>
              <a:rPr lang="en-GB" dirty="0"/>
              <a:t>} =  \sqrt{\bar{\alpha}_t} \</a:t>
            </a:r>
            <a:r>
              <a:rPr lang="en-GB" dirty="0" err="1"/>
              <a:t>mathbf</a:t>
            </a:r>
            <a:r>
              <a:rPr lang="en-GB" dirty="0"/>
              <a:t>{x_0} + \sqrt{(1- \bar{\alpha}_t)} \</a:t>
            </a:r>
            <a:r>
              <a:rPr lang="en-GB" dirty="0" err="1"/>
              <a:t>boldsymbol</a:t>
            </a:r>
            <a:r>
              <a:rPr lang="en-GB" dirty="0"/>
              <a:t>{\epsilon}$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mathcal</a:t>
            </a:r>
            <a:r>
              <a:rPr lang="en-GB" dirty="0"/>
              <a:t>{L}_{\text{DDPM}}  =| \</a:t>
            </a:r>
            <a:r>
              <a:rPr lang="en-GB" dirty="0" err="1"/>
              <a:t>boldsymbol</a:t>
            </a:r>
            <a:r>
              <a:rPr lang="en-GB" dirty="0"/>
              <a:t>{\epsilon}_\theta(</a:t>
            </a:r>
            <a:r>
              <a:rPr lang="en-GB" dirty="0" err="1"/>
              <a:t>x_t</a:t>
            </a:r>
            <a:r>
              <a:rPr lang="en-GB" dirty="0"/>
              <a:t>, t) - \</a:t>
            </a:r>
            <a:r>
              <a:rPr lang="en-GB" dirty="0" err="1"/>
              <a:t>boldsymbol</a:t>
            </a:r>
            <a:r>
              <a:rPr lang="en-GB" dirty="0"/>
              <a:t>{\epsilon}_t |_2^2 $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boldsymbol</a:t>
            </a:r>
            <a:r>
              <a:rPr lang="en-GB" dirty="0"/>
              <a:t>{\epsilon} \sim \</a:t>
            </a:r>
            <a:r>
              <a:rPr lang="en-GB" dirty="0" err="1"/>
              <a:t>mathcal</a:t>
            </a:r>
            <a:r>
              <a:rPr lang="en-GB" dirty="0"/>
              <a:t>{N}(\</a:t>
            </a:r>
            <a:r>
              <a:rPr lang="en-GB" dirty="0" err="1"/>
              <a:t>mathbf</a:t>
            </a:r>
            <a:r>
              <a:rPr lang="en-GB" dirty="0"/>
              <a:t>{0}, \</a:t>
            </a:r>
            <a:r>
              <a:rPr lang="en-GB" dirty="0" err="1"/>
              <a:t>mathbf</a:t>
            </a:r>
            <a:r>
              <a:rPr lang="en-GB" dirty="0"/>
              <a:t>{1})$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33DFF3-E8F2-A76B-91D2-950A50032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0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765909"/>
            <a:ext cx="5940029" cy="1629316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2458058"/>
            <a:ext cx="5940029" cy="1129904"/>
          </a:xfrm>
        </p:spPr>
        <p:txBody>
          <a:bodyPr/>
          <a:lstStyle>
            <a:lvl1pPr marL="0" indent="0" algn="ctr">
              <a:buNone/>
              <a:defRPr sz="1559"/>
            </a:lvl1pPr>
            <a:lvl2pPr marL="296997" indent="0" algn="ctr">
              <a:buNone/>
              <a:defRPr sz="1299"/>
            </a:lvl2pPr>
            <a:lvl3pPr marL="593994" indent="0" algn="ctr">
              <a:buNone/>
              <a:defRPr sz="1169"/>
            </a:lvl3pPr>
            <a:lvl4pPr marL="890991" indent="0" algn="ctr">
              <a:buNone/>
              <a:defRPr sz="1039"/>
            </a:lvl4pPr>
            <a:lvl5pPr marL="1187988" indent="0" algn="ctr">
              <a:buNone/>
              <a:defRPr sz="1039"/>
            </a:lvl5pPr>
            <a:lvl6pPr marL="1484986" indent="0" algn="ctr">
              <a:buNone/>
              <a:defRPr sz="1039"/>
            </a:lvl6pPr>
            <a:lvl7pPr marL="1781983" indent="0" algn="ctr">
              <a:buNone/>
              <a:defRPr sz="1039"/>
            </a:lvl7pPr>
            <a:lvl8pPr marL="2078980" indent="0" algn="ctr">
              <a:buNone/>
              <a:defRPr sz="1039"/>
            </a:lvl8pPr>
            <a:lvl9pPr marL="2375977" indent="0" algn="ctr">
              <a:buNone/>
              <a:defRPr sz="1039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71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585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1166738"/>
            <a:ext cx="6831033" cy="1946729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3131884"/>
            <a:ext cx="6831033" cy="102373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1pPr>
            <a:lvl2pPr marL="296997" indent="0">
              <a:buNone/>
              <a:defRPr sz="1299">
                <a:solidFill>
                  <a:schemeClr val="tx1">
                    <a:tint val="82000"/>
                  </a:schemeClr>
                </a:solidFill>
              </a:defRPr>
            </a:lvl2pPr>
            <a:lvl3pPr marL="593994" indent="0">
              <a:buNone/>
              <a:defRPr sz="1169">
                <a:solidFill>
                  <a:schemeClr val="tx1">
                    <a:tint val="82000"/>
                  </a:schemeClr>
                </a:solidFill>
              </a:defRPr>
            </a:lvl3pPr>
            <a:lvl4pPr marL="890991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4pPr>
            <a:lvl5pPr marL="1187988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5pPr>
            <a:lvl6pPr marL="1484986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6pPr>
            <a:lvl7pPr marL="1781983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7pPr>
            <a:lvl8pPr marL="2078980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8pPr>
            <a:lvl9pPr marL="2375977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96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245820"/>
            <a:ext cx="3366016" cy="29693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245820"/>
            <a:ext cx="3366016" cy="29693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83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249164"/>
            <a:ext cx="6831033" cy="90457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147238"/>
            <a:ext cx="3350547" cy="562244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6997" indent="0">
              <a:buNone/>
              <a:defRPr sz="1299" b="1"/>
            </a:lvl2pPr>
            <a:lvl3pPr marL="593994" indent="0">
              <a:buNone/>
              <a:defRPr sz="1169" b="1"/>
            </a:lvl3pPr>
            <a:lvl4pPr marL="890991" indent="0">
              <a:buNone/>
              <a:defRPr sz="1039" b="1"/>
            </a:lvl4pPr>
            <a:lvl5pPr marL="1187988" indent="0">
              <a:buNone/>
              <a:defRPr sz="1039" b="1"/>
            </a:lvl5pPr>
            <a:lvl6pPr marL="1484986" indent="0">
              <a:buNone/>
              <a:defRPr sz="1039" b="1"/>
            </a:lvl6pPr>
            <a:lvl7pPr marL="1781983" indent="0">
              <a:buNone/>
              <a:defRPr sz="1039" b="1"/>
            </a:lvl7pPr>
            <a:lvl8pPr marL="2078980" indent="0">
              <a:buNone/>
              <a:defRPr sz="1039" b="1"/>
            </a:lvl8pPr>
            <a:lvl9pPr marL="2375977" indent="0">
              <a:buNone/>
              <a:defRPr sz="103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709482"/>
            <a:ext cx="3350547" cy="25143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1147238"/>
            <a:ext cx="3367048" cy="562244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6997" indent="0">
              <a:buNone/>
              <a:defRPr sz="1299" b="1"/>
            </a:lvl2pPr>
            <a:lvl3pPr marL="593994" indent="0">
              <a:buNone/>
              <a:defRPr sz="1169" b="1"/>
            </a:lvl3pPr>
            <a:lvl4pPr marL="890991" indent="0">
              <a:buNone/>
              <a:defRPr sz="1039" b="1"/>
            </a:lvl4pPr>
            <a:lvl5pPr marL="1187988" indent="0">
              <a:buNone/>
              <a:defRPr sz="1039" b="1"/>
            </a:lvl5pPr>
            <a:lvl6pPr marL="1484986" indent="0">
              <a:buNone/>
              <a:defRPr sz="1039" b="1"/>
            </a:lvl6pPr>
            <a:lvl7pPr marL="1781983" indent="0">
              <a:buNone/>
              <a:defRPr sz="1039" b="1"/>
            </a:lvl7pPr>
            <a:lvl8pPr marL="2078980" indent="0">
              <a:buNone/>
              <a:defRPr sz="1039" b="1"/>
            </a:lvl8pPr>
            <a:lvl9pPr marL="2375977" indent="0">
              <a:buNone/>
              <a:defRPr sz="103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709482"/>
            <a:ext cx="3367048" cy="25143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07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05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99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311997"/>
            <a:ext cx="2554418" cy="1091988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673826"/>
            <a:ext cx="4009519" cy="3325798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403985"/>
            <a:ext cx="2554418" cy="2601056"/>
          </a:xfrm>
        </p:spPr>
        <p:txBody>
          <a:bodyPr/>
          <a:lstStyle>
            <a:lvl1pPr marL="0" indent="0">
              <a:buNone/>
              <a:defRPr sz="1039"/>
            </a:lvl1pPr>
            <a:lvl2pPr marL="296997" indent="0">
              <a:buNone/>
              <a:defRPr sz="909"/>
            </a:lvl2pPr>
            <a:lvl3pPr marL="593994" indent="0">
              <a:buNone/>
              <a:defRPr sz="780"/>
            </a:lvl3pPr>
            <a:lvl4pPr marL="890991" indent="0">
              <a:buNone/>
              <a:defRPr sz="650"/>
            </a:lvl4pPr>
            <a:lvl5pPr marL="1187988" indent="0">
              <a:buNone/>
              <a:defRPr sz="650"/>
            </a:lvl5pPr>
            <a:lvl6pPr marL="1484986" indent="0">
              <a:buNone/>
              <a:defRPr sz="650"/>
            </a:lvl6pPr>
            <a:lvl7pPr marL="1781983" indent="0">
              <a:buNone/>
              <a:defRPr sz="650"/>
            </a:lvl7pPr>
            <a:lvl8pPr marL="2078980" indent="0">
              <a:buNone/>
              <a:defRPr sz="650"/>
            </a:lvl8pPr>
            <a:lvl9pPr marL="2375977" indent="0">
              <a:buNone/>
              <a:defRPr sz="6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48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311997"/>
            <a:ext cx="2554418" cy="1091988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673826"/>
            <a:ext cx="4009519" cy="3325798"/>
          </a:xfrm>
        </p:spPr>
        <p:txBody>
          <a:bodyPr anchor="t"/>
          <a:lstStyle>
            <a:lvl1pPr marL="0" indent="0">
              <a:buNone/>
              <a:defRPr sz="2079"/>
            </a:lvl1pPr>
            <a:lvl2pPr marL="296997" indent="0">
              <a:buNone/>
              <a:defRPr sz="1819"/>
            </a:lvl2pPr>
            <a:lvl3pPr marL="593994" indent="0">
              <a:buNone/>
              <a:defRPr sz="1559"/>
            </a:lvl3pPr>
            <a:lvl4pPr marL="890991" indent="0">
              <a:buNone/>
              <a:defRPr sz="1299"/>
            </a:lvl4pPr>
            <a:lvl5pPr marL="1187988" indent="0">
              <a:buNone/>
              <a:defRPr sz="1299"/>
            </a:lvl5pPr>
            <a:lvl6pPr marL="1484986" indent="0">
              <a:buNone/>
              <a:defRPr sz="1299"/>
            </a:lvl6pPr>
            <a:lvl7pPr marL="1781983" indent="0">
              <a:buNone/>
              <a:defRPr sz="1299"/>
            </a:lvl7pPr>
            <a:lvl8pPr marL="2078980" indent="0">
              <a:buNone/>
              <a:defRPr sz="1299"/>
            </a:lvl8pPr>
            <a:lvl9pPr marL="2375977" indent="0">
              <a:buNone/>
              <a:defRPr sz="129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403985"/>
            <a:ext cx="2554418" cy="2601056"/>
          </a:xfrm>
        </p:spPr>
        <p:txBody>
          <a:bodyPr/>
          <a:lstStyle>
            <a:lvl1pPr marL="0" indent="0">
              <a:buNone/>
              <a:defRPr sz="1039"/>
            </a:lvl1pPr>
            <a:lvl2pPr marL="296997" indent="0">
              <a:buNone/>
              <a:defRPr sz="909"/>
            </a:lvl2pPr>
            <a:lvl3pPr marL="593994" indent="0">
              <a:buNone/>
              <a:defRPr sz="780"/>
            </a:lvl3pPr>
            <a:lvl4pPr marL="890991" indent="0">
              <a:buNone/>
              <a:defRPr sz="650"/>
            </a:lvl4pPr>
            <a:lvl5pPr marL="1187988" indent="0">
              <a:buNone/>
              <a:defRPr sz="650"/>
            </a:lvl5pPr>
            <a:lvl6pPr marL="1484986" indent="0">
              <a:buNone/>
              <a:defRPr sz="650"/>
            </a:lvl6pPr>
            <a:lvl7pPr marL="1781983" indent="0">
              <a:buNone/>
              <a:defRPr sz="650"/>
            </a:lvl7pPr>
            <a:lvl8pPr marL="2078980" indent="0">
              <a:buNone/>
              <a:defRPr sz="650"/>
            </a:lvl8pPr>
            <a:lvl9pPr marL="2375977" indent="0">
              <a:buNone/>
              <a:defRPr sz="6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38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3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249164"/>
            <a:ext cx="1707758" cy="396604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249164"/>
            <a:ext cx="5024274" cy="396604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70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249164"/>
            <a:ext cx="6831033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245820"/>
            <a:ext cx="6831033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4337621"/>
            <a:ext cx="178200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C85B7-8EC1-B44F-BEC5-6928939C2C80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4337621"/>
            <a:ext cx="267301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4337621"/>
            <a:ext cx="178200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F9100-F166-2444-9E6A-89BDE649EEC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48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93994" rtl="0" eaLnBrk="1" latinLnBrk="0" hangingPunct="1">
        <a:lnSpc>
          <a:spcPct val="90000"/>
        </a:lnSpc>
        <a:spcBef>
          <a:spcPct val="0"/>
        </a:spcBef>
        <a:buNone/>
        <a:defRPr sz="2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499" indent="-148499" algn="l" defTabSz="59399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496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493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490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487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484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481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478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476" indent="-148499" algn="l" defTabSz="593994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6997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3994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0991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7988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4986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1983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8980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5977" algn="l" defTabSz="593994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4.emf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emf"/><Relationship Id="rId2" Type="http://schemas.openxmlformats.org/officeDocument/2006/relationships/tags" Target="../tags/tag2.xml"/><Relationship Id="rId16" Type="http://schemas.openxmlformats.org/officeDocument/2006/relationships/image" Target="../media/image7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emf"/><Relationship Id="rId5" Type="http://schemas.openxmlformats.org/officeDocument/2006/relationships/tags" Target="../tags/tag5.xml"/><Relationship Id="rId15" Type="http://schemas.openxmlformats.org/officeDocument/2006/relationships/image" Target="../media/image6.emf"/><Relationship Id="rId10" Type="http://schemas.openxmlformats.org/officeDocument/2006/relationships/image" Target="../media/image1.emf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Relationship Id="rId1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2258-2D83-1F17-5889-B58E7CC4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FC4243F-BC18-0FFD-4EA2-6F162BE741CB}"/>
              </a:ext>
            </a:extLst>
          </p:cNvPr>
          <p:cNvGrpSpPr/>
          <p:nvPr/>
        </p:nvGrpSpPr>
        <p:grpSpPr>
          <a:xfrm>
            <a:off x="404994" y="535161"/>
            <a:ext cx="7110053" cy="3609628"/>
            <a:chOff x="510104" y="731048"/>
            <a:chExt cx="7110053" cy="3609628"/>
          </a:xfrm>
        </p:grpSpPr>
        <p:sp>
          <p:nvSpPr>
            <p:cNvPr id="20" name="Abgerundetes Rechteck 19">
              <a:extLst>
                <a:ext uri="{FF2B5EF4-FFF2-40B4-BE49-F238E27FC236}">
                  <a16:creationId xmlns:a16="http://schemas.microsoft.com/office/drawing/2014/main" id="{32C72AA8-85AB-F1CB-BCCA-5A1024E94086}"/>
                </a:ext>
              </a:extLst>
            </p:cNvPr>
            <p:cNvSpPr/>
            <p:nvPr/>
          </p:nvSpPr>
          <p:spPr>
            <a:xfrm>
              <a:off x="2270886" y="3751741"/>
              <a:ext cx="4021809" cy="588935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bgerundetes Rechteck 18">
              <a:extLst>
                <a:ext uri="{FF2B5EF4-FFF2-40B4-BE49-F238E27FC236}">
                  <a16:creationId xmlns:a16="http://schemas.microsoft.com/office/drawing/2014/main" id="{94D9A41C-4EAA-A5B8-9C8F-EDF679A51815}"/>
                </a:ext>
              </a:extLst>
            </p:cNvPr>
            <p:cNvSpPr/>
            <p:nvPr/>
          </p:nvSpPr>
          <p:spPr>
            <a:xfrm>
              <a:off x="3174169" y="1369605"/>
              <a:ext cx="2960176" cy="588935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Grafik 5" descr="\documentclass{article}&#10;\usepackage{amsmath}&#10;\pagestyle{empty}&#10;\begin{document}&#10;&#10;$t \sim \mathcal{U}(1,T)$&#10;&#10;&#10;\end{document}" title="IguanaTex Bitmap Display">
              <a:extLst>
                <a:ext uri="{FF2B5EF4-FFF2-40B4-BE49-F238E27FC236}">
                  <a16:creationId xmlns:a16="http://schemas.microsoft.com/office/drawing/2014/main" id="{97C9E2C3-91D0-895F-83DB-330DD9ADE9C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10104" y="731048"/>
              <a:ext cx="1120140" cy="274320"/>
            </a:xfrm>
            <a:prstGeom prst="rect">
              <a:avLst/>
            </a:prstGeom>
          </p:spPr>
        </p:pic>
        <p:pic>
          <p:nvPicPr>
            <p:cNvPr id="14" name="Grafik 13" descr="\documentclass{article}&#10;\usepackage{amsmath}&#10;\pagestyle{empty}&#10;\begin{document}&#10;&#10;&#10;$\mathbf{x_t} =  \sqrt{\bar{\alpha}_t} \mathbf{x_0} + \sqrt{(1- \bar{\alpha}_t)} \boldsymbol{\epsilon}$&#10;&#10;&#10;&#10;\end{document}" title="IguanaTex Bitmap Display">
              <a:extLst>
                <a:ext uri="{FF2B5EF4-FFF2-40B4-BE49-F238E27FC236}">
                  <a16:creationId xmlns:a16="http://schemas.microsoft.com/office/drawing/2014/main" id="{5DC0D175-D42D-A1FC-67A8-34AE68880C03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328377" y="1508940"/>
              <a:ext cx="2651760" cy="320040"/>
            </a:xfrm>
            <a:prstGeom prst="rect">
              <a:avLst/>
            </a:prstGeom>
          </p:spPr>
        </p:pic>
        <p:sp>
          <p:nvSpPr>
            <p:cNvPr id="17" name="Sechseck 16">
              <a:extLst>
                <a:ext uri="{FF2B5EF4-FFF2-40B4-BE49-F238E27FC236}">
                  <a16:creationId xmlns:a16="http://schemas.microsoft.com/office/drawing/2014/main" id="{E59CF1E7-CBD2-E739-1755-94DAB36A0780}"/>
                </a:ext>
              </a:extLst>
            </p:cNvPr>
            <p:cNvSpPr/>
            <p:nvPr/>
          </p:nvSpPr>
          <p:spPr>
            <a:xfrm>
              <a:off x="6781357" y="1298160"/>
              <a:ext cx="838800" cy="741600"/>
            </a:xfrm>
            <a:prstGeom prst="hexag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18" name="Grafik 17" descr="\documentclass{article}&#10;\usepackage{amsmath}&#10;\pagestyle{empty}&#10;\begin{document}&#10;&#10;&#10;$\text{DDPM}$&#10;&#10;\end{document}" title="IguanaTex Bitmap Display">
              <a:extLst>
                <a:ext uri="{FF2B5EF4-FFF2-40B4-BE49-F238E27FC236}">
                  <a16:creationId xmlns:a16="http://schemas.microsoft.com/office/drawing/2014/main" id="{4C2B24EB-2A03-F36E-0A6C-EC1C408E42E6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825030" y="1556792"/>
              <a:ext cx="754380" cy="205740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8C770F-3493-C953-936C-4ECB2720D664}"/>
                </a:ext>
              </a:extLst>
            </p:cNvPr>
            <p:cNvSpPr/>
            <p:nvPr/>
          </p:nvSpPr>
          <p:spPr>
            <a:xfrm>
              <a:off x="6853308" y="2684484"/>
              <a:ext cx="741600" cy="741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2" name="Grafik 21" descr="\documentclass{article}&#10;\usepackage{amsmath}&#10;\pagestyle{empty}&#10;\begin{document}&#10;&#10;&#10;$\boldsymbol{\epsilon}_\theta$&#10;&#10;&#10;\end{document}" title="IguanaTex Bitmap Display">
              <a:extLst>
                <a:ext uri="{FF2B5EF4-FFF2-40B4-BE49-F238E27FC236}">
                  <a16:creationId xmlns:a16="http://schemas.microsoft.com/office/drawing/2014/main" id="{1410B055-09D6-2936-2AF9-AB5EA31C332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7094310" y="2993538"/>
              <a:ext cx="228600" cy="182880"/>
            </a:xfrm>
            <a:prstGeom prst="rect">
              <a:avLst/>
            </a:prstGeom>
          </p:spPr>
        </p:pic>
        <p:cxnSp>
          <p:nvCxnSpPr>
            <p:cNvPr id="24" name="Gerade Verbindung 23">
              <a:extLst>
                <a:ext uri="{FF2B5EF4-FFF2-40B4-BE49-F238E27FC236}">
                  <a16:creationId xmlns:a16="http://schemas.microsoft.com/office/drawing/2014/main" id="{1383D22A-6CEA-DB90-EBAC-806E82FC5E8E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1630244" y="846958"/>
              <a:ext cx="5592348" cy="21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5ADDF3D8-98C5-503C-90B0-BD6C860A63D9}"/>
                </a:ext>
              </a:extLst>
            </p:cNvPr>
            <p:cNvCxnSpPr>
              <a:cxnSpLocks/>
            </p:cNvCxnSpPr>
            <p:nvPr/>
          </p:nvCxnSpPr>
          <p:spPr>
            <a:xfrm>
              <a:off x="7222592" y="846958"/>
              <a:ext cx="0" cy="45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C11091DB-49C3-4F52-557B-BEBB55C45B14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222592" y="2039760"/>
              <a:ext cx="1516" cy="6447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7B25DA65-EBD9-3FEA-6917-D4829A97DA1F}"/>
                </a:ext>
              </a:extLst>
            </p:cNvPr>
            <p:cNvCxnSpPr>
              <a:cxnSpLocks/>
            </p:cNvCxnSpPr>
            <p:nvPr/>
          </p:nvCxnSpPr>
          <p:spPr>
            <a:xfrm>
              <a:off x="2658575" y="1664804"/>
              <a:ext cx="5155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Gerade Verbindung 34">
              <a:extLst>
                <a:ext uri="{FF2B5EF4-FFF2-40B4-BE49-F238E27FC236}">
                  <a16:creationId xmlns:a16="http://schemas.microsoft.com/office/drawing/2014/main" id="{66727121-40B1-B75C-0BDF-C88EDB909F6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070174" y="1005368"/>
              <a:ext cx="0" cy="31722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7689665E-C271-5931-A48C-1E25132309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174" y="4177604"/>
              <a:ext cx="12007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Gerade Verbindung 39">
              <a:extLst>
                <a:ext uri="{FF2B5EF4-FFF2-40B4-BE49-F238E27FC236}">
                  <a16:creationId xmlns:a16="http://schemas.microsoft.com/office/drawing/2014/main" id="{2207A865-F772-6D59-F249-4FA0FEF4F446}"/>
                </a:ext>
              </a:extLst>
            </p:cNvPr>
            <p:cNvCxnSpPr>
              <a:cxnSpLocks/>
              <a:stCxn id="21" idx="4"/>
            </p:cNvCxnSpPr>
            <p:nvPr/>
          </p:nvCxnSpPr>
          <p:spPr>
            <a:xfrm flipH="1">
              <a:off x="7222592" y="3426084"/>
              <a:ext cx="1516" cy="6201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AD2C06B0-70D3-D8CB-FB6B-9812D322BAB9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 flipH="1">
              <a:off x="6292694" y="4046208"/>
              <a:ext cx="9298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15437C52-1B5C-A5A1-A680-FC7ABF051E54}"/>
                </a:ext>
              </a:extLst>
            </p:cNvPr>
            <p:cNvCxnSpPr>
              <a:cxnSpLocks/>
            </p:cNvCxnSpPr>
            <p:nvPr/>
          </p:nvCxnSpPr>
          <p:spPr>
            <a:xfrm>
              <a:off x="2589977" y="2900308"/>
              <a:ext cx="205902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9A240164-EF1E-DB6F-22A4-708C07DA8710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4654257" y="1958540"/>
              <a:ext cx="0" cy="9597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DD5500B5-A9D4-3CC2-757C-7BF6B4F6BC0E}"/>
                </a:ext>
              </a:extLst>
            </p:cNvPr>
            <p:cNvCxnSpPr>
              <a:cxnSpLocks/>
            </p:cNvCxnSpPr>
            <p:nvPr/>
          </p:nvCxnSpPr>
          <p:spPr>
            <a:xfrm>
              <a:off x="1995616" y="3037468"/>
              <a:ext cx="0" cy="9097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0B43E198-9517-D888-8002-66DB03EF3753}"/>
                </a:ext>
              </a:extLst>
            </p:cNvPr>
            <p:cNvCxnSpPr/>
            <p:nvPr/>
          </p:nvCxnSpPr>
          <p:spPr>
            <a:xfrm>
              <a:off x="1995617" y="3947204"/>
              <a:ext cx="275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Grafik 2" descr="\documentclass{article}&#10;\usepackage{amsmath}&#10;\pagestyle{empty}&#10;\begin{document}&#10;&#10;&#10;$\mathcal{L}_{\text{DDPM}}  =| \boldsymbol{\epsilon}_\theta(x_t, t) - \boldsymbol{\epsilon}_t |_2^2 $&#13;&#10;&#10;&#10;\end{document}" title="IguanaTex Bitmap Display">
              <a:extLst>
                <a:ext uri="{FF2B5EF4-FFF2-40B4-BE49-F238E27FC236}">
                  <a16:creationId xmlns:a16="http://schemas.microsoft.com/office/drawing/2014/main" id="{55EE5C01-58C5-0601-F56A-83FA53493DE7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3013059" y="3911761"/>
              <a:ext cx="2537460" cy="279983"/>
            </a:xfrm>
            <a:prstGeom prst="rect">
              <a:avLst/>
            </a:prstGeom>
          </p:spPr>
        </p:pic>
        <p:pic>
          <p:nvPicPr>
            <p:cNvPr id="5" name="Grafik 4" descr="\documentclass{article}&#10;\usepackage{amsmath}&#10;\pagestyle{empty}&#10;\begin{document}&#10;&#10;&#10;$\mathbf{x}_0 \sim p_\text{data}$&#13;&#10;&#10;&#10;\end{document}" title="IguanaTex Bitmap Display">
              <a:extLst>
                <a:ext uri="{FF2B5EF4-FFF2-40B4-BE49-F238E27FC236}">
                  <a16:creationId xmlns:a16="http://schemas.microsoft.com/office/drawing/2014/main" id="{6CA4AFDE-C99C-1BF6-8D10-62D4C9199393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554493" y="1571204"/>
              <a:ext cx="1051560" cy="182880"/>
            </a:xfrm>
            <a:prstGeom prst="rect">
              <a:avLst/>
            </a:prstGeom>
          </p:spPr>
        </p:pic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AB7FD5BC-E4F7-3D2B-9971-DD0C9D87C1BC}"/>
                </a:ext>
              </a:extLst>
            </p:cNvPr>
            <p:cNvCxnSpPr>
              <a:cxnSpLocks/>
            </p:cNvCxnSpPr>
            <p:nvPr/>
          </p:nvCxnSpPr>
          <p:spPr>
            <a:xfrm>
              <a:off x="6134345" y="1659662"/>
              <a:ext cx="623298" cy="92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" name="Grafik 3" descr="\documentclass{article}&#10;\usepackage{amsmath}&#10;\pagestyle{empty}&#10;\begin{document}&#10;&#10;&#10;$\boldsymbol{\epsilon} \sim \mathcal{N}(\mathbf{0}, \mathbf{I})$&#10;&#10;\end{document}" title="IguanaTex Bitmap Display">
              <a:extLst>
                <a:ext uri="{FF2B5EF4-FFF2-40B4-BE49-F238E27FC236}">
                  <a16:creationId xmlns:a16="http://schemas.microsoft.com/office/drawing/2014/main" id="{10002449-7AE2-76DC-F816-A546CB30BC4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61556" y="2725048"/>
              <a:ext cx="1295400" cy="30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1319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49"/>
  <p:tag name="OUTPUTTYPE" val="PDF"/>
  <p:tag name="IGUANATEXVERSION" val="160"/>
  <p:tag name="LATEXADDIN" val="\documentclass{article}&#10;\usepackage{amsmath}&#10;\pagestyle{empty}&#10;\begin{document}&#10;&#10;$t \sim \mathcal{U}(1,T)$&#10;&#10;&#10;\end{document}"/>
  <p:tag name="IGUANATEXSIZE" val="18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"/>
  <p:tag name="ORIGINALWIDTH" val="116"/>
  <p:tag name="OUTPUTTYPE" val="PDF"/>
  <p:tag name="IGUANATEXVERSION" val="160"/>
  <p:tag name="LATEXADDIN" val="\documentclass{article}&#10;\usepackage{amsmath}&#10;\pagestyle{empty}&#10;\begin{document}&#10;&#10;&#10;$\mathbf{x_t} =  \sqrt{\bar{\alpha}_t} \mathbf{x_0} + \sqrt{(1- \bar{\alpha}_t)} \boldsymbol{\epsilon}$&#10;&#10;&#10;&#10;\end{document}"/>
  <p:tag name="IGUANATEXSIZE" val="18"/>
  <p:tag name="IGUANATEXCURSOR" val="18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"/>
  <p:tag name="ORIGINALWIDTH" val="111"/>
  <p:tag name="OUTPUTTYPE" val="PDF"/>
  <p:tag name="IGUANATEXVERSION" val="160"/>
  <p:tag name="LATEXADDIN" val="\documentclass{article}&#10;\usepackage{amsmath}&#10;\pagestyle{empty}&#10;\begin{document}&#10;&#10;&#10;$\mathcal{L}_{\text{DDPM}}  =| \boldsymbol{\epsilon}_\theta(x_t, t) - \boldsymbol{\epsilon}_t |_2^2 $&#13;&#10;&#10;&#10;\end{document}"/>
  <p:tag name="IGUANATEXSIZE" val="18"/>
  <p:tag name="IGUANATEXCURSOR" val="18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46"/>
  <p:tag name="OUTPUTTYPE" val="PDF"/>
  <p:tag name="IGUANATEXVERSION" val="160"/>
  <p:tag name="LATEXADDIN" val="\documentclass{article}&#10;\usepackage{amsmath}&#10;\pagestyle{empty}&#10;\begin{document}&#10;&#10;&#10;$\mathbf{x}_0 \sim p_\text{data}$&#13;&#10;&#10;&#10;\end{document}"/>
  <p:tag name="IGUANATEXSIZE" val="18"/>
  <p:tag name="IGUANATEXCURSOR" val="11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1"/>
  <p:tag name="OUTPUTTYPE" val="PDF"/>
  <p:tag name="IGUANATEXVERSION" val="160"/>
  <p:tag name="LATEXADDIN" val="\documentclass{article}&#10;\usepackage{amsmath}&#10;\pagestyle{empty}&#10;\begin{document}&#10;&#10;&#10;$\boldsymbol{\epsilon} \sim \mathcal{N}(\mathbf{0}, \mathbf{I})$&#10;&#10;\end{document}"/>
  <p:tag name="IGUANATEXSIZE" val="20"/>
  <p:tag name="IGUANATEXCURSOR" val="14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heme/theme1.xml><?xml version="1.0" encoding="utf-8"?>
<a:theme xmlns:a="http://schemas.openxmlformats.org/drawingml/2006/main" name="Office">
  <a:themeElements>
    <a:clrScheme name="Masterarbeit">
      <a:dk1>
        <a:srgbClr val="000000"/>
      </a:dk1>
      <a:lt1>
        <a:srgbClr val="F9FFFD"/>
      </a:lt1>
      <a:dk2>
        <a:srgbClr val="FFFFFF"/>
      </a:dk2>
      <a:lt2>
        <a:srgbClr val="D6DAE9"/>
      </a:lt2>
      <a:accent1>
        <a:srgbClr val="FFE1BA"/>
      </a:accent1>
      <a:accent2>
        <a:srgbClr val="F1F4C1"/>
      </a:accent2>
      <a:accent3>
        <a:srgbClr val="CCE6CF"/>
      </a:accent3>
      <a:accent4>
        <a:srgbClr val="C1E8F7"/>
      </a:accent4>
      <a:accent5>
        <a:srgbClr val="FBDFE1"/>
      </a:accent5>
      <a:accent6>
        <a:srgbClr val="B9B2D0"/>
      </a:accent6>
      <a:hlink>
        <a:srgbClr val="D6DAE9"/>
      </a:hlink>
      <a:folHlink>
        <a:srgbClr val="D3D3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123</Words>
  <Application>Microsoft Macintosh PowerPoint</Application>
  <PresentationFormat>Benutzerdefiniert</PresentationFormat>
  <Paragraphs>12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2</cp:revision>
  <dcterms:created xsi:type="dcterms:W3CDTF">2025-12-19T08:41:10Z</dcterms:created>
  <dcterms:modified xsi:type="dcterms:W3CDTF">2025-12-19T08:47:01Z</dcterms:modified>
</cp:coreProperties>
</file>