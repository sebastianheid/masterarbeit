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5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5" r:id="rId10"/>
    <p:sldId id="266" r:id="rId11"/>
    <p:sldId id="267" r:id="rId12"/>
    <p:sldId id="268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4"/>
    <p:restoredTop sz="85352"/>
  </p:normalViewPr>
  <p:slideViewPr>
    <p:cSldViewPr snapToGrid="0">
      <p:cViewPr varScale="1">
        <p:scale>
          <a:sx n="100" d="100"/>
          <a:sy n="100" d="100"/>
        </p:scale>
        <p:origin x="9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9D8636-5D06-C446-9D1E-AF216C15BDC8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073E5-9120-D246-9AE6-4372A486E4B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404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Inspired from: https://</a:t>
            </a:r>
            <a:r>
              <a:rPr lang="en-GB" dirty="0" err="1"/>
              <a:t>sebastianraschka.com</a:t>
            </a:r>
            <a:r>
              <a:rPr lang="en-GB" dirty="0"/>
              <a:t>/blog/2023/self-attention-from-</a:t>
            </a:r>
            <a:r>
              <a:rPr lang="en-GB" dirty="0" err="1"/>
              <a:t>scratch.html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073E5-9120-D246-9AE6-4372A486E4B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93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6D60-A60F-546D-CCF3-BA44D30E8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2184625-CD2B-A45C-3CB4-45E786A43C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94ABAAF-6142-A9FE-F08F-8EC0E0203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Inspired from: https://</a:t>
            </a:r>
            <a:r>
              <a:rPr lang="en-GB" dirty="0" err="1"/>
              <a:t>sebastianraschka.com</a:t>
            </a:r>
            <a:r>
              <a:rPr lang="en-GB" dirty="0"/>
              <a:t>/blog/2023/self-attention-from-</a:t>
            </a:r>
            <a:r>
              <a:rPr lang="en-GB" dirty="0" err="1"/>
              <a:t>scratch.html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FD69000-47A8-E25F-0586-041279932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073E5-9120-D246-9AE6-4372A486E4B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5437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$</a:t>
            </a:r>
            <a:r>
              <a:rPr lang="en-GB" dirty="0" err="1"/>
              <a:t>x_T</a:t>
            </a:r>
            <a:r>
              <a:rPr lang="en-GB" dirty="0"/>
              <a:t> \sim \</a:t>
            </a:r>
            <a:r>
              <a:rPr lang="en-GB" dirty="0" err="1"/>
              <a:t>mathcal</a:t>
            </a:r>
            <a:r>
              <a:rPr lang="en-GB" dirty="0"/>
              <a:t>{N}(0,1)$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$x_{t-1} = \frac{1}{\sqrt{\</a:t>
            </a:r>
            <a:r>
              <a:rPr lang="en-GB" dirty="0" err="1"/>
              <a:t>alpha_t</a:t>
            </a:r>
            <a:r>
              <a:rPr lang="en-GB" dirty="0"/>
              <a:t>}} \left( </a:t>
            </a:r>
            <a:r>
              <a:rPr lang="en-GB" dirty="0" err="1"/>
              <a:t>x_t</a:t>
            </a:r>
            <a:r>
              <a:rPr lang="en-GB" dirty="0"/>
              <a:t> - \frac{1 - \</a:t>
            </a:r>
            <a:r>
              <a:rPr lang="en-GB" dirty="0" err="1"/>
              <a:t>alpha_t</a:t>
            </a:r>
            <a:r>
              <a:rPr lang="en-GB" dirty="0"/>
              <a:t>}{\sqrt{1 - \bar{\alpha}_t}} \epsilon_\theta(</a:t>
            </a:r>
            <a:r>
              <a:rPr lang="en-GB" dirty="0" err="1"/>
              <a:t>x_t</a:t>
            </a:r>
            <a:r>
              <a:rPr lang="en-GB" dirty="0"/>
              <a:t>, t) \right) + \</a:t>
            </a:r>
            <a:r>
              <a:rPr lang="en-GB" dirty="0" err="1"/>
              <a:t>sigma_t</a:t>
            </a:r>
            <a:r>
              <a:rPr lang="en-GB" dirty="0"/>
              <a:t> z$</a:t>
            </a:r>
          </a:p>
          <a:p>
            <a:endParaRPr lang="en-GB" dirty="0"/>
          </a:p>
          <a:p>
            <a:r>
              <a:rPr lang="en-GB" dirty="0"/>
              <a:t>$x_{T-1} = \frac{1}{\sqrt{\</a:t>
            </a:r>
            <a:r>
              <a:rPr lang="en-GB" dirty="0" err="1"/>
              <a:t>alpha_T</a:t>
            </a:r>
            <a:r>
              <a:rPr lang="en-GB" dirty="0"/>
              <a:t>}} \left( </a:t>
            </a:r>
            <a:r>
              <a:rPr lang="en-GB" dirty="0" err="1"/>
              <a:t>x_T</a:t>
            </a:r>
            <a:r>
              <a:rPr lang="en-GB" dirty="0"/>
              <a:t> - \frac{1 - \</a:t>
            </a:r>
            <a:r>
              <a:rPr lang="en-GB" dirty="0" err="1"/>
              <a:t>alpha_T</a:t>
            </a:r>
            <a:r>
              <a:rPr lang="en-GB" dirty="0"/>
              <a:t>}{\sqrt{1 - \bar{\alpha}_T}} \epsilon_\theta \right) + \</a:t>
            </a:r>
            <a:r>
              <a:rPr lang="en-GB" dirty="0" err="1"/>
              <a:t>sigma_T</a:t>
            </a:r>
            <a:r>
              <a:rPr lang="en-GB" dirty="0"/>
              <a:t> z$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073E5-9120-D246-9AE6-4372A486E4B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9458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4E149-E168-0E60-A684-A0F39F37B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1D4D07C-69AF-A7C4-4B35-EE977D465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56893C2-35CD-9ABC-80C8-926441128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$</a:t>
            </a:r>
            <a:r>
              <a:rPr lang="en-GB" dirty="0" err="1"/>
              <a:t>x_T</a:t>
            </a:r>
            <a:r>
              <a:rPr lang="en-GB" dirty="0"/>
              <a:t> \sim \</a:t>
            </a:r>
            <a:r>
              <a:rPr lang="en-GB" dirty="0" err="1"/>
              <a:t>mathcal</a:t>
            </a:r>
            <a:r>
              <a:rPr lang="en-GB" dirty="0"/>
              <a:t>{N}(0,1)$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$x_{t-1} = \frac{1}{\sqrt{\</a:t>
            </a:r>
            <a:r>
              <a:rPr lang="en-GB" dirty="0" err="1"/>
              <a:t>alpha_t</a:t>
            </a:r>
            <a:r>
              <a:rPr lang="en-GB" dirty="0"/>
              <a:t>}} \left( </a:t>
            </a:r>
            <a:r>
              <a:rPr lang="en-GB" dirty="0" err="1"/>
              <a:t>x_t</a:t>
            </a:r>
            <a:r>
              <a:rPr lang="en-GB" dirty="0"/>
              <a:t> - \frac{1 - \</a:t>
            </a:r>
            <a:r>
              <a:rPr lang="en-GB" dirty="0" err="1"/>
              <a:t>alpha_t</a:t>
            </a:r>
            <a:r>
              <a:rPr lang="en-GB" dirty="0"/>
              <a:t>}{\sqrt{1 - \bar{\alpha}_t}} \epsilon_\theta(</a:t>
            </a:r>
            <a:r>
              <a:rPr lang="en-GB" dirty="0" err="1"/>
              <a:t>x_t</a:t>
            </a:r>
            <a:r>
              <a:rPr lang="en-GB" dirty="0"/>
              <a:t>, t) \right) + \</a:t>
            </a:r>
            <a:r>
              <a:rPr lang="en-GB" dirty="0" err="1"/>
              <a:t>sigma_t</a:t>
            </a:r>
            <a:r>
              <a:rPr lang="en-GB" dirty="0"/>
              <a:t> z$</a:t>
            </a:r>
          </a:p>
          <a:p>
            <a:endParaRPr lang="en-GB" dirty="0"/>
          </a:p>
          <a:p>
            <a:r>
              <a:rPr lang="en-GB" dirty="0"/>
              <a:t>$x_{T-1} = \frac{1}{\sqrt{\</a:t>
            </a:r>
            <a:r>
              <a:rPr lang="en-GB" dirty="0" err="1"/>
              <a:t>alpha_T</a:t>
            </a:r>
            <a:r>
              <a:rPr lang="en-GB" dirty="0"/>
              <a:t>}} \left( </a:t>
            </a:r>
            <a:r>
              <a:rPr lang="en-GB" dirty="0" err="1"/>
              <a:t>x_T</a:t>
            </a:r>
            <a:r>
              <a:rPr lang="en-GB" dirty="0"/>
              <a:t> - \frac{1 - \</a:t>
            </a:r>
            <a:r>
              <a:rPr lang="en-GB" dirty="0" err="1"/>
              <a:t>alpha_T</a:t>
            </a:r>
            <a:r>
              <a:rPr lang="en-GB" dirty="0"/>
              <a:t>}{\sqrt{1 - \bar{\alpha}_T}} \epsilon_\theta \right) + \</a:t>
            </a:r>
            <a:r>
              <a:rPr lang="en-GB" dirty="0" err="1"/>
              <a:t>sigma_T</a:t>
            </a:r>
            <a:r>
              <a:rPr lang="en-GB" dirty="0"/>
              <a:t> z$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{x}_T \sim \</a:t>
            </a:r>
            <a:r>
              <a:rPr lang="en-GB" dirty="0" err="1"/>
              <a:t>mathcal</a:t>
            </a:r>
            <a:r>
              <a:rPr lang="en-GB" dirty="0"/>
              <a:t>{N}(\</a:t>
            </a:r>
            <a:r>
              <a:rPr lang="en-GB" dirty="0" err="1"/>
              <a:t>mathbf</a:t>
            </a:r>
            <a:r>
              <a:rPr lang="en-GB" dirty="0"/>
              <a:t>{0},\</a:t>
            </a:r>
            <a:r>
              <a:rPr lang="en-GB" dirty="0" err="1"/>
              <a:t>mathbf</a:t>
            </a:r>
            <a:r>
              <a:rPr lang="en-GB" dirty="0"/>
              <a:t>{I})$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{x}_{T-1} = \frac{1}{\sqrt{\</a:t>
            </a:r>
            <a:r>
              <a:rPr lang="en-GB" dirty="0" err="1"/>
              <a:t>alpha_T</a:t>
            </a:r>
            <a:r>
              <a:rPr lang="en-GB" dirty="0"/>
              <a:t>}} \left( \</a:t>
            </a:r>
            <a:r>
              <a:rPr lang="en-GB" dirty="0" err="1"/>
              <a:t>mathbf</a:t>
            </a:r>
            <a:r>
              <a:rPr lang="en-GB" dirty="0"/>
              <a:t>{x}_T - \frac{1 - \</a:t>
            </a:r>
            <a:r>
              <a:rPr lang="en-GB" dirty="0" err="1"/>
              <a:t>alpha_T</a:t>
            </a:r>
            <a:r>
              <a:rPr lang="en-GB" dirty="0"/>
              <a:t>}{\sqrt{1 - \bar{\alpha}_T}} \</a:t>
            </a:r>
            <a:r>
              <a:rPr lang="en-GB" dirty="0" err="1"/>
              <a:t>boldsymbol</a:t>
            </a:r>
            <a:r>
              <a:rPr lang="en-GB" dirty="0"/>
              <a:t> {\epsilon}_\theta \right) + \</a:t>
            </a:r>
            <a:r>
              <a:rPr lang="en-GB" dirty="0" err="1"/>
              <a:t>sigma_T</a:t>
            </a:r>
            <a:r>
              <a:rPr lang="en-GB" dirty="0"/>
              <a:t> \</a:t>
            </a:r>
            <a:r>
              <a:rPr lang="en-GB" dirty="0" err="1"/>
              <a:t>mathbf</a:t>
            </a:r>
            <a:r>
              <a:rPr lang="en-GB" dirty="0"/>
              <a:t>{z}$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8F3BD4-1E80-CB6B-E60F-4BDB56EEA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073E5-9120-D246-9AE6-4372A486E4B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1886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$t \sim \</a:t>
            </a:r>
            <a:r>
              <a:rPr lang="en-GB" dirty="0" err="1"/>
              <a:t>mathcal</a:t>
            </a:r>
            <a:r>
              <a:rPr lang="en-GB" dirty="0"/>
              <a:t>{U}(1,T)$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{x}_0 \sim p_\text{data}(\</a:t>
            </a:r>
            <a:r>
              <a:rPr lang="en-GB" dirty="0" err="1"/>
              <a:t>mathbf</a:t>
            </a:r>
            <a:r>
              <a:rPr lang="en-GB" dirty="0"/>
              <a:t>{x}_0)$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</a:t>
            </a:r>
            <a:r>
              <a:rPr lang="en-GB" dirty="0" err="1"/>
              <a:t>x_t</a:t>
            </a:r>
            <a:r>
              <a:rPr lang="en-GB" dirty="0"/>
              <a:t>} =  \sqrt{\bar{\alpha}_t} \</a:t>
            </a:r>
            <a:r>
              <a:rPr lang="en-GB" dirty="0" err="1"/>
              <a:t>mathbf</a:t>
            </a:r>
            <a:r>
              <a:rPr lang="en-GB" dirty="0"/>
              <a:t>{x_0} + \sqrt{(1- \bar{\alpha}_t)} \</a:t>
            </a:r>
            <a:r>
              <a:rPr lang="en-GB" dirty="0" err="1"/>
              <a:t>boldsymbol</a:t>
            </a:r>
            <a:r>
              <a:rPr lang="en-GB" dirty="0"/>
              <a:t>{\epsilon}$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mathcal</a:t>
            </a:r>
            <a:r>
              <a:rPr lang="en-GB" dirty="0"/>
              <a:t>{L}_{\text{DDPM}}  = \frac{1}{2\sigma^2_t} \frac{(1 - \</a:t>
            </a:r>
            <a:r>
              <a:rPr lang="en-GB" dirty="0" err="1"/>
              <a:t>alpha_t</a:t>
            </a:r>
            <a:r>
              <a:rPr lang="en-GB" dirty="0"/>
              <a:t>)^2}{\</a:t>
            </a:r>
            <a:r>
              <a:rPr lang="en-GB" dirty="0" err="1"/>
              <a:t>alpha_t</a:t>
            </a:r>
            <a:r>
              <a:rPr lang="en-GB" dirty="0"/>
              <a:t>(1 - \bar{\alpha}_t)} \</a:t>
            </a:r>
            <a:r>
              <a:rPr lang="en-GB" dirty="0" err="1"/>
              <a:t>cdot</a:t>
            </a:r>
            <a:r>
              <a:rPr lang="en-GB" dirty="0"/>
              <a:t> | \</a:t>
            </a:r>
            <a:r>
              <a:rPr lang="en-GB" dirty="0" err="1"/>
              <a:t>boldsymbol</a:t>
            </a:r>
            <a:r>
              <a:rPr lang="en-GB" dirty="0"/>
              <a:t>{\epsilon}_\theta(</a:t>
            </a:r>
            <a:r>
              <a:rPr lang="en-GB" dirty="0" err="1"/>
              <a:t>x_t</a:t>
            </a:r>
            <a:r>
              <a:rPr lang="en-GB" dirty="0"/>
              <a:t>, t) - \</a:t>
            </a:r>
            <a:r>
              <a:rPr lang="en-GB" dirty="0" err="1"/>
              <a:t>boldsymbol</a:t>
            </a:r>
            <a:r>
              <a:rPr lang="en-GB" dirty="0"/>
              <a:t>{\epsilon}_t |_2^2 $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boldsymbol</a:t>
            </a:r>
            <a:r>
              <a:rPr lang="en-GB" dirty="0"/>
              <a:t>{\epsilon} \sim \</a:t>
            </a:r>
            <a:r>
              <a:rPr lang="en-GB" dirty="0" err="1"/>
              <a:t>mathcal</a:t>
            </a:r>
            <a:r>
              <a:rPr lang="en-GB" dirty="0"/>
              <a:t>{N}(\</a:t>
            </a:r>
            <a:r>
              <a:rPr lang="en-GB" dirty="0" err="1"/>
              <a:t>mathbf</a:t>
            </a:r>
            <a:r>
              <a:rPr lang="en-GB" dirty="0"/>
              <a:t>{0}, \</a:t>
            </a:r>
            <a:r>
              <a:rPr lang="en-GB" dirty="0" err="1"/>
              <a:t>mathbf</a:t>
            </a:r>
            <a:r>
              <a:rPr lang="en-GB" dirty="0"/>
              <a:t>{1})$</a:t>
            </a:r>
          </a:p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073E5-9120-D246-9AE6-4372A486E4B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4765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AF7C-EE23-D6DD-8D10-F1956AA41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DA16A68-2F8D-1CD2-FF15-77638E28A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A236A5A-7F58-DBC1-F1F4-33808DA55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$t \sim \</a:t>
            </a:r>
            <a:r>
              <a:rPr lang="en-GB" dirty="0" err="1"/>
              <a:t>mathcal</a:t>
            </a:r>
            <a:r>
              <a:rPr lang="en-GB" dirty="0"/>
              <a:t>{U}(1,T)$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{x}_0 \sim p_\text{data}$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mathbf</a:t>
            </a:r>
            <a:r>
              <a:rPr lang="en-GB" dirty="0"/>
              <a:t>{</a:t>
            </a:r>
            <a:r>
              <a:rPr lang="en-GB" dirty="0" err="1"/>
              <a:t>x_t</a:t>
            </a:r>
            <a:r>
              <a:rPr lang="en-GB" dirty="0"/>
              <a:t>} =  \sqrt{\bar{\alpha}_t} \</a:t>
            </a:r>
            <a:r>
              <a:rPr lang="en-GB" dirty="0" err="1"/>
              <a:t>mathbf</a:t>
            </a:r>
            <a:r>
              <a:rPr lang="en-GB" dirty="0"/>
              <a:t>{x_0} + \sqrt{(1- \bar{\alpha}_t)} \</a:t>
            </a:r>
            <a:r>
              <a:rPr lang="en-GB" dirty="0" err="1"/>
              <a:t>boldsymbol</a:t>
            </a:r>
            <a:r>
              <a:rPr lang="en-GB" dirty="0"/>
              <a:t>{\epsilon}$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mathcal</a:t>
            </a:r>
            <a:r>
              <a:rPr lang="en-GB" dirty="0"/>
              <a:t>{L}_{\text{DDPM}}  =| \</a:t>
            </a:r>
            <a:r>
              <a:rPr lang="en-GB" dirty="0" err="1"/>
              <a:t>boldsymbol</a:t>
            </a:r>
            <a:r>
              <a:rPr lang="en-GB" dirty="0"/>
              <a:t>{\epsilon}_\theta(</a:t>
            </a:r>
            <a:r>
              <a:rPr lang="en-GB" dirty="0" err="1"/>
              <a:t>x_t</a:t>
            </a:r>
            <a:r>
              <a:rPr lang="en-GB" dirty="0"/>
              <a:t>, t) - \</a:t>
            </a:r>
            <a:r>
              <a:rPr lang="en-GB" dirty="0" err="1"/>
              <a:t>boldsymbol</a:t>
            </a:r>
            <a:r>
              <a:rPr lang="en-GB" dirty="0"/>
              <a:t>{\epsilon}_t |_2^2 $</a:t>
            </a:r>
          </a:p>
          <a:p>
            <a:endParaRPr lang="en-GB" dirty="0"/>
          </a:p>
          <a:p>
            <a:r>
              <a:rPr lang="en-GB" dirty="0"/>
              <a:t>$\</a:t>
            </a:r>
            <a:r>
              <a:rPr lang="en-GB" dirty="0" err="1"/>
              <a:t>boldsymbol</a:t>
            </a:r>
            <a:r>
              <a:rPr lang="en-GB" dirty="0"/>
              <a:t>{\epsilon} \sim \</a:t>
            </a:r>
            <a:r>
              <a:rPr lang="en-GB" dirty="0" err="1"/>
              <a:t>mathcal</a:t>
            </a:r>
            <a:r>
              <a:rPr lang="en-GB" dirty="0"/>
              <a:t>{N}(\</a:t>
            </a:r>
            <a:r>
              <a:rPr lang="en-GB" dirty="0" err="1"/>
              <a:t>mathbf</a:t>
            </a:r>
            <a:r>
              <a:rPr lang="en-GB" dirty="0"/>
              <a:t>{0}, \</a:t>
            </a:r>
            <a:r>
              <a:rPr lang="en-GB" dirty="0" err="1"/>
              <a:t>mathbf</a:t>
            </a:r>
            <a:r>
              <a:rPr lang="en-GB" dirty="0"/>
              <a:t>{1})$</a:t>
            </a:r>
          </a:p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33DFF3-E8F2-A76B-91D2-950A500321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073E5-9120-D246-9AE6-4372A486E4B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203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931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9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08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372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807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19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836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039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13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037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074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0892A5-1A7D-3947-B6EA-FDE40E3DBF9E}" type="datetimeFigureOut">
              <a:rPr lang="en-GB" smtClean="0"/>
              <a:t>19/12/2025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DBEB3-F351-A642-8ABB-0C09A702511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0726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34.png"/><Relationship Id="rId18" Type="http://schemas.openxmlformats.org/officeDocument/2006/relationships/image" Target="../media/image36.png"/><Relationship Id="rId26" Type="http://schemas.openxmlformats.org/officeDocument/2006/relationships/image" Target="../media/image41.png"/><Relationship Id="rId3" Type="http://schemas.openxmlformats.org/officeDocument/2006/relationships/image" Target="../media/image30.png"/><Relationship Id="rId21" Type="http://schemas.openxmlformats.org/officeDocument/2006/relationships/image" Target="../media/image38.png"/><Relationship Id="rId7" Type="http://schemas.openxmlformats.org/officeDocument/2006/relationships/image" Target="../media/image5.png"/><Relationship Id="rId12" Type="http://schemas.openxmlformats.org/officeDocument/2006/relationships/image" Target="../media/image33.png"/><Relationship Id="rId17" Type="http://schemas.openxmlformats.org/officeDocument/2006/relationships/image" Target="../media/image15.png"/><Relationship Id="rId25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40.png"/><Relationship Id="rId32" Type="http://schemas.openxmlformats.org/officeDocument/2006/relationships/image" Target="../media/image45.png"/><Relationship Id="rId5" Type="http://schemas.openxmlformats.org/officeDocument/2006/relationships/image" Target="../media/image32.png"/><Relationship Id="rId15" Type="http://schemas.openxmlformats.org/officeDocument/2006/relationships/image" Target="../media/image13.png"/><Relationship Id="rId23" Type="http://schemas.openxmlformats.org/officeDocument/2006/relationships/image" Target="../media/image39.png"/><Relationship Id="rId28" Type="http://schemas.openxmlformats.org/officeDocument/2006/relationships/image" Target="../media/image43.png"/><Relationship Id="rId10" Type="http://schemas.openxmlformats.org/officeDocument/2006/relationships/image" Target="../media/image8.png"/><Relationship Id="rId19" Type="http://schemas.openxmlformats.org/officeDocument/2006/relationships/image" Target="../media/image37.png"/><Relationship Id="rId31" Type="http://schemas.openxmlformats.org/officeDocument/2006/relationships/image" Target="../media/image44.png"/><Relationship Id="rId4" Type="http://schemas.openxmlformats.org/officeDocument/2006/relationships/image" Target="../media/image31.png"/><Relationship Id="rId9" Type="http://schemas.openxmlformats.org/officeDocument/2006/relationships/image" Target="../media/image7.png"/><Relationship Id="rId14" Type="http://schemas.openxmlformats.org/officeDocument/2006/relationships/image" Target="../media/image35.png"/><Relationship Id="rId22" Type="http://schemas.openxmlformats.org/officeDocument/2006/relationships/image" Target="../media/image29.png"/><Relationship Id="rId27" Type="http://schemas.openxmlformats.org/officeDocument/2006/relationships/image" Target="../media/image42.png"/><Relationship Id="rId30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18" Type="http://schemas.openxmlformats.org/officeDocument/2006/relationships/image" Target="../media/image5.emf"/><Relationship Id="rId3" Type="http://schemas.openxmlformats.org/officeDocument/2006/relationships/tags" Target="../tags/tag3.xml"/><Relationship Id="rId21" Type="http://schemas.openxmlformats.org/officeDocument/2006/relationships/image" Target="../media/image8.emf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2.xml"/><Relationship Id="rId17" Type="http://schemas.openxmlformats.org/officeDocument/2006/relationships/image" Target="../media/image4.emf"/><Relationship Id="rId2" Type="http://schemas.openxmlformats.org/officeDocument/2006/relationships/tags" Target="../tags/tag2.xml"/><Relationship Id="rId16" Type="http://schemas.openxmlformats.org/officeDocument/2006/relationships/image" Target="../media/image3.emf"/><Relationship Id="rId20" Type="http://schemas.openxmlformats.org/officeDocument/2006/relationships/image" Target="../media/image7.e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2.emf"/><Relationship Id="rId10" Type="http://schemas.openxmlformats.org/officeDocument/2006/relationships/tags" Target="../tags/tag10.xml"/><Relationship Id="rId19" Type="http://schemas.openxmlformats.org/officeDocument/2006/relationships/image" Target="../media/image6.emf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emf"/><Relationship Id="rId22" Type="http://schemas.openxmlformats.org/officeDocument/2006/relationships/image" Target="../media/image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notesSlide" Target="../notesSlides/notesSlide4.xml"/><Relationship Id="rId26" Type="http://schemas.openxmlformats.org/officeDocument/2006/relationships/image" Target="../media/image16.emf"/><Relationship Id="rId3" Type="http://schemas.openxmlformats.org/officeDocument/2006/relationships/tags" Target="../tags/tag14.xml"/><Relationship Id="rId21" Type="http://schemas.openxmlformats.org/officeDocument/2006/relationships/image" Target="../media/image11.emf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slideLayout" Target="../slideLayouts/slideLayout2.xml"/><Relationship Id="rId25" Type="http://schemas.openxmlformats.org/officeDocument/2006/relationships/image" Target="../media/image15.emf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image" Target="../media/image10.emf"/><Relationship Id="rId29" Type="http://schemas.openxmlformats.org/officeDocument/2006/relationships/image" Target="../media/image19.emf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image" Target="../media/image14.emf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image" Target="../media/image13.emf"/><Relationship Id="rId28" Type="http://schemas.openxmlformats.org/officeDocument/2006/relationships/image" Target="../media/image18.emf"/><Relationship Id="rId10" Type="http://schemas.openxmlformats.org/officeDocument/2006/relationships/tags" Target="../tags/tag21.xml"/><Relationship Id="rId19" Type="http://schemas.openxmlformats.org/officeDocument/2006/relationships/image" Target="../media/image1.emf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image" Target="../media/image12.emf"/><Relationship Id="rId27" Type="http://schemas.openxmlformats.org/officeDocument/2006/relationships/image" Target="../media/image17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23.emf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image" Target="../media/image22.emf"/><Relationship Id="rId2" Type="http://schemas.openxmlformats.org/officeDocument/2006/relationships/tags" Target="../tags/tag29.xml"/><Relationship Id="rId16" Type="http://schemas.openxmlformats.org/officeDocument/2006/relationships/image" Target="../media/image24.emf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21.emf"/><Relationship Id="rId5" Type="http://schemas.openxmlformats.org/officeDocument/2006/relationships/tags" Target="../tags/tag32.xml"/><Relationship Id="rId15" Type="http://schemas.openxmlformats.org/officeDocument/2006/relationships/image" Target="../media/image19.emf"/><Relationship Id="rId10" Type="http://schemas.openxmlformats.org/officeDocument/2006/relationships/image" Target="../media/image20.emf"/><Relationship Id="rId4" Type="http://schemas.openxmlformats.org/officeDocument/2006/relationships/tags" Target="../tags/tag31.xml"/><Relationship Id="rId9" Type="http://schemas.openxmlformats.org/officeDocument/2006/relationships/notesSlide" Target="../notesSlides/notesSlide5.xml"/><Relationship Id="rId14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emf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image" Target="../media/image18.emf"/><Relationship Id="rId2" Type="http://schemas.openxmlformats.org/officeDocument/2006/relationships/tags" Target="../tags/tag36.xml"/><Relationship Id="rId16" Type="http://schemas.openxmlformats.org/officeDocument/2006/relationships/image" Target="../media/image27.emf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22.emf"/><Relationship Id="rId5" Type="http://schemas.openxmlformats.org/officeDocument/2006/relationships/tags" Target="../tags/tag39.xml"/><Relationship Id="rId15" Type="http://schemas.openxmlformats.org/officeDocument/2006/relationships/image" Target="../media/image26.emf"/><Relationship Id="rId10" Type="http://schemas.openxmlformats.org/officeDocument/2006/relationships/image" Target="../media/image20.emf"/><Relationship Id="rId4" Type="http://schemas.openxmlformats.org/officeDocument/2006/relationships/tags" Target="../tags/tag3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tags" Target="../tags/tag44.xml"/><Relationship Id="rId7" Type="http://schemas.openxmlformats.org/officeDocument/2006/relationships/image" Target="../media/image49.e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48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52.emf"/><Relationship Id="rId4" Type="http://schemas.openxmlformats.org/officeDocument/2006/relationships/tags" Target="../tags/tag45.xml"/><Relationship Id="rId9" Type="http://schemas.openxmlformats.org/officeDocument/2006/relationships/image" Target="../media/image51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tags" Target="../tags/tag48.xml"/><Relationship Id="rId7" Type="http://schemas.openxmlformats.org/officeDocument/2006/relationships/image" Target="../media/image58.emf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5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61.emf"/><Relationship Id="rId4" Type="http://schemas.openxmlformats.org/officeDocument/2006/relationships/tags" Target="../tags/tag49.xml"/><Relationship Id="rId9" Type="http://schemas.openxmlformats.org/officeDocument/2006/relationships/image" Target="../media/image6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ruppieren 139">
            <a:extLst>
              <a:ext uri="{FF2B5EF4-FFF2-40B4-BE49-F238E27FC236}">
                <a16:creationId xmlns:a16="http://schemas.microsoft.com/office/drawing/2014/main" id="{D501F9B9-5B0B-833B-184C-12ED2CFE110F}"/>
              </a:ext>
            </a:extLst>
          </p:cNvPr>
          <p:cNvGrpSpPr/>
          <p:nvPr/>
        </p:nvGrpSpPr>
        <p:grpSpPr>
          <a:xfrm>
            <a:off x="335744" y="289165"/>
            <a:ext cx="11651138" cy="6279670"/>
            <a:chOff x="335744" y="289165"/>
            <a:chExt cx="11651138" cy="62796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hteck 3">
                  <a:extLst>
                    <a:ext uri="{FF2B5EF4-FFF2-40B4-BE49-F238E27FC236}">
                      <a16:creationId xmlns:a16="http://schemas.microsoft.com/office/drawing/2014/main" id="{20ADAFA4-6CC4-1F04-A325-49C8D67B4D93}"/>
                    </a:ext>
                  </a:extLst>
                </p:cNvPr>
                <p:cNvSpPr/>
                <p:nvPr/>
              </p:nvSpPr>
              <p:spPr>
                <a:xfrm>
                  <a:off x="1392543" y="2663389"/>
                  <a:ext cx="720000" cy="12600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oMath>
                    </m:oMathPara>
                  </a14:m>
                  <a:endParaRPr lang="en-GB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Rechteck 3">
                  <a:extLst>
                    <a:ext uri="{FF2B5EF4-FFF2-40B4-BE49-F238E27FC236}">
                      <a16:creationId xmlns:a16="http://schemas.microsoft.com/office/drawing/2014/main" id="{20ADAFA4-6CC4-1F04-A325-49C8D67B4D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543" y="2663389"/>
                  <a:ext cx="720000" cy="1260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31751279-08A9-FAE8-0629-A4FEF2B75D04}"/>
                </a:ext>
              </a:extLst>
            </p:cNvPr>
            <p:cNvCxnSpPr>
              <a:cxnSpLocks/>
            </p:cNvCxnSpPr>
            <p:nvPr/>
          </p:nvCxnSpPr>
          <p:spPr>
            <a:xfrm>
              <a:off x="1284543" y="2663389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91812C59-82A2-FB83-BAF1-E362E7F9BFF7}"/>
                </a:ext>
              </a:extLst>
            </p:cNvPr>
            <p:cNvSpPr txBox="1"/>
            <p:nvPr/>
          </p:nvSpPr>
          <p:spPr>
            <a:xfrm>
              <a:off x="335744" y="3028875"/>
              <a:ext cx="667659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Number of input tokens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0E994AC6-5501-CE88-AD7B-EE5A252F6558}"/>
                    </a:ext>
                  </a:extLst>
                </p:cNvPr>
                <p:cNvSpPr txBox="1"/>
                <p:nvPr/>
              </p:nvSpPr>
              <p:spPr>
                <a:xfrm>
                  <a:off x="996543" y="3148500"/>
                  <a:ext cx="3240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0E994AC6-5501-CE88-AD7B-EE5A252F65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543" y="3148500"/>
                  <a:ext cx="324000" cy="30777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Gerade Verbindung mit Pfeil 10">
              <a:extLst>
                <a:ext uri="{FF2B5EF4-FFF2-40B4-BE49-F238E27FC236}">
                  <a16:creationId xmlns:a16="http://schemas.microsoft.com/office/drawing/2014/main" id="{F5165CFF-3B7A-7941-5CF3-AECBB779816A}"/>
                </a:ext>
              </a:extLst>
            </p:cNvPr>
            <p:cNvCxnSpPr/>
            <p:nvPr/>
          </p:nvCxnSpPr>
          <p:spPr>
            <a:xfrm>
              <a:off x="1377911" y="2555389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4B0A3E4-0C26-5FD5-6065-60E8D9E18894}"/>
                    </a:ext>
                  </a:extLst>
                </p:cNvPr>
                <p:cNvSpPr txBox="1"/>
                <p:nvPr/>
              </p:nvSpPr>
              <p:spPr>
                <a:xfrm>
                  <a:off x="1392543" y="2264452"/>
                  <a:ext cx="7580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64B0A3E4-0C26-5FD5-6065-60E8D9E188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543" y="2264452"/>
                  <a:ext cx="758026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hteck 18">
                  <a:extLst>
                    <a:ext uri="{FF2B5EF4-FFF2-40B4-BE49-F238E27FC236}">
                      <a16:creationId xmlns:a16="http://schemas.microsoft.com/office/drawing/2014/main" id="{B99B159A-6037-927C-4B12-3A7FC98CC979}"/>
                    </a:ext>
                  </a:extLst>
                </p:cNvPr>
                <p:cNvSpPr/>
                <p:nvPr/>
              </p:nvSpPr>
              <p:spPr>
                <a:xfrm>
                  <a:off x="3354711" y="1028506"/>
                  <a:ext cx="900000" cy="720000"/>
                </a:xfrm>
                <a:prstGeom prst="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hteck 18">
                  <a:extLst>
                    <a:ext uri="{FF2B5EF4-FFF2-40B4-BE49-F238E27FC236}">
                      <a16:creationId xmlns:a16="http://schemas.microsoft.com/office/drawing/2014/main" id="{B99B159A-6037-927C-4B12-3A7FC98CC9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1" y="1028506"/>
                  <a:ext cx="900000" cy="720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E70CA62B-D8E8-8964-0866-B23930778270}"/>
                    </a:ext>
                  </a:extLst>
                </p:cNvPr>
                <p:cNvSpPr txBox="1"/>
                <p:nvPr/>
              </p:nvSpPr>
              <p:spPr>
                <a:xfrm>
                  <a:off x="2922543" y="1233874"/>
                  <a:ext cx="324000" cy="30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E70CA62B-D8E8-8964-0866-B239307782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2543" y="1233874"/>
                  <a:ext cx="324000" cy="30777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43AFDB7B-2C40-6EA7-5314-7988D2AF3140}"/>
                </a:ext>
              </a:extLst>
            </p:cNvPr>
            <p:cNvCxnSpPr>
              <a:cxnSpLocks/>
            </p:cNvCxnSpPr>
            <p:nvPr/>
          </p:nvCxnSpPr>
          <p:spPr>
            <a:xfrm>
              <a:off x="3210482" y="1027763"/>
              <a:ext cx="0" cy="7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FB9B9857-3AA9-C277-D8B3-89131F3657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4711" y="920506"/>
              <a:ext cx="90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0AA1EDF5-53A6-227C-0C54-1A4DDB1D3FF2}"/>
                    </a:ext>
                  </a:extLst>
                </p:cNvPr>
                <p:cNvSpPr txBox="1"/>
                <p:nvPr/>
              </p:nvSpPr>
              <p:spPr>
                <a:xfrm>
                  <a:off x="3354712" y="559165"/>
                  <a:ext cx="900000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0AA1EDF5-53A6-227C-0C54-1A4DDB1D3F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2" y="559165"/>
                  <a:ext cx="900000" cy="32438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hteck 33">
                  <a:extLst>
                    <a:ext uri="{FF2B5EF4-FFF2-40B4-BE49-F238E27FC236}">
                      <a16:creationId xmlns:a16="http://schemas.microsoft.com/office/drawing/2014/main" id="{48898B6A-5A61-D6C1-EC5B-56C5E63D70B5}"/>
                    </a:ext>
                  </a:extLst>
                </p:cNvPr>
                <p:cNvSpPr/>
                <p:nvPr/>
              </p:nvSpPr>
              <p:spPr>
                <a:xfrm>
                  <a:off x="3354711" y="2902219"/>
                  <a:ext cx="900000" cy="720000"/>
                </a:xfrm>
                <a:prstGeom prst="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hteck 33">
                  <a:extLst>
                    <a:ext uri="{FF2B5EF4-FFF2-40B4-BE49-F238E27FC236}">
                      <a16:creationId xmlns:a16="http://schemas.microsoft.com/office/drawing/2014/main" id="{48898B6A-5A61-D6C1-EC5B-56C5E63D70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1" y="2902219"/>
                  <a:ext cx="900000" cy="720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22D37098-7204-F2BC-EF27-76B4809D9DB1}"/>
                    </a:ext>
                  </a:extLst>
                </p:cNvPr>
                <p:cNvSpPr txBox="1"/>
                <p:nvPr/>
              </p:nvSpPr>
              <p:spPr>
                <a:xfrm>
                  <a:off x="2922543" y="3107587"/>
                  <a:ext cx="324000" cy="30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22D37098-7204-F2BC-EF27-76B4809D9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2543" y="3107587"/>
                  <a:ext cx="324000" cy="30777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738E92F8-F7FC-7379-CCEF-CD4ED7F96E59}"/>
                </a:ext>
              </a:extLst>
            </p:cNvPr>
            <p:cNvCxnSpPr>
              <a:cxnSpLocks/>
            </p:cNvCxnSpPr>
            <p:nvPr/>
          </p:nvCxnSpPr>
          <p:spPr>
            <a:xfrm>
              <a:off x="3210482" y="2901476"/>
              <a:ext cx="0" cy="7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DF1995C2-BC85-3DF1-3EAD-A04602FB1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4711" y="2794219"/>
              <a:ext cx="90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62CC65FB-6D36-F444-302C-041FDD044AED}"/>
                    </a:ext>
                  </a:extLst>
                </p:cNvPr>
                <p:cNvSpPr txBox="1"/>
                <p:nvPr/>
              </p:nvSpPr>
              <p:spPr>
                <a:xfrm>
                  <a:off x="3354712" y="2434765"/>
                  <a:ext cx="900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62CC65FB-6D36-F444-302C-041FDD044A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2" y="2434765"/>
                  <a:ext cx="900000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7A535F39-3B4C-3620-5004-3B1EAEDC2368}"/>
                    </a:ext>
                  </a:extLst>
                </p:cNvPr>
                <p:cNvSpPr/>
                <p:nvPr/>
              </p:nvSpPr>
              <p:spPr>
                <a:xfrm>
                  <a:off x="3354710" y="4759019"/>
                  <a:ext cx="1117603" cy="720000"/>
                </a:xfrm>
                <a:prstGeom prst="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7A535F39-3B4C-3620-5004-3B1EAEDC23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0" y="4759019"/>
                  <a:ext cx="1117603" cy="720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feld 39">
                  <a:extLst>
                    <a:ext uri="{FF2B5EF4-FFF2-40B4-BE49-F238E27FC236}">
                      <a16:creationId xmlns:a16="http://schemas.microsoft.com/office/drawing/2014/main" id="{40F5DC45-93DF-87E1-EEAE-31ED7B31C202}"/>
                    </a:ext>
                  </a:extLst>
                </p:cNvPr>
                <p:cNvSpPr txBox="1"/>
                <p:nvPr/>
              </p:nvSpPr>
              <p:spPr>
                <a:xfrm>
                  <a:off x="2922543" y="4964387"/>
                  <a:ext cx="324000" cy="30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feld 39">
                  <a:extLst>
                    <a:ext uri="{FF2B5EF4-FFF2-40B4-BE49-F238E27FC236}">
                      <a16:creationId xmlns:a16="http://schemas.microsoft.com/office/drawing/2014/main" id="{40F5DC45-93DF-87E1-EEAE-31ED7B31C2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2543" y="4964387"/>
                  <a:ext cx="324000" cy="30777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45E8D3CD-B72F-7EA3-71A4-AD1769F2C0E9}"/>
                </a:ext>
              </a:extLst>
            </p:cNvPr>
            <p:cNvCxnSpPr>
              <a:cxnSpLocks/>
            </p:cNvCxnSpPr>
            <p:nvPr/>
          </p:nvCxnSpPr>
          <p:spPr>
            <a:xfrm>
              <a:off x="3210482" y="4758276"/>
              <a:ext cx="0" cy="7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DC8B8E29-B972-B774-B00A-DFDF47AF09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4711" y="4651019"/>
              <a:ext cx="111760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D6D39CBB-9BA8-C1F1-C3B2-1882C368938F}"/>
                    </a:ext>
                  </a:extLst>
                </p:cNvPr>
                <p:cNvSpPr txBox="1"/>
                <p:nvPr/>
              </p:nvSpPr>
              <p:spPr>
                <a:xfrm>
                  <a:off x="3354711" y="4292365"/>
                  <a:ext cx="111759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D6D39CBB-9BA8-C1F1-C3B2-1882C36893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1" y="4292365"/>
                  <a:ext cx="1117593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2D322BED-4CD0-9398-E839-BB598159A820}"/>
                </a:ext>
              </a:extLst>
            </p:cNvPr>
            <p:cNvSpPr txBox="1"/>
            <p:nvPr/>
          </p:nvSpPr>
          <p:spPr>
            <a:xfrm>
              <a:off x="1225796" y="1972651"/>
              <a:ext cx="10534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Embedding size</a:t>
              </a:r>
            </a:p>
          </p:txBody>
        </p:sp>
        <p:cxnSp>
          <p:nvCxnSpPr>
            <p:cNvPr id="51" name="Gerade Verbindung 50">
              <a:extLst>
                <a:ext uri="{FF2B5EF4-FFF2-40B4-BE49-F238E27FC236}">
                  <a16:creationId xmlns:a16="http://schemas.microsoft.com/office/drawing/2014/main" id="{1534AE0F-0E46-2B15-1556-650EF5C170AE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2112543" y="3293389"/>
              <a:ext cx="74868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Gerade Verbindung 53">
              <a:extLst>
                <a:ext uri="{FF2B5EF4-FFF2-40B4-BE49-F238E27FC236}">
                  <a16:creationId xmlns:a16="http://schemas.microsoft.com/office/drawing/2014/main" id="{028BAEF1-A113-CC65-0183-FA1A6091B78B}"/>
                </a:ext>
              </a:extLst>
            </p:cNvPr>
            <p:cNvCxnSpPr>
              <a:cxnSpLocks/>
            </p:cNvCxnSpPr>
            <p:nvPr/>
          </p:nvCxnSpPr>
          <p:spPr>
            <a:xfrm>
              <a:off x="2121541" y="2901476"/>
              <a:ext cx="3653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Gerade Verbindung 55">
              <a:extLst>
                <a:ext uri="{FF2B5EF4-FFF2-40B4-BE49-F238E27FC236}">
                  <a16:creationId xmlns:a16="http://schemas.microsoft.com/office/drawing/2014/main" id="{87B4753F-7CCD-6154-EC1A-0B6F5602D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85141" y="1387763"/>
              <a:ext cx="1802" cy="15137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57">
              <a:extLst>
                <a:ext uri="{FF2B5EF4-FFF2-40B4-BE49-F238E27FC236}">
                  <a16:creationId xmlns:a16="http://schemas.microsoft.com/office/drawing/2014/main" id="{880D4FCC-971C-C1CA-C0A0-95C02AC6DBC1}"/>
                </a:ext>
              </a:extLst>
            </p:cNvPr>
            <p:cNvCxnSpPr>
              <a:cxnSpLocks/>
            </p:cNvCxnSpPr>
            <p:nvPr/>
          </p:nvCxnSpPr>
          <p:spPr>
            <a:xfrm>
              <a:off x="2486943" y="1387763"/>
              <a:ext cx="415820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Gerade Verbindung 60">
              <a:extLst>
                <a:ext uri="{FF2B5EF4-FFF2-40B4-BE49-F238E27FC236}">
                  <a16:creationId xmlns:a16="http://schemas.microsoft.com/office/drawing/2014/main" id="{E62B4572-C204-72FB-5BE4-126EBC74981F}"/>
                </a:ext>
              </a:extLst>
            </p:cNvPr>
            <p:cNvCxnSpPr>
              <a:cxnSpLocks/>
            </p:cNvCxnSpPr>
            <p:nvPr/>
          </p:nvCxnSpPr>
          <p:spPr>
            <a:xfrm>
              <a:off x="2486943" y="5117622"/>
              <a:ext cx="4176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Gerade Verbindung 61">
              <a:extLst>
                <a:ext uri="{FF2B5EF4-FFF2-40B4-BE49-F238E27FC236}">
                  <a16:creationId xmlns:a16="http://schemas.microsoft.com/office/drawing/2014/main" id="{ED0EF099-63D2-4585-9309-2EA78F6C66BD}"/>
                </a:ext>
              </a:extLst>
            </p:cNvPr>
            <p:cNvCxnSpPr/>
            <p:nvPr/>
          </p:nvCxnSpPr>
          <p:spPr>
            <a:xfrm flipV="1">
              <a:off x="2486943" y="3619080"/>
              <a:ext cx="0" cy="151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62">
              <a:extLst>
                <a:ext uri="{FF2B5EF4-FFF2-40B4-BE49-F238E27FC236}">
                  <a16:creationId xmlns:a16="http://schemas.microsoft.com/office/drawing/2014/main" id="{4A646769-A5AA-102C-225E-03FBB64DB2F2}"/>
                </a:ext>
              </a:extLst>
            </p:cNvPr>
            <p:cNvCxnSpPr/>
            <p:nvPr/>
          </p:nvCxnSpPr>
          <p:spPr>
            <a:xfrm>
              <a:off x="2121541" y="3628714"/>
              <a:ext cx="363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mit Pfeil 65">
              <a:extLst>
                <a:ext uri="{FF2B5EF4-FFF2-40B4-BE49-F238E27FC236}">
                  <a16:creationId xmlns:a16="http://schemas.microsoft.com/office/drawing/2014/main" id="{E2C87B45-5261-018D-B525-1BD6E14FE6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4711" y="1388474"/>
              <a:ext cx="609489" cy="7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27CE037C-A352-8FFB-36ED-80B4878001B4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4254711" y="3262219"/>
              <a:ext cx="6094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061B6D30-3C57-6C2B-5D77-EA21BE20D0A7}"/>
                </a:ext>
              </a:extLst>
            </p:cNvPr>
            <p:cNvCxnSpPr>
              <a:cxnSpLocks/>
              <a:stCxn id="39" idx="3"/>
            </p:cNvCxnSpPr>
            <p:nvPr/>
          </p:nvCxnSpPr>
          <p:spPr>
            <a:xfrm flipV="1">
              <a:off x="4472313" y="5110557"/>
              <a:ext cx="391887" cy="84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hteck 73">
                  <a:extLst>
                    <a:ext uri="{FF2B5EF4-FFF2-40B4-BE49-F238E27FC236}">
                      <a16:creationId xmlns:a16="http://schemas.microsoft.com/office/drawing/2014/main" id="{DEF3D454-9B49-3C9A-7938-629E1F8525C8}"/>
                    </a:ext>
                  </a:extLst>
                </p:cNvPr>
                <p:cNvSpPr/>
                <p:nvPr/>
              </p:nvSpPr>
              <p:spPr>
                <a:xfrm>
                  <a:off x="5346714" y="757763"/>
                  <a:ext cx="900000" cy="1260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hteck 73">
                  <a:extLst>
                    <a:ext uri="{FF2B5EF4-FFF2-40B4-BE49-F238E27FC236}">
                      <a16:creationId xmlns:a16="http://schemas.microsoft.com/office/drawing/2014/main" id="{DEF3D454-9B49-3C9A-7938-629E1F8525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4" y="757763"/>
                  <a:ext cx="900000" cy="1260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BE066B73-60E9-BA6E-29F2-6633DEF74C39}"/>
                </a:ext>
              </a:extLst>
            </p:cNvPr>
            <p:cNvCxnSpPr>
              <a:cxnSpLocks/>
            </p:cNvCxnSpPr>
            <p:nvPr/>
          </p:nvCxnSpPr>
          <p:spPr>
            <a:xfrm>
              <a:off x="5238714" y="783882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87B54D13-55AB-81CD-1B5F-FABC625AE4AD}"/>
                    </a:ext>
                  </a:extLst>
                </p:cNvPr>
                <p:cNvSpPr txBox="1"/>
                <p:nvPr/>
              </p:nvSpPr>
              <p:spPr>
                <a:xfrm>
                  <a:off x="4949343" y="1239965"/>
                  <a:ext cx="3240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87B54D13-55AB-81CD-1B5F-FABC625AE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343" y="1239965"/>
                  <a:ext cx="324000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Gerade Verbindung mit Pfeil 78">
              <a:extLst>
                <a:ext uri="{FF2B5EF4-FFF2-40B4-BE49-F238E27FC236}">
                  <a16:creationId xmlns:a16="http://schemas.microsoft.com/office/drawing/2014/main" id="{263BA426-3D5C-FEC3-6C09-F2234BB467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713" y="649165"/>
              <a:ext cx="90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feld 79">
                  <a:extLst>
                    <a:ext uri="{FF2B5EF4-FFF2-40B4-BE49-F238E27FC236}">
                      <a16:creationId xmlns:a16="http://schemas.microsoft.com/office/drawing/2014/main" id="{E8C35392-ACD1-A99C-54D0-C32E80601F4B}"/>
                    </a:ext>
                  </a:extLst>
                </p:cNvPr>
                <p:cNvSpPr txBox="1"/>
                <p:nvPr/>
              </p:nvSpPr>
              <p:spPr>
                <a:xfrm>
                  <a:off x="5346713" y="289165"/>
                  <a:ext cx="900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feld 79">
                  <a:extLst>
                    <a:ext uri="{FF2B5EF4-FFF2-40B4-BE49-F238E27FC236}">
                      <a16:creationId xmlns:a16="http://schemas.microsoft.com/office/drawing/2014/main" id="{E8C35392-ACD1-A99C-54D0-C32E80601F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3" y="289165"/>
                  <a:ext cx="900000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hteck 80">
                  <a:extLst>
                    <a:ext uri="{FF2B5EF4-FFF2-40B4-BE49-F238E27FC236}">
                      <a16:creationId xmlns:a16="http://schemas.microsoft.com/office/drawing/2014/main" id="{14C4C32C-1372-29C4-FF29-91D3B8CAD390}"/>
                    </a:ext>
                  </a:extLst>
                </p:cNvPr>
                <p:cNvSpPr/>
                <p:nvPr/>
              </p:nvSpPr>
              <p:spPr>
                <a:xfrm>
                  <a:off x="5346713" y="2632219"/>
                  <a:ext cx="900000" cy="1260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Rechteck 80">
                  <a:extLst>
                    <a:ext uri="{FF2B5EF4-FFF2-40B4-BE49-F238E27FC236}">
                      <a16:creationId xmlns:a16="http://schemas.microsoft.com/office/drawing/2014/main" id="{14C4C32C-1372-29C4-FF29-91D3B8CAD39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3" y="2632219"/>
                  <a:ext cx="900000" cy="126000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D2FC70E2-A94B-EFB1-85A9-35443505BD74}"/>
                </a:ext>
              </a:extLst>
            </p:cNvPr>
            <p:cNvCxnSpPr>
              <a:cxnSpLocks/>
            </p:cNvCxnSpPr>
            <p:nvPr/>
          </p:nvCxnSpPr>
          <p:spPr>
            <a:xfrm>
              <a:off x="5238713" y="2658338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3725D815-EF62-CBC1-B6A0-ABD68CFC72E5}"/>
                    </a:ext>
                  </a:extLst>
                </p:cNvPr>
                <p:cNvSpPr txBox="1"/>
                <p:nvPr/>
              </p:nvSpPr>
              <p:spPr>
                <a:xfrm>
                  <a:off x="4949342" y="3114421"/>
                  <a:ext cx="3240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3725D815-EF62-CBC1-B6A0-ABD68CFC7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342" y="3114421"/>
                  <a:ext cx="324000" cy="3077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FBF60826-0515-CA01-4DC6-8F312BADC6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712" y="2523621"/>
              <a:ext cx="90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286AF1A1-6379-FF39-B902-81134F194A38}"/>
                    </a:ext>
                  </a:extLst>
                </p:cNvPr>
                <p:cNvSpPr txBox="1"/>
                <p:nvPr/>
              </p:nvSpPr>
              <p:spPr>
                <a:xfrm>
                  <a:off x="5346712" y="2163621"/>
                  <a:ext cx="900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286AF1A1-6379-FF39-B902-81134F194A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2" y="2163621"/>
                  <a:ext cx="900000" cy="30777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hteck 85">
                  <a:extLst>
                    <a:ext uri="{FF2B5EF4-FFF2-40B4-BE49-F238E27FC236}">
                      <a16:creationId xmlns:a16="http://schemas.microsoft.com/office/drawing/2014/main" id="{1406BC30-6A8F-8113-F07D-D839FB2DFAC1}"/>
                    </a:ext>
                  </a:extLst>
                </p:cNvPr>
                <p:cNvSpPr/>
                <p:nvPr/>
              </p:nvSpPr>
              <p:spPr>
                <a:xfrm>
                  <a:off x="5346712" y="4492737"/>
                  <a:ext cx="1116000" cy="1260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Rechteck 85">
                  <a:extLst>
                    <a:ext uri="{FF2B5EF4-FFF2-40B4-BE49-F238E27FC236}">
                      <a16:creationId xmlns:a16="http://schemas.microsoft.com/office/drawing/2014/main" id="{1406BC30-6A8F-8113-F07D-D839FB2DFA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2" y="4492737"/>
                  <a:ext cx="1116000" cy="126000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4D266F33-A6D1-0424-C2F3-3FEE6CBF90CF}"/>
                </a:ext>
              </a:extLst>
            </p:cNvPr>
            <p:cNvCxnSpPr>
              <a:cxnSpLocks/>
            </p:cNvCxnSpPr>
            <p:nvPr/>
          </p:nvCxnSpPr>
          <p:spPr>
            <a:xfrm>
              <a:off x="5238712" y="4518856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5C4FE198-3E54-4E77-A1BC-ECAF4B617E2F}"/>
                    </a:ext>
                  </a:extLst>
                </p:cNvPr>
                <p:cNvSpPr txBox="1"/>
                <p:nvPr/>
              </p:nvSpPr>
              <p:spPr>
                <a:xfrm>
                  <a:off x="4949341" y="4974939"/>
                  <a:ext cx="3240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5C4FE198-3E54-4E77-A1BC-ECAF4B617E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341" y="4974939"/>
                  <a:ext cx="324000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2ED69AF6-F2B9-A65D-5271-B4002B5D39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711" y="4384139"/>
              <a:ext cx="111600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D759EC2E-2761-1280-0AD3-185D9F1AA90E}"/>
                    </a:ext>
                  </a:extLst>
                </p:cNvPr>
                <p:cNvSpPr txBox="1"/>
                <p:nvPr/>
              </p:nvSpPr>
              <p:spPr>
                <a:xfrm>
                  <a:off x="5328541" y="4011960"/>
                  <a:ext cx="1115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D759EC2E-2761-1280-0AD3-185D9F1AA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8541" y="4011960"/>
                  <a:ext cx="1115995" cy="30777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F2E43E44-FAED-B677-B4CF-DE513CEDFF5B}"/>
                </a:ext>
              </a:extLst>
            </p:cNvPr>
            <p:cNvGrpSpPr/>
            <p:nvPr/>
          </p:nvGrpSpPr>
          <p:grpSpPr>
            <a:xfrm>
              <a:off x="7253343" y="1233874"/>
              <a:ext cx="1655140" cy="1728793"/>
              <a:chOff x="7120800" y="849601"/>
              <a:chExt cx="1655140" cy="1728793"/>
            </a:xfrm>
          </p:grpSpPr>
          <p:grpSp>
            <p:nvGrpSpPr>
              <p:cNvPr id="108" name="Gruppieren 107">
                <a:extLst>
                  <a:ext uri="{FF2B5EF4-FFF2-40B4-BE49-F238E27FC236}">
                    <a16:creationId xmlns:a16="http://schemas.microsoft.com/office/drawing/2014/main" id="{669C837C-BC9D-E1CE-8765-A66BDF16241A}"/>
                  </a:ext>
                </a:extLst>
              </p:cNvPr>
              <p:cNvGrpSpPr/>
              <p:nvPr/>
            </p:nvGrpSpPr>
            <p:grpSpPr>
              <a:xfrm>
                <a:off x="7408800" y="849601"/>
                <a:ext cx="1367140" cy="1728793"/>
                <a:chOff x="7408800" y="849601"/>
                <a:chExt cx="1367140" cy="17287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Rechteck 91">
                      <a:extLst>
                        <a:ext uri="{FF2B5EF4-FFF2-40B4-BE49-F238E27FC236}">
                          <a16:creationId xmlns:a16="http://schemas.microsoft.com/office/drawing/2014/main" id="{CBBC2350-327A-F7E2-5C40-D917865BAE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5940" y="1317707"/>
                      <a:ext cx="1260000" cy="1260000"/>
                    </a:xfrm>
                    <a:prstGeom prst="rect">
                      <a:avLst/>
                    </a:prstGeom>
                    <a:solidFill>
                      <a:schemeClr val="accent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oMath>
                        </m:oMathPara>
                      </a14:m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2" name="Rechteck 91">
                      <a:extLst>
                        <a:ext uri="{FF2B5EF4-FFF2-40B4-BE49-F238E27FC236}">
                          <a16:creationId xmlns:a16="http://schemas.microsoft.com/office/drawing/2014/main" id="{CBBC2350-327A-F7E2-5C40-D917865BAE04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15940" y="1317707"/>
                      <a:ext cx="1260000" cy="1260000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3" name="Gerade Verbindung mit Pfeil 92">
                  <a:extLst>
                    <a:ext uri="{FF2B5EF4-FFF2-40B4-BE49-F238E27FC236}">
                      <a16:creationId xmlns:a16="http://schemas.microsoft.com/office/drawing/2014/main" id="{21E61AE8-8393-684F-AF20-B8DF392AEB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15940" y="1209600"/>
                  <a:ext cx="12600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feld 93">
                      <a:extLst>
                        <a:ext uri="{FF2B5EF4-FFF2-40B4-BE49-F238E27FC236}">
                          <a16:creationId xmlns:a16="http://schemas.microsoft.com/office/drawing/2014/main" id="{55AB7266-AEFD-E111-434E-80CB8F5BF4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4968" y="849601"/>
                      <a:ext cx="123097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oMath>
                        </m:oMathPara>
                      </a14:m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4" name="Textfeld 93">
                      <a:extLst>
                        <a:ext uri="{FF2B5EF4-FFF2-40B4-BE49-F238E27FC236}">
                          <a16:creationId xmlns:a16="http://schemas.microsoft.com/office/drawing/2014/main" id="{55AB7266-AEFD-E111-434E-80CB8F5BF4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4968" y="849601"/>
                      <a:ext cx="1230971" cy="307777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8" name="Gerade Verbindung mit Pfeil 97">
                  <a:extLst>
                    <a:ext uri="{FF2B5EF4-FFF2-40B4-BE49-F238E27FC236}">
                      <a16:creationId xmlns:a16="http://schemas.microsoft.com/office/drawing/2014/main" id="{7FF35863-6586-803B-B28B-9C0F1366D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8800" y="1318394"/>
                  <a:ext cx="0" cy="12600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feld 98">
                    <a:extLst>
                      <a:ext uri="{FF2B5EF4-FFF2-40B4-BE49-F238E27FC236}">
                        <a16:creationId xmlns:a16="http://schemas.microsoft.com/office/drawing/2014/main" id="{CF24DB67-EE1A-E33A-197B-5FE011B29BA6}"/>
                      </a:ext>
                    </a:extLst>
                  </p:cNvPr>
                  <p:cNvSpPr txBox="1"/>
                  <p:nvPr/>
                </p:nvSpPr>
                <p:spPr>
                  <a:xfrm>
                    <a:off x="7120800" y="1803505"/>
                    <a:ext cx="32400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GB" sz="1400" dirty="0"/>
                  </a:p>
                </p:txBody>
              </p:sp>
            </mc:Choice>
            <mc:Fallback xmlns="">
              <p:sp>
                <p:nvSpPr>
                  <p:cNvPr id="99" name="Textfeld 98">
                    <a:extLst>
                      <a:ext uri="{FF2B5EF4-FFF2-40B4-BE49-F238E27FC236}">
                        <a16:creationId xmlns:a16="http://schemas.microsoft.com/office/drawing/2014/main" id="{CF24DB67-EE1A-E33A-197B-5FE011B29B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20800" y="1803505"/>
                    <a:ext cx="324000" cy="30777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1" name="Gerade Verbindung 100">
              <a:extLst>
                <a:ext uri="{FF2B5EF4-FFF2-40B4-BE49-F238E27FC236}">
                  <a16:creationId xmlns:a16="http://schemas.microsoft.com/office/drawing/2014/main" id="{004981BA-88C3-919F-2F28-82747E2351A2}"/>
                </a:ext>
              </a:extLst>
            </p:cNvPr>
            <p:cNvCxnSpPr>
              <a:stCxn id="74" idx="3"/>
            </p:cNvCxnSpPr>
            <p:nvPr/>
          </p:nvCxnSpPr>
          <p:spPr>
            <a:xfrm>
              <a:off x="6246714" y="1387763"/>
              <a:ext cx="57691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Gerade Verbindung 102">
              <a:extLst>
                <a:ext uri="{FF2B5EF4-FFF2-40B4-BE49-F238E27FC236}">
                  <a16:creationId xmlns:a16="http://schemas.microsoft.com/office/drawing/2014/main" id="{7CAD0BDF-B066-D7EF-8F4D-40441FDE9B73}"/>
                </a:ext>
              </a:extLst>
            </p:cNvPr>
            <p:cNvCxnSpPr>
              <a:stCxn id="81" idx="3"/>
            </p:cNvCxnSpPr>
            <p:nvPr/>
          </p:nvCxnSpPr>
          <p:spPr>
            <a:xfrm>
              <a:off x="6246713" y="3262219"/>
              <a:ext cx="5769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Gerade Verbindung 104">
              <a:extLst>
                <a:ext uri="{FF2B5EF4-FFF2-40B4-BE49-F238E27FC236}">
                  <a16:creationId xmlns:a16="http://schemas.microsoft.com/office/drawing/2014/main" id="{EFE4CF34-2001-A6DC-ECD3-108B40A6488A}"/>
                </a:ext>
              </a:extLst>
            </p:cNvPr>
            <p:cNvCxnSpPr/>
            <p:nvPr/>
          </p:nvCxnSpPr>
          <p:spPr>
            <a:xfrm>
              <a:off x="6823629" y="1387763"/>
              <a:ext cx="0" cy="187445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Gerade Verbindung mit Pfeil 106">
              <a:extLst>
                <a:ext uri="{FF2B5EF4-FFF2-40B4-BE49-F238E27FC236}">
                  <a16:creationId xmlns:a16="http://schemas.microsoft.com/office/drawing/2014/main" id="{B9EAA234-B568-0368-CA96-54AA263F43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629" y="2323165"/>
              <a:ext cx="4297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>
              <a:extLst>
                <a:ext uri="{FF2B5EF4-FFF2-40B4-BE49-F238E27FC236}">
                  <a16:creationId xmlns:a16="http://schemas.microsoft.com/office/drawing/2014/main" id="{C27C7984-5601-AA67-BFA7-741D9FE08CCA}"/>
                </a:ext>
              </a:extLst>
            </p:cNvPr>
            <p:cNvCxnSpPr>
              <a:cxnSpLocks/>
            </p:cNvCxnSpPr>
            <p:nvPr/>
          </p:nvCxnSpPr>
          <p:spPr>
            <a:xfrm>
              <a:off x="8908482" y="2332859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Abgerundetes Rechteck 111">
              <a:extLst>
                <a:ext uri="{FF2B5EF4-FFF2-40B4-BE49-F238E27FC236}">
                  <a16:creationId xmlns:a16="http://schemas.microsoft.com/office/drawing/2014/main" id="{7FA3A3FD-E076-2F98-A103-97DA5031839F}"/>
                </a:ext>
              </a:extLst>
            </p:cNvPr>
            <p:cNvSpPr/>
            <p:nvPr/>
          </p:nvSpPr>
          <p:spPr>
            <a:xfrm>
              <a:off x="9399109" y="2127944"/>
              <a:ext cx="1074058" cy="367611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Softmax</a:t>
              </a:r>
              <a:endParaRPr lang="en-GB" dirty="0"/>
            </a:p>
          </p:txBody>
        </p:sp>
        <p:grpSp>
          <p:nvGrpSpPr>
            <p:cNvPr id="113" name="Gruppieren 112">
              <a:extLst>
                <a:ext uri="{FF2B5EF4-FFF2-40B4-BE49-F238E27FC236}">
                  <a16:creationId xmlns:a16="http://schemas.microsoft.com/office/drawing/2014/main" id="{BAC28BE1-7CF8-1B7E-A525-0B5E13CED635}"/>
                </a:ext>
              </a:extLst>
            </p:cNvPr>
            <p:cNvGrpSpPr/>
            <p:nvPr/>
          </p:nvGrpSpPr>
          <p:grpSpPr>
            <a:xfrm>
              <a:off x="8910369" y="2952320"/>
              <a:ext cx="1655140" cy="1728793"/>
              <a:chOff x="7120800" y="849601"/>
              <a:chExt cx="1655140" cy="1728793"/>
            </a:xfrm>
          </p:grpSpPr>
          <p:grpSp>
            <p:nvGrpSpPr>
              <p:cNvPr id="114" name="Gruppieren 113">
                <a:extLst>
                  <a:ext uri="{FF2B5EF4-FFF2-40B4-BE49-F238E27FC236}">
                    <a16:creationId xmlns:a16="http://schemas.microsoft.com/office/drawing/2014/main" id="{13F1F2D7-4184-40D3-E602-E09D9CE7F778}"/>
                  </a:ext>
                </a:extLst>
              </p:cNvPr>
              <p:cNvGrpSpPr/>
              <p:nvPr/>
            </p:nvGrpSpPr>
            <p:grpSpPr>
              <a:xfrm>
                <a:off x="7408800" y="849601"/>
                <a:ext cx="1367140" cy="1728793"/>
                <a:chOff x="7408800" y="849601"/>
                <a:chExt cx="1367140" cy="17287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6" name="Rechteck 115">
                      <a:extLst>
                        <a:ext uri="{FF2B5EF4-FFF2-40B4-BE49-F238E27FC236}">
                          <a16:creationId xmlns:a16="http://schemas.microsoft.com/office/drawing/2014/main" id="{F0672B51-BF33-DDB5-9134-1C40ECD0BC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5940" y="1317707"/>
                      <a:ext cx="1260000" cy="1260000"/>
                    </a:xfrm>
                    <a:prstGeom prst="rect">
                      <a:avLst/>
                    </a:prstGeom>
                    <a:solidFill>
                      <a:schemeClr val="accent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6" name="Rechteck 115">
                      <a:extLst>
                        <a:ext uri="{FF2B5EF4-FFF2-40B4-BE49-F238E27FC236}">
                          <a16:creationId xmlns:a16="http://schemas.microsoft.com/office/drawing/2014/main" id="{F0672B51-BF33-DDB5-9134-1C40ECD0BC1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15940" y="1317707"/>
                      <a:ext cx="1260000" cy="1260000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7" name="Gerade Verbindung mit Pfeil 116">
                  <a:extLst>
                    <a:ext uri="{FF2B5EF4-FFF2-40B4-BE49-F238E27FC236}">
                      <a16:creationId xmlns:a16="http://schemas.microsoft.com/office/drawing/2014/main" id="{F904F84B-204B-B738-B232-E42FE1E97B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15940" y="1209600"/>
                  <a:ext cx="12600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Textfeld 117">
                      <a:extLst>
                        <a:ext uri="{FF2B5EF4-FFF2-40B4-BE49-F238E27FC236}">
                          <a16:creationId xmlns:a16="http://schemas.microsoft.com/office/drawing/2014/main" id="{DC43247E-7706-FA5B-A90D-9810F6A1934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4968" y="849601"/>
                      <a:ext cx="1230971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oMath>
                        </m:oMathPara>
                      </a14:m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8" name="Textfeld 117">
                      <a:extLst>
                        <a:ext uri="{FF2B5EF4-FFF2-40B4-BE49-F238E27FC236}">
                          <a16:creationId xmlns:a16="http://schemas.microsoft.com/office/drawing/2014/main" id="{DC43247E-7706-FA5B-A90D-9810F6A1934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4968" y="849601"/>
                      <a:ext cx="1230971" cy="307777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9" name="Gerade Verbindung mit Pfeil 118">
                  <a:extLst>
                    <a:ext uri="{FF2B5EF4-FFF2-40B4-BE49-F238E27FC236}">
                      <a16:creationId xmlns:a16="http://schemas.microsoft.com/office/drawing/2014/main" id="{01919B31-C93B-B148-7FB9-DF47F024A6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8800" y="1318394"/>
                  <a:ext cx="0" cy="12600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feld 114">
                    <a:extLst>
                      <a:ext uri="{FF2B5EF4-FFF2-40B4-BE49-F238E27FC236}">
                        <a16:creationId xmlns:a16="http://schemas.microsoft.com/office/drawing/2014/main" id="{2E33A8B1-27D6-31B5-796F-39543446176C}"/>
                      </a:ext>
                    </a:extLst>
                  </p:cNvPr>
                  <p:cNvSpPr txBox="1"/>
                  <p:nvPr/>
                </p:nvSpPr>
                <p:spPr>
                  <a:xfrm>
                    <a:off x="7120800" y="1803505"/>
                    <a:ext cx="32400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GB" sz="1400" dirty="0"/>
                  </a:p>
                </p:txBody>
              </p:sp>
            </mc:Choice>
            <mc:Fallback xmlns="">
              <p:sp>
                <p:nvSpPr>
                  <p:cNvPr id="115" name="Textfeld 114">
                    <a:extLst>
                      <a:ext uri="{FF2B5EF4-FFF2-40B4-BE49-F238E27FC236}">
                        <a16:creationId xmlns:a16="http://schemas.microsoft.com/office/drawing/2014/main" id="{2E33A8B1-27D6-31B5-796F-3954344617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20800" y="1803505"/>
                    <a:ext cx="324000" cy="30777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4931EF28-8D33-BF7C-38EF-DFF5EA88F3A6}"/>
                </a:ext>
              </a:extLst>
            </p:cNvPr>
            <p:cNvCxnSpPr>
              <a:stCxn id="112" idx="2"/>
              <a:endCxn id="118" idx="0"/>
            </p:cNvCxnSpPr>
            <p:nvPr/>
          </p:nvCxnSpPr>
          <p:spPr>
            <a:xfrm>
              <a:off x="9936138" y="2495555"/>
              <a:ext cx="0" cy="4567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Rechteck 121">
                  <a:extLst>
                    <a:ext uri="{FF2B5EF4-FFF2-40B4-BE49-F238E27FC236}">
                      <a16:creationId xmlns:a16="http://schemas.microsoft.com/office/drawing/2014/main" id="{53EE9314-BFAA-D6C6-A1BF-FFC490AE136D}"/>
                    </a:ext>
                  </a:extLst>
                </p:cNvPr>
                <p:cNvSpPr/>
                <p:nvPr/>
              </p:nvSpPr>
              <p:spPr>
                <a:xfrm>
                  <a:off x="10870882" y="5282716"/>
                  <a:ext cx="1116000" cy="1260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Rechteck 121">
                  <a:extLst>
                    <a:ext uri="{FF2B5EF4-FFF2-40B4-BE49-F238E27FC236}">
                      <a16:creationId xmlns:a16="http://schemas.microsoft.com/office/drawing/2014/main" id="{53EE9314-BFAA-D6C6-A1BF-FFC490AE136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0882" y="5282716"/>
                  <a:ext cx="1116000" cy="126000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Gerade Verbindung mit Pfeil 122">
              <a:extLst>
                <a:ext uri="{FF2B5EF4-FFF2-40B4-BE49-F238E27FC236}">
                  <a16:creationId xmlns:a16="http://schemas.microsoft.com/office/drawing/2014/main" id="{D77BB974-3696-6008-87CC-F3353C2CEA3A}"/>
                </a:ext>
              </a:extLst>
            </p:cNvPr>
            <p:cNvCxnSpPr>
              <a:cxnSpLocks/>
            </p:cNvCxnSpPr>
            <p:nvPr/>
          </p:nvCxnSpPr>
          <p:spPr>
            <a:xfrm>
              <a:off x="10762882" y="5308835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feld 123">
                  <a:extLst>
                    <a:ext uri="{FF2B5EF4-FFF2-40B4-BE49-F238E27FC236}">
                      <a16:creationId xmlns:a16="http://schemas.microsoft.com/office/drawing/2014/main" id="{6DD55D06-D51E-96F4-64D9-B8276655D535}"/>
                    </a:ext>
                  </a:extLst>
                </p:cNvPr>
                <p:cNvSpPr txBox="1"/>
                <p:nvPr/>
              </p:nvSpPr>
              <p:spPr>
                <a:xfrm>
                  <a:off x="10473511" y="5764918"/>
                  <a:ext cx="3240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24" name="Textfeld 123">
                  <a:extLst>
                    <a:ext uri="{FF2B5EF4-FFF2-40B4-BE49-F238E27FC236}">
                      <a16:creationId xmlns:a16="http://schemas.microsoft.com/office/drawing/2014/main" id="{6DD55D06-D51E-96F4-64D9-B8276655D5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3511" y="5764918"/>
                  <a:ext cx="324000" cy="30777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D43E397A-59A2-39E5-4968-142906C99A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70881" y="5174118"/>
              <a:ext cx="111600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feld 125">
                  <a:extLst>
                    <a:ext uri="{FF2B5EF4-FFF2-40B4-BE49-F238E27FC236}">
                      <a16:creationId xmlns:a16="http://schemas.microsoft.com/office/drawing/2014/main" id="{5195B7FD-3688-037F-C3CB-DE70D9424AC8}"/>
                    </a:ext>
                  </a:extLst>
                </p:cNvPr>
                <p:cNvSpPr txBox="1"/>
                <p:nvPr/>
              </p:nvSpPr>
              <p:spPr>
                <a:xfrm>
                  <a:off x="10852711" y="4801939"/>
                  <a:ext cx="1115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feld 125">
                  <a:extLst>
                    <a:ext uri="{FF2B5EF4-FFF2-40B4-BE49-F238E27FC236}">
                      <a16:creationId xmlns:a16="http://schemas.microsoft.com/office/drawing/2014/main" id="{5195B7FD-3688-037F-C3CB-DE70D9424A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2711" y="4801939"/>
                  <a:ext cx="1115995" cy="30777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Gerade Verbindung 127">
              <a:extLst>
                <a:ext uri="{FF2B5EF4-FFF2-40B4-BE49-F238E27FC236}">
                  <a16:creationId xmlns:a16="http://schemas.microsoft.com/office/drawing/2014/main" id="{3DAC69D3-1754-3517-2F80-64C39EA0BE71}"/>
                </a:ext>
              </a:extLst>
            </p:cNvPr>
            <p:cNvCxnSpPr>
              <a:stCxn id="86" idx="3"/>
            </p:cNvCxnSpPr>
            <p:nvPr/>
          </p:nvCxnSpPr>
          <p:spPr>
            <a:xfrm flipV="1">
              <a:off x="6462712" y="5117622"/>
              <a:ext cx="1667202" cy="511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Gerade Verbindung 129">
              <a:extLst>
                <a:ext uri="{FF2B5EF4-FFF2-40B4-BE49-F238E27FC236}">
                  <a16:creationId xmlns:a16="http://schemas.microsoft.com/office/drawing/2014/main" id="{B1893C1D-96C2-8BF7-3254-D2B6140CF868}"/>
                </a:ext>
              </a:extLst>
            </p:cNvPr>
            <p:cNvCxnSpPr>
              <a:cxnSpLocks/>
            </p:cNvCxnSpPr>
            <p:nvPr/>
          </p:nvCxnSpPr>
          <p:spPr>
            <a:xfrm>
              <a:off x="8129914" y="5131080"/>
              <a:ext cx="0" cy="75968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Gerade Verbindung mit Pfeil 132">
              <a:extLst>
                <a:ext uri="{FF2B5EF4-FFF2-40B4-BE49-F238E27FC236}">
                  <a16:creationId xmlns:a16="http://schemas.microsoft.com/office/drawing/2014/main" id="{91C19D09-E6B7-8446-976D-38661E6C833A}"/>
                </a:ext>
              </a:extLst>
            </p:cNvPr>
            <p:cNvCxnSpPr>
              <a:cxnSpLocks/>
              <a:endCxn id="124" idx="1"/>
            </p:cNvCxnSpPr>
            <p:nvPr/>
          </p:nvCxnSpPr>
          <p:spPr>
            <a:xfrm>
              <a:off x="8129914" y="5890765"/>
              <a:ext cx="2343597" cy="2804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Gerade Verbindung 136">
              <a:extLst>
                <a:ext uri="{FF2B5EF4-FFF2-40B4-BE49-F238E27FC236}">
                  <a16:creationId xmlns:a16="http://schemas.microsoft.com/office/drawing/2014/main" id="{C6C1F41C-5DAA-8CCB-D1C0-90C88EF48992}"/>
                </a:ext>
              </a:extLst>
            </p:cNvPr>
            <p:cNvCxnSpPr>
              <a:stCxn id="116" idx="2"/>
            </p:cNvCxnSpPr>
            <p:nvPr/>
          </p:nvCxnSpPr>
          <p:spPr>
            <a:xfrm>
              <a:off x="9935509" y="4680426"/>
              <a:ext cx="629" cy="121033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7742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63A0E-4BD9-5B6B-A524-DD2FA1624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D8776C4A-A504-0065-202B-5AF97016EABA}"/>
              </a:ext>
            </a:extLst>
          </p:cNvPr>
          <p:cNvGrpSpPr/>
          <p:nvPr/>
        </p:nvGrpSpPr>
        <p:grpSpPr>
          <a:xfrm>
            <a:off x="232234" y="289165"/>
            <a:ext cx="11754648" cy="6279670"/>
            <a:chOff x="232234" y="289165"/>
            <a:chExt cx="11754648" cy="6279670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D40207E3-073E-3F4D-5ECD-A940066B4922}"/>
                </a:ext>
              </a:extLst>
            </p:cNvPr>
            <p:cNvGrpSpPr/>
            <p:nvPr/>
          </p:nvGrpSpPr>
          <p:grpSpPr>
            <a:xfrm>
              <a:off x="232234" y="1262967"/>
              <a:ext cx="1918335" cy="1658937"/>
              <a:chOff x="232234" y="1262967"/>
              <a:chExt cx="1918335" cy="165893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" name="Rechteck 3">
                    <a:extLst>
                      <a:ext uri="{FF2B5EF4-FFF2-40B4-BE49-F238E27FC236}">
                        <a16:creationId xmlns:a16="http://schemas.microsoft.com/office/drawing/2014/main" id="{A5EDDF7B-0926-2420-50AC-6753D644EB19}"/>
                      </a:ext>
                    </a:extLst>
                  </p:cNvPr>
                  <p:cNvSpPr/>
                  <p:nvPr/>
                </p:nvSpPr>
                <p:spPr>
                  <a:xfrm>
                    <a:off x="1393200" y="1661904"/>
                    <a:ext cx="720000" cy="126000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GB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de-DE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GB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" name="Rechteck 3">
                    <a:extLst>
                      <a:ext uri="{FF2B5EF4-FFF2-40B4-BE49-F238E27FC236}">
                        <a16:creationId xmlns:a16="http://schemas.microsoft.com/office/drawing/2014/main" id="{A5EDDF7B-0926-2420-50AC-6753D644EB1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3200" y="1661904"/>
                    <a:ext cx="720000" cy="1260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" name="Gerade Verbindung mit Pfeil 5">
                <a:extLst>
                  <a:ext uri="{FF2B5EF4-FFF2-40B4-BE49-F238E27FC236}">
                    <a16:creationId xmlns:a16="http://schemas.microsoft.com/office/drawing/2014/main" id="{60C77DE7-03F3-7FD9-197C-89307081FD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4543" y="1661904"/>
                <a:ext cx="0" cy="126000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230D359F-18C3-48DC-C94C-A961E93ED231}"/>
                  </a:ext>
                </a:extLst>
              </p:cNvPr>
              <p:cNvSpPr txBox="1"/>
              <p:nvPr/>
            </p:nvSpPr>
            <p:spPr>
              <a:xfrm>
                <a:off x="232234" y="2027390"/>
                <a:ext cx="77117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/>
                  <a:t>Number of tokens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572B82C0-6A74-EB10-431A-5F54CA28791B}"/>
                      </a:ext>
                    </a:extLst>
                  </p:cNvPr>
                  <p:cNvSpPr txBox="1"/>
                  <p:nvPr/>
                </p:nvSpPr>
                <p:spPr>
                  <a:xfrm>
                    <a:off x="996543" y="2147015"/>
                    <a:ext cx="32400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GB" sz="1400" dirty="0"/>
                  </a:p>
                </p:txBody>
              </p:sp>
            </mc:Choice>
            <mc:Fallback xmlns="">
              <p:sp>
                <p:nvSpPr>
                  <p:cNvPr id="9" name="Textfeld 8">
                    <a:extLst>
                      <a:ext uri="{FF2B5EF4-FFF2-40B4-BE49-F238E27FC236}">
                        <a16:creationId xmlns:a16="http://schemas.microsoft.com/office/drawing/2014/main" id="{572B82C0-6A74-EB10-431A-5F54CA2879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6543" y="2147015"/>
                    <a:ext cx="324000" cy="30777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Gerade Verbindung mit Pfeil 10">
                <a:extLst>
                  <a:ext uri="{FF2B5EF4-FFF2-40B4-BE49-F238E27FC236}">
                    <a16:creationId xmlns:a16="http://schemas.microsoft.com/office/drawing/2014/main" id="{B9915FEF-D5D7-6277-0E25-36BDD1CAC692}"/>
                  </a:ext>
                </a:extLst>
              </p:cNvPr>
              <p:cNvCxnSpPr/>
              <p:nvPr/>
            </p:nvCxnSpPr>
            <p:spPr>
              <a:xfrm>
                <a:off x="1377911" y="1553904"/>
                <a:ext cx="7200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32C3A54E-B7F6-1E0E-B94A-0C385328870A}"/>
                      </a:ext>
                    </a:extLst>
                  </p:cNvPr>
                  <p:cNvSpPr txBox="1"/>
                  <p:nvPr/>
                </p:nvSpPr>
                <p:spPr>
                  <a:xfrm>
                    <a:off x="1392543" y="1262967"/>
                    <a:ext cx="75802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GB" sz="1400" dirty="0">
                      <a:solidFill>
                        <a:schemeClr val="accent6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" name="Textfeld 11">
                    <a:extLst>
                      <a:ext uri="{FF2B5EF4-FFF2-40B4-BE49-F238E27FC236}">
                        <a16:creationId xmlns:a16="http://schemas.microsoft.com/office/drawing/2014/main" id="{32C3A54E-B7F6-1E0E-B94A-0C38532887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92543" y="1262967"/>
                    <a:ext cx="758026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hteck 18">
                  <a:extLst>
                    <a:ext uri="{FF2B5EF4-FFF2-40B4-BE49-F238E27FC236}">
                      <a16:creationId xmlns:a16="http://schemas.microsoft.com/office/drawing/2014/main" id="{69A8A288-2E24-C19A-05AA-B239EC51E7CF}"/>
                    </a:ext>
                  </a:extLst>
                </p:cNvPr>
                <p:cNvSpPr/>
                <p:nvPr/>
              </p:nvSpPr>
              <p:spPr>
                <a:xfrm>
                  <a:off x="3354711" y="1028506"/>
                  <a:ext cx="900000" cy="720000"/>
                </a:xfrm>
                <a:prstGeom prst="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  <m:sup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hteck 18">
                  <a:extLst>
                    <a:ext uri="{FF2B5EF4-FFF2-40B4-BE49-F238E27FC236}">
                      <a16:creationId xmlns:a16="http://schemas.microsoft.com/office/drawing/2014/main" id="{69A8A288-2E24-C19A-05AA-B239EC51E7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1" y="1028506"/>
                  <a:ext cx="900000" cy="720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C942E3F4-3537-311C-7246-C2B41D0880D2}"/>
                    </a:ext>
                  </a:extLst>
                </p:cNvPr>
                <p:cNvSpPr txBox="1"/>
                <p:nvPr/>
              </p:nvSpPr>
              <p:spPr>
                <a:xfrm>
                  <a:off x="2922543" y="1233874"/>
                  <a:ext cx="324000" cy="30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C942E3F4-3537-311C-7246-C2B41D088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2543" y="1233874"/>
                  <a:ext cx="324000" cy="30777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40FAE451-A3E0-FFAB-5DED-924603C97435}"/>
                </a:ext>
              </a:extLst>
            </p:cNvPr>
            <p:cNvCxnSpPr>
              <a:cxnSpLocks/>
            </p:cNvCxnSpPr>
            <p:nvPr/>
          </p:nvCxnSpPr>
          <p:spPr>
            <a:xfrm>
              <a:off x="3210482" y="1027763"/>
              <a:ext cx="0" cy="7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59E244CA-6AA7-8CD0-D016-79F859B27C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4711" y="920506"/>
              <a:ext cx="90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C1EBCAE7-70F7-7F93-EC0C-50E030388E26}"/>
                    </a:ext>
                  </a:extLst>
                </p:cNvPr>
                <p:cNvSpPr txBox="1"/>
                <p:nvPr/>
              </p:nvSpPr>
              <p:spPr>
                <a:xfrm>
                  <a:off x="3354712" y="559165"/>
                  <a:ext cx="900000" cy="3243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r>
                          <a:rPr lang="de-DE" sz="1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33" name="Textfeld 32">
                  <a:extLst>
                    <a:ext uri="{FF2B5EF4-FFF2-40B4-BE49-F238E27FC236}">
                      <a16:creationId xmlns:a16="http://schemas.microsoft.com/office/drawing/2014/main" id="{C1EBCAE7-70F7-7F93-EC0C-50E030388E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2" y="559165"/>
                  <a:ext cx="900000" cy="32438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hteck 33">
                  <a:extLst>
                    <a:ext uri="{FF2B5EF4-FFF2-40B4-BE49-F238E27FC236}">
                      <a16:creationId xmlns:a16="http://schemas.microsoft.com/office/drawing/2014/main" id="{12BD2D75-080A-7194-2064-8B5E47A88E2C}"/>
                    </a:ext>
                  </a:extLst>
                </p:cNvPr>
                <p:cNvSpPr/>
                <p:nvPr/>
              </p:nvSpPr>
              <p:spPr>
                <a:xfrm>
                  <a:off x="3354711" y="2902219"/>
                  <a:ext cx="900000" cy="720000"/>
                </a:xfrm>
                <a:prstGeom prst="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hteck 33">
                  <a:extLst>
                    <a:ext uri="{FF2B5EF4-FFF2-40B4-BE49-F238E27FC236}">
                      <a16:creationId xmlns:a16="http://schemas.microsoft.com/office/drawing/2014/main" id="{12BD2D75-080A-7194-2064-8B5E47A88E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1" y="2902219"/>
                  <a:ext cx="900000" cy="7200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EF7D5758-59B6-5D49-2E8E-C685E5A4BA29}"/>
                    </a:ext>
                  </a:extLst>
                </p:cNvPr>
                <p:cNvSpPr txBox="1"/>
                <p:nvPr/>
              </p:nvSpPr>
              <p:spPr>
                <a:xfrm>
                  <a:off x="2922543" y="3107587"/>
                  <a:ext cx="324000" cy="30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EF7D5758-59B6-5D49-2E8E-C685E5A4BA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2543" y="3107587"/>
                  <a:ext cx="324000" cy="307778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8FB67FF5-C7A4-E719-03E0-F5FD06B8A002}"/>
                </a:ext>
              </a:extLst>
            </p:cNvPr>
            <p:cNvCxnSpPr>
              <a:cxnSpLocks/>
            </p:cNvCxnSpPr>
            <p:nvPr/>
          </p:nvCxnSpPr>
          <p:spPr>
            <a:xfrm>
              <a:off x="3210482" y="2901476"/>
              <a:ext cx="0" cy="7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12E8B066-D701-EA5A-02E8-992DC42F23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4711" y="2794219"/>
              <a:ext cx="90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E6260C6C-DB76-D3F7-75F5-DD8F612E79EC}"/>
                    </a:ext>
                  </a:extLst>
                </p:cNvPr>
                <p:cNvSpPr txBox="1"/>
                <p:nvPr/>
              </p:nvSpPr>
              <p:spPr>
                <a:xfrm>
                  <a:off x="3354712" y="2434765"/>
                  <a:ext cx="900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E6260C6C-DB76-D3F7-75F5-DD8F612E7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2" y="2434765"/>
                  <a:ext cx="900000" cy="30777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97EE3FA4-5FA9-35AA-294C-544447230640}"/>
                    </a:ext>
                  </a:extLst>
                </p:cNvPr>
                <p:cNvSpPr/>
                <p:nvPr/>
              </p:nvSpPr>
              <p:spPr>
                <a:xfrm>
                  <a:off x="3354710" y="5194447"/>
                  <a:ext cx="1117603" cy="720000"/>
                </a:xfrm>
                <a:prstGeom prst="rect">
                  <a:avLst/>
                </a:prstGeom>
                <a:solidFill>
                  <a:schemeClr val="tx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97EE3FA4-5FA9-35AA-294C-5444472306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0" y="5194447"/>
                  <a:ext cx="1117603" cy="7200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feld 39">
                  <a:extLst>
                    <a:ext uri="{FF2B5EF4-FFF2-40B4-BE49-F238E27FC236}">
                      <a16:creationId xmlns:a16="http://schemas.microsoft.com/office/drawing/2014/main" id="{57568A4E-67F3-D68F-7A4E-EECEC319A9F4}"/>
                    </a:ext>
                  </a:extLst>
                </p:cNvPr>
                <p:cNvSpPr txBox="1"/>
                <p:nvPr/>
              </p:nvSpPr>
              <p:spPr>
                <a:xfrm>
                  <a:off x="2922543" y="5399815"/>
                  <a:ext cx="324000" cy="3077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Textfeld 39">
                  <a:extLst>
                    <a:ext uri="{FF2B5EF4-FFF2-40B4-BE49-F238E27FC236}">
                      <a16:creationId xmlns:a16="http://schemas.microsoft.com/office/drawing/2014/main" id="{57568A4E-67F3-D68F-7A4E-EECEC319A9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2543" y="5399815"/>
                  <a:ext cx="324000" cy="30777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1338565A-DC8E-DE3E-669D-99BC8CEC059B}"/>
                </a:ext>
              </a:extLst>
            </p:cNvPr>
            <p:cNvCxnSpPr>
              <a:cxnSpLocks/>
            </p:cNvCxnSpPr>
            <p:nvPr/>
          </p:nvCxnSpPr>
          <p:spPr>
            <a:xfrm>
              <a:off x="3210482" y="5193704"/>
              <a:ext cx="0" cy="72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28C356D5-F95B-B3D4-9C05-C22AF78DD9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54711" y="5086447"/>
              <a:ext cx="111760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E7F02480-AEA8-43D1-FE6B-B3581AE19BD8}"/>
                    </a:ext>
                  </a:extLst>
                </p:cNvPr>
                <p:cNvSpPr txBox="1"/>
                <p:nvPr/>
              </p:nvSpPr>
              <p:spPr>
                <a:xfrm>
                  <a:off x="3354711" y="4727793"/>
                  <a:ext cx="111759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E7F02480-AEA8-43D1-FE6B-B3581AE19B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4711" y="4727793"/>
                  <a:ext cx="1117593" cy="30777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8D555EFF-8096-9868-E15D-C4CEBAFA461D}"/>
                </a:ext>
              </a:extLst>
            </p:cNvPr>
            <p:cNvSpPr txBox="1"/>
            <p:nvPr/>
          </p:nvSpPr>
          <p:spPr>
            <a:xfrm>
              <a:off x="1225796" y="971166"/>
              <a:ext cx="10534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/>
                <a:t>Embedding size</a:t>
              </a:r>
            </a:p>
          </p:txBody>
        </p:sp>
        <p:cxnSp>
          <p:nvCxnSpPr>
            <p:cNvPr id="54" name="Gerade Verbindung 53">
              <a:extLst>
                <a:ext uri="{FF2B5EF4-FFF2-40B4-BE49-F238E27FC236}">
                  <a16:creationId xmlns:a16="http://schemas.microsoft.com/office/drawing/2014/main" id="{F4334EB3-C428-559D-183D-6B000D720E67}"/>
                </a:ext>
              </a:extLst>
            </p:cNvPr>
            <p:cNvCxnSpPr>
              <a:cxnSpLocks/>
            </p:cNvCxnSpPr>
            <p:nvPr/>
          </p:nvCxnSpPr>
          <p:spPr>
            <a:xfrm>
              <a:off x="2112543" y="2323165"/>
              <a:ext cx="36534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Gerade Verbindung 55">
              <a:extLst>
                <a:ext uri="{FF2B5EF4-FFF2-40B4-BE49-F238E27FC236}">
                  <a16:creationId xmlns:a16="http://schemas.microsoft.com/office/drawing/2014/main" id="{C8089EEF-FFEC-8222-8B99-A92008391A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7887" y="1387763"/>
              <a:ext cx="7254" cy="94509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 Verbindung 57">
              <a:extLst>
                <a:ext uri="{FF2B5EF4-FFF2-40B4-BE49-F238E27FC236}">
                  <a16:creationId xmlns:a16="http://schemas.microsoft.com/office/drawing/2014/main" id="{C790C133-7CAF-9AB8-2439-76E4736EEC0E}"/>
                </a:ext>
              </a:extLst>
            </p:cNvPr>
            <p:cNvCxnSpPr>
              <a:cxnSpLocks/>
            </p:cNvCxnSpPr>
            <p:nvPr/>
          </p:nvCxnSpPr>
          <p:spPr>
            <a:xfrm>
              <a:off x="2486943" y="1387763"/>
              <a:ext cx="415820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Gerade Verbindung 60">
              <a:extLst>
                <a:ext uri="{FF2B5EF4-FFF2-40B4-BE49-F238E27FC236}">
                  <a16:creationId xmlns:a16="http://schemas.microsoft.com/office/drawing/2014/main" id="{DBE2394F-849B-71D6-A306-80222008D3B3}"/>
                </a:ext>
              </a:extLst>
            </p:cNvPr>
            <p:cNvCxnSpPr>
              <a:cxnSpLocks/>
            </p:cNvCxnSpPr>
            <p:nvPr/>
          </p:nvCxnSpPr>
          <p:spPr>
            <a:xfrm>
              <a:off x="2097911" y="4741200"/>
              <a:ext cx="3636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Gerade Verbindung 61">
              <a:extLst>
                <a:ext uri="{FF2B5EF4-FFF2-40B4-BE49-F238E27FC236}">
                  <a16:creationId xmlns:a16="http://schemas.microsoft.com/office/drawing/2014/main" id="{903A2316-93D2-B47C-7A8F-EF81A24F5E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6800" y="3270737"/>
              <a:ext cx="1802" cy="8281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 Verbindung 62">
              <a:extLst>
                <a:ext uri="{FF2B5EF4-FFF2-40B4-BE49-F238E27FC236}">
                  <a16:creationId xmlns:a16="http://schemas.microsoft.com/office/drawing/2014/main" id="{DAF8735D-CB60-714A-44D5-2B8DF08BC90A}"/>
                </a:ext>
              </a:extLst>
            </p:cNvPr>
            <p:cNvCxnSpPr/>
            <p:nvPr/>
          </p:nvCxnSpPr>
          <p:spPr>
            <a:xfrm>
              <a:off x="2097490" y="4093200"/>
              <a:ext cx="363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 Verbindung mit Pfeil 65">
              <a:extLst>
                <a:ext uri="{FF2B5EF4-FFF2-40B4-BE49-F238E27FC236}">
                  <a16:creationId xmlns:a16="http://schemas.microsoft.com/office/drawing/2014/main" id="{B09E35EE-C9EE-093E-8C11-D2A57C746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4711" y="1388474"/>
              <a:ext cx="609489" cy="7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600E5C37-F9C6-D8E4-2D4A-EFF52E5A41F1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>
              <a:off x="4254711" y="3262219"/>
              <a:ext cx="60948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Gerade Verbindung mit Pfeil 69">
              <a:extLst>
                <a:ext uri="{FF2B5EF4-FFF2-40B4-BE49-F238E27FC236}">
                  <a16:creationId xmlns:a16="http://schemas.microsoft.com/office/drawing/2014/main" id="{0B021DF0-2A9E-10CE-81C2-5CB8A937E77A}"/>
                </a:ext>
              </a:extLst>
            </p:cNvPr>
            <p:cNvCxnSpPr>
              <a:cxnSpLocks/>
              <a:stCxn id="39" idx="3"/>
            </p:cNvCxnSpPr>
            <p:nvPr/>
          </p:nvCxnSpPr>
          <p:spPr>
            <a:xfrm flipV="1">
              <a:off x="4472313" y="5545985"/>
              <a:ext cx="391887" cy="846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Rechteck 73">
                  <a:extLst>
                    <a:ext uri="{FF2B5EF4-FFF2-40B4-BE49-F238E27FC236}">
                      <a16:creationId xmlns:a16="http://schemas.microsoft.com/office/drawing/2014/main" id="{117B7653-5717-4C66-2BA8-33D37283B18A}"/>
                    </a:ext>
                  </a:extLst>
                </p:cNvPr>
                <p:cNvSpPr/>
                <p:nvPr/>
              </p:nvSpPr>
              <p:spPr>
                <a:xfrm>
                  <a:off x="5346714" y="757763"/>
                  <a:ext cx="900000" cy="1260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Rechteck 73">
                  <a:extLst>
                    <a:ext uri="{FF2B5EF4-FFF2-40B4-BE49-F238E27FC236}">
                      <a16:creationId xmlns:a16="http://schemas.microsoft.com/office/drawing/2014/main" id="{117B7653-5717-4C66-2BA8-33D37283B1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4" y="757763"/>
                  <a:ext cx="900000" cy="12600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5F7AB80D-8E83-9CA6-4747-EE82B5AFE651}"/>
                </a:ext>
              </a:extLst>
            </p:cNvPr>
            <p:cNvCxnSpPr>
              <a:cxnSpLocks/>
            </p:cNvCxnSpPr>
            <p:nvPr/>
          </p:nvCxnSpPr>
          <p:spPr>
            <a:xfrm>
              <a:off x="5238714" y="783882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01998627-CD98-D737-FFEF-7F79DEA19443}"/>
                    </a:ext>
                  </a:extLst>
                </p:cNvPr>
                <p:cNvSpPr txBox="1"/>
                <p:nvPr/>
              </p:nvSpPr>
              <p:spPr>
                <a:xfrm>
                  <a:off x="4949343" y="1239965"/>
                  <a:ext cx="3240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78" name="Textfeld 77">
                  <a:extLst>
                    <a:ext uri="{FF2B5EF4-FFF2-40B4-BE49-F238E27FC236}">
                      <a16:creationId xmlns:a16="http://schemas.microsoft.com/office/drawing/2014/main" id="{01998627-CD98-D737-FFEF-7F79DEA19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343" y="1239965"/>
                  <a:ext cx="324000" cy="30777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Gerade Verbindung mit Pfeil 78">
              <a:extLst>
                <a:ext uri="{FF2B5EF4-FFF2-40B4-BE49-F238E27FC236}">
                  <a16:creationId xmlns:a16="http://schemas.microsoft.com/office/drawing/2014/main" id="{E5052567-62D5-035E-1E1F-4F95C130CC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713" y="649165"/>
              <a:ext cx="90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feld 79">
                  <a:extLst>
                    <a:ext uri="{FF2B5EF4-FFF2-40B4-BE49-F238E27FC236}">
                      <a16:creationId xmlns:a16="http://schemas.microsoft.com/office/drawing/2014/main" id="{1CD83384-073C-B185-9F96-DACA1D893661}"/>
                    </a:ext>
                  </a:extLst>
                </p:cNvPr>
                <p:cNvSpPr txBox="1"/>
                <p:nvPr/>
              </p:nvSpPr>
              <p:spPr>
                <a:xfrm>
                  <a:off x="5346713" y="289165"/>
                  <a:ext cx="900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Textfeld 79">
                  <a:extLst>
                    <a:ext uri="{FF2B5EF4-FFF2-40B4-BE49-F238E27FC236}">
                      <a16:creationId xmlns:a16="http://schemas.microsoft.com/office/drawing/2014/main" id="{1CD83384-073C-B185-9F96-DACA1D893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3" y="289165"/>
                  <a:ext cx="900000" cy="30777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hteck 80">
                  <a:extLst>
                    <a:ext uri="{FF2B5EF4-FFF2-40B4-BE49-F238E27FC236}">
                      <a16:creationId xmlns:a16="http://schemas.microsoft.com/office/drawing/2014/main" id="{43D7A6DB-B3E2-3A1B-5550-C74A6B4ABB18}"/>
                    </a:ext>
                  </a:extLst>
                </p:cNvPr>
                <p:cNvSpPr/>
                <p:nvPr/>
              </p:nvSpPr>
              <p:spPr>
                <a:xfrm>
                  <a:off x="5346713" y="2632219"/>
                  <a:ext cx="900000" cy="1368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1" name="Rechteck 80">
                  <a:extLst>
                    <a:ext uri="{FF2B5EF4-FFF2-40B4-BE49-F238E27FC236}">
                      <a16:creationId xmlns:a16="http://schemas.microsoft.com/office/drawing/2014/main" id="{43D7A6DB-B3E2-3A1B-5550-C74A6B4ABB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3" y="2632219"/>
                  <a:ext cx="900000" cy="136800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F2738683-207B-98EE-905E-DDB19FDEB63C}"/>
                </a:ext>
              </a:extLst>
            </p:cNvPr>
            <p:cNvCxnSpPr>
              <a:cxnSpLocks/>
            </p:cNvCxnSpPr>
            <p:nvPr/>
          </p:nvCxnSpPr>
          <p:spPr>
            <a:xfrm>
              <a:off x="5238713" y="2658338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66262E24-E177-4A7C-66D7-D55C025128C7}"/>
                    </a:ext>
                  </a:extLst>
                </p:cNvPr>
                <p:cNvSpPr txBox="1"/>
                <p:nvPr/>
              </p:nvSpPr>
              <p:spPr>
                <a:xfrm>
                  <a:off x="4949342" y="3114421"/>
                  <a:ext cx="37529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83" name="Textfeld 82">
                  <a:extLst>
                    <a:ext uri="{FF2B5EF4-FFF2-40B4-BE49-F238E27FC236}">
                      <a16:creationId xmlns:a16="http://schemas.microsoft.com/office/drawing/2014/main" id="{66262E24-E177-4A7C-66D7-D55C02512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342" y="3114421"/>
                  <a:ext cx="375296" cy="3077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7E162700-031E-4F54-ECF7-5BF53470CC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712" y="2523621"/>
              <a:ext cx="90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459231CC-68F0-08D5-05DF-491861427548}"/>
                    </a:ext>
                  </a:extLst>
                </p:cNvPr>
                <p:cNvSpPr txBox="1"/>
                <p:nvPr/>
              </p:nvSpPr>
              <p:spPr>
                <a:xfrm>
                  <a:off x="5346712" y="2163621"/>
                  <a:ext cx="9000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feld 84">
                  <a:extLst>
                    <a:ext uri="{FF2B5EF4-FFF2-40B4-BE49-F238E27FC236}">
                      <a16:creationId xmlns:a16="http://schemas.microsoft.com/office/drawing/2014/main" id="{459231CC-68F0-08D5-05DF-491861427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2" y="2163621"/>
                  <a:ext cx="900000" cy="30777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hteck 85">
                  <a:extLst>
                    <a:ext uri="{FF2B5EF4-FFF2-40B4-BE49-F238E27FC236}">
                      <a16:creationId xmlns:a16="http://schemas.microsoft.com/office/drawing/2014/main" id="{59485D0D-7132-77DF-8E37-5C1EE4B85A49}"/>
                    </a:ext>
                  </a:extLst>
                </p:cNvPr>
                <p:cNvSpPr/>
                <p:nvPr/>
              </p:nvSpPr>
              <p:spPr>
                <a:xfrm>
                  <a:off x="5346712" y="4928165"/>
                  <a:ext cx="1116000" cy="1368000"/>
                </a:xfrm>
                <a:prstGeom prst="rect">
                  <a:avLst/>
                </a:prstGeom>
                <a:solidFill>
                  <a:schemeClr val="bg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Rechteck 85">
                  <a:extLst>
                    <a:ext uri="{FF2B5EF4-FFF2-40B4-BE49-F238E27FC236}">
                      <a16:creationId xmlns:a16="http://schemas.microsoft.com/office/drawing/2014/main" id="{59485D0D-7132-77DF-8E37-5C1EE4B85A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6712" y="4928165"/>
                  <a:ext cx="1116000" cy="136800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CE0B2B08-EE73-65B0-6ADB-8E04748C0913}"/>
                </a:ext>
              </a:extLst>
            </p:cNvPr>
            <p:cNvCxnSpPr>
              <a:cxnSpLocks/>
            </p:cNvCxnSpPr>
            <p:nvPr/>
          </p:nvCxnSpPr>
          <p:spPr>
            <a:xfrm>
              <a:off x="5238712" y="4954284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74BFED3A-1AAF-9E94-AA6B-930A931D3507}"/>
                    </a:ext>
                  </a:extLst>
                </p:cNvPr>
                <p:cNvSpPr txBox="1"/>
                <p:nvPr/>
              </p:nvSpPr>
              <p:spPr>
                <a:xfrm>
                  <a:off x="4949341" y="5410367"/>
                  <a:ext cx="37529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88" name="Textfeld 87">
                  <a:extLst>
                    <a:ext uri="{FF2B5EF4-FFF2-40B4-BE49-F238E27FC236}">
                      <a16:creationId xmlns:a16="http://schemas.microsoft.com/office/drawing/2014/main" id="{74BFED3A-1AAF-9E94-AA6B-930A931D35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9341" y="5410367"/>
                  <a:ext cx="375296" cy="30777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Gerade Verbindung mit Pfeil 88">
              <a:extLst>
                <a:ext uri="{FF2B5EF4-FFF2-40B4-BE49-F238E27FC236}">
                  <a16:creationId xmlns:a16="http://schemas.microsoft.com/office/drawing/2014/main" id="{0D1CC114-25CF-6112-5F13-5B64689B4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6711" y="4819567"/>
              <a:ext cx="111600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0F6BCEE4-B010-5263-DD6E-B2E261D33AE9}"/>
                    </a:ext>
                  </a:extLst>
                </p:cNvPr>
                <p:cNvSpPr txBox="1"/>
                <p:nvPr/>
              </p:nvSpPr>
              <p:spPr>
                <a:xfrm>
                  <a:off x="5328541" y="4447388"/>
                  <a:ext cx="1115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Textfeld 89">
                  <a:extLst>
                    <a:ext uri="{FF2B5EF4-FFF2-40B4-BE49-F238E27FC236}">
                      <a16:creationId xmlns:a16="http://schemas.microsoft.com/office/drawing/2014/main" id="{0F6BCEE4-B010-5263-DD6E-B2E261D33A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8541" y="4447388"/>
                  <a:ext cx="1115995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Gruppieren 108">
              <a:extLst>
                <a:ext uri="{FF2B5EF4-FFF2-40B4-BE49-F238E27FC236}">
                  <a16:creationId xmlns:a16="http://schemas.microsoft.com/office/drawing/2014/main" id="{5B34843F-D105-24B7-3935-9CF5FE476FAE}"/>
                </a:ext>
              </a:extLst>
            </p:cNvPr>
            <p:cNvGrpSpPr/>
            <p:nvPr/>
          </p:nvGrpSpPr>
          <p:grpSpPr>
            <a:xfrm>
              <a:off x="7253343" y="1233874"/>
              <a:ext cx="1792167" cy="1728793"/>
              <a:chOff x="7120800" y="849601"/>
              <a:chExt cx="1792167" cy="1728793"/>
            </a:xfrm>
          </p:grpSpPr>
          <p:grpSp>
            <p:nvGrpSpPr>
              <p:cNvPr id="108" name="Gruppieren 107">
                <a:extLst>
                  <a:ext uri="{FF2B5EF4-FFF2-40B4-BE49-F238E27FC236}">
                    <a16:creationId xmlns:a16="http://schemas.microsoft.com/office/drawing/2014/main" id="{5A47E1DD-6FFF-CABA-4470-67ADDD5A2E9B}"/>
                  </a:ext>
                </a:extLst>
              </p:cNvPr>
              <p:cNvGrpSpPr/>
              <p:nvPr/>
            </p:nvGrpSpPr>
            <p:grpSpPr>
              <a:xfrm>
                <a:off x="7408800" y="849601"/>
                <a:ext cx="1504167" cy="1728793"/>
                <a:chOff x="7408800" y="849601"/>
                <a:chExt cx="1504167" cy="17287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Rechteck 91">
                      <a:extLst>
                        <a:ext uri="{FF2B5EF4-FFF2-40B4-BE49-F238E27FC236}">
                          <a16:creationId xmlns:a16="http://schemas.microsoft.com/office/drawing/2014/main" id="{28D692CF-0698-D848-0288-4A7F5BBA22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5940" y="1317707"/>
                      <a:ext cx="1368000" cy="1260000"/>
                    </a:xfrm>
                    <a:prstGeom prst="rect">
                      <a:avLst/>
                    </a:prstGeom>
                    <a:solidFill>
                      <a:schemeClr val="accent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de-DE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oMath>
                        </m:oMathPara>
                      </a14:m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2" name="Rechteck 91">
                      <a:extLst>
                        <a:ext uri="{FF2B5EF4-FFF2-40B4-BE49-F238E27FC236}">
                          <a16:creationId xmlns:a16="http://schemas.microsoft.com/office/drawing/2014/main" id="{28D692CF-0698-D848-0288-4A7F5BBA228B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15940" y="1317707"/>
                      <a:ext cx="1368000" cy="1260000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3" name="Gerade Verbindung mit Pfeil 92">
                  <a:extLst>
                    <a:ext uri="{FF2B5EF4-FFF2-40B4-BE49-F238E27FC236}">
                      <a16:creationId xmlns:a16="http://schemas.microsoft.com/office/drawing/2014/main" id="{348FA357-488A-F353-B582-48878EE0EB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15940" y="1209600"/>
                  <a:ext cx="13680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feld 93">
                      <a:extLst>
                        <a:ext uri="{FF2B5EF4-FFF2-40B4-BE49-F238E27FC236}">
                          <a16:creationId xmlns:a16="http://schemas.microsoft.com/office/drawing/2014/main" id="{AE1D1F28-A146-88F0-2DD0-064D54193B6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4967" y="849601"/>
                      <a:ext cx="136800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oMath>
                        </m:oMathPara>
                      </a14:m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94" name="Textfeld 93">
                      <a:extLst>
                        <a:ext uri="{FF2B5EF4-FFF2-40B4-BE49-F238E27FC236}">
                          <a16:creationId xmlns:a16="http://schemas.microsoft.com/office/drawing/2014/main" id="{AE1D1F28-A146-88F0-2DD0-064D54193B6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4967" y="849601"/>
                      <a:ext cx="1368000" cy="307777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98" name="Gerade Verbindung mit Pfeil 97">
                  <a:extLst>
                    <a:ext uri="{FF2B5EF4-FFF2-40B4-BE49-F238E27FC236}">
                      <a16:creationId xmlns:a16="http://schemas.microsoft.com/office/drawing/2014/main" id="{A64637E1-08C7-C125-153B-33E6076951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8800" y="1318394"/>
                  <a:ext cx="0" cy="12600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Textfeld 98">
                    <a:extLst>
                      <a:ext uri="{FF2B5EF4-FFF2-40B4-BE49-F238E27FC236}">
                        <a16:creationId xmlns:a16="http://schemas.microsoft.com/office/drawing/2014/main" id="{E9F5567A-B78F-F937-0319-E2A6E10C501B}"/>
                      </a:ext>
                    </a:extLst>
                  </p:cNvPr>
                  <p:cNvSpPr txBox="1"/>
                  <p:nvPr/>
                </p:nvSpPr>
                <p:spPr>
                  <a:xfrm>
                    <a:off x="7120800" y="1803505"/>
                    <a:ext cx="32400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GB" sz="1400" dirty="0"/>
                  </a:p>
                </p:txBody>
              </p:sp>
            </mc:Choice>
            <mc:Fallback xmlns="">
              <p:sp>
                <p:nvSpPr>
                  <p:cNvPr id="99" name="Textfeld 98">
                    <a:extLst>
                      <a:ext uri="{FF2B5EF4-FFF2-40B4-BE49-F238E27FC236}">
                        <a16:creationId xmlns:a16="http://schemas.microsoft.com/office/drawing/2014/main" id="{E9F5567A-B78F-F937-0319-E2A6E10C501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20800" y="1803505"/>
                    <a:ext cx="324000" cy="30777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01" name="Gerade Verbindung 100">
              <a:extLst>
                <a:ext uri="{FF2B5EF4-FFF2-40B4-BE49-F238E27FC236}">
                  <a16:creationId xmlns:a16="http://schemas.microsoft.com/office/drawing/2014/main" id="{82DB772D-C9D6-09DA-832C-D8222AFAF349}"/>
                </a:ext>
              </a:extLst>
            </p:cNvPr>
            <p:cNvCxnSpPr>
              <a:stCxn id="74" idx="3"/>
            </p:cNvCxnSpPr>
            <p:nvPr/>
          </p:nvCxnSpPr>
          <p:spPr>
            <a:xfrm>
              <a:off x="6246714" y="1387763"/>
              <a:ext cx="576915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Gerade Verbindung 102">
              <a:extLst>
                <a:ext uri="{FF2B5EF4-FFF2-40B4-BE49-F238E27FC236}">
                  <a16:creationId xmlns:a16="http://schemas.microsoft.com/office/drawing/2014/main" id="{2A1D7712-4C8B-8647-3A6E-2874A83294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6713" y="3360011"/>
              <a:ext cx="5769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Gerade Verbindung 104">
              <a:extLst>
                <a:ext uri="{FF2B5EF4-FFF2-40B4-BE49-F238E27FC236}">
                  <a16:creationId xmlns:a16="http://schemas.microsoft.com/office/drawing/2014/main" id="{B4EC792B-CEAE-CA05-9036-C9142752FD40}"/>
                </a:ext>
              </a:extLst>
            </p:cNvPr>
            <p:cNvCxnSpPr>
              <a:cxnSpLocks/>
            </p:cNvCxnSpPr>
            <p:nvPr/>
          </p:nvCxnSpPr>
          <p:spPr>
            <a:xfrm>
              <a:off x="6823629" y="1387763"/>
              <a:ext cx="0" cy="1972248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Gerade Verbindung mit Pfeil 106">
              <a:extLst>
                <a:ext uri="{FF2B5EF4-FFF2-40B4-BE49-F238E27FC236}">
                  <a16:creationId xmlns:a16="http://schemas.microsoft.com/office/drawing/2014/main" id="{BB7DA2A6-33C6-658A-06E4-735EAAC326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629" y="2323165"/>
              <a:ext cx="4297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Gerade Verbindung mit Pfeil 110">
              <a:extLst>
                <a:ext uri="{FF2B5EF4-FFF2-40B4-BE49-F238E27FC236}">
                  <a16:creationId xmlns:a16="http://schemas.microsoft.com/office/drawing/2014/main" id="{650A3FD1-8185-6AFE-36BC-A7C41B28F1B2}"/>
                </a:ext>
              </a:extLst>
            </p:cNvPr>
            <p:cNvCxnSpPr>
              <a:cxnSpLocks/>
            </p:cNvCxnSpPr>
            <p:nvPr/>
          </p:nvCxnSpPr>
          <p:spPr>
            <a:xfrm>
              <a:off x="9024596" y="2332859"/>
              <a:ext cx="36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Abgerundetes Rechteck 111">
              <a:extLst>
                <a:ext uri="{FF2B5EF4-FFF2-40B4-BE49-F238E27FC236}">
                  <a16:creationId xmlns:a16="http://schemas.microsoft.com/office/drawing/2014/main" id="{ECFC9344-1443-C642-ADF9-41DD6F0BA289}"/>
                </a:ext>
              </a:extLst>
            </p:cNvPr>
            <p:cNvSpPr/>
            <p:nvPr/>
          </p:nvSpPr>
          <p:spPr>
            <a:xfrm>
              <a:off x="9612135" y="2127944"/>
              <a:ext cx="1074058" cy="367611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err="1"/>
                <a:t>Softmax</a:t>
              </a:r>
              <a:endParaRPr lang="en-GB" dirty="0"/>
            </a:p>
          </p:txBody>
        </p:sp>
        <p:grpSp>
          <p:nvGrpSpPr>
            <p:cNvPr id="113" name="Gruppieren 112">
              <a:extLst>
                <a:ext uri="{FF2B5EF4-FFF2-40B4-BE49-F238E27FC236}">
                  <a16:creationId xmlns:a16="http://schemas.microsoft.com/office/drawing/2014/main" id="{93681881-7500-5BA9-8FB7-3F4B545A1D35}"/>
                </a:ext>
              </a:extLst>
            </p:cNvPr>
            <p:cNvGrpSpPr/>
            <p:nvPr/>
          </p:nvGrpSpPr>
          <p:grpSpPr>
            <a:xfrm>
              <a:off x="9040997" y="2952320"/>
              <a:ext cx="1792167" cy="1728793"/>
              <a:chOff x="7120800" y="849601"/>
              <a:chExt cx="1792167" cy="1728793"/>
            </a:xfrm>
          </p:grpSpPr>
          <p:grpSp>
            <p:nvGrpSpPr>
              <p:cNvPr id="114" name="Gruppieren 113">
                <a:extLst>
                  <a:ext uri="{FF2B5EF4-FFF2-40B4-BE49-F238E27FC236}">
                    <a16:creationId xmlns:a16="http://schemas.microsoft.com/office/drawing/2014/main" id="{BA196BD8-05CE-289E-C44A-E4622A24862F}"/>
                  </a:ext>
                </a:extLst>
              </p:cNvPr>
              <p:cNvGrpSpPr/>
              <p:nvPr/>
            </p:nvGrpSpPr>
            <p:grpSpPr>
              <a:xfrm>
                <a:off x="7408800" y="849601"/>
                <a:ext cx="1504167" cy="1728793"/>
                <a:chOff x="7408800" y="849601"/>
                <a:chExt cx="1504167" cy="172879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6" name="Rechteck 115">
                      <a:extLst>
                        <a:ext uri="{FF2B5EF4-FFF2-40B4-BE49-F238E27FC236}">
                          <a16:creationId xmlns:a16="http://schemas.microsoft.com/office/drawing/2014/main" id="{625D3A1A-A0D9-F0FD-0AAD-DD7200E881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5940" y="1317707"/>
                      <a:ext cx="1368000" cy="1260000"/>
                    </a:xfrm>
                    <a:prstGeom prst="rect">
                      <a:avLst/>
                    </a:prstGeom>
                    <a:solidFill>
                      <a:schemeClr val="accent3"/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6" name="Rechteck 115">
                      <a:extLst>
                        <a:ext uri="{FF2B5EF4-FFF2-40B4-BE49-F238E27FC236}">
                          <a16:creationId xmlns:a16="http://schemas.microsoft.com/office/drawing/2014/main" id="{625D3A1A-A0D9-F0FD-0AAD-DD7200E8818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15940" y="1317707"/>
                      <a:ext cx="1368000" cy="1260000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7" name="Gerade Verbindung mit Pfeil 116">
                  <a:extLst>
                    <a:ext uri="{FF2B5EF4-FFF2-40B4-BE49-F238E27FC236}">
                      <a16:creationId xmlns:a16="http://schemas.microsoft.com/office/drawing/2014/main" id="{080A0509-3AA5-1219-98D7-148BA78F74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515940" y="1209600"/>
                  <a:ext cx="1368000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Textfeld 117">
                      <a:extLst>
                        <a:ext uri="{FF2B5EF4-FFF2-40B4-BE49-F238E27FC236}">
                          <a16:creationId xmlns:a16="http://schemas.microsoft.com/office/drawing/2014/main" id="{31A00696-1B34-2D4A-51EC-E8B22C018B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44967" y="849601"/>
                      <a:ext cx="1368000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oMath>
                        </m:oMathPara>
                      </a14:m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118" name="Textfeld 117">
                      <a:extLst>
                        <a:ext uri="{FF2B5EF4-FFF2-40B4-BE49-F238E27FC236}">
                          <a16:creationId xmlns:a16="http://schemas.microsoft.com/office/drawing/2014/main" id="{31A00696-1B34-2D4A-51EC-E8B22C018B1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44967" y="849601"/>
                      <a:ext cx="1368000" cy="307777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9" name="Gerade Verbindung mit Pfeil 118">
                  <a:extLst>
                    <a:ext uri="{FF2B5EF4-FFF2-40B4-BE49-F238E27FC236}">
                      <a16:creationId xmlns:a16="http://schemas.microsoft.com/office/drawing/2014/main" id="{73721F20-5607-2472-312A-0732CF7642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08800" y="1318394"/>
                  <a:ext cx="0" cy="126000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feld 114">
                    <a:extLst>
                      <a:ext uri="{FF2B5EF4-FFF2-40B4-BE49-F238E27FC236}">
                        <a16:creationId xmlns:a16="http://schemas.microsoft.com/office/drawing/2014/main" id="{1DF4C53A-1176-4390-7456-4E2DB7BFD2D3}"/>
                      </a:ext>
                    </a:extLst>
                  </p:cNvPr>
                  <p:cNvSpPr txBox="1"/>
                  <p:nvPr/>
                </p:nvSpPr>
                <p:spPr>
                  <a:xfrm>
                    <a:off x="7120800" y="1803505"/>
                    <a:ext cx="324000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DE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oMath>
                      </m:oMathPara>
                    </a14:m>
                    <a:endParaRPr lang="en-GB" sz="1400" dirty="0"/>
                  </a:p>
                </p:txBody>
              </p:sp>
            </mc:Choice>
            <mc:Fallback xmlns="">
              <p:sp>
                <p:nvSpPr>
                  <p:cNvPr id="115" name="Textfeld 114">
                    <a:extLst>
                      <a:ext uri="{FF2B5EF4-FFF2-40B4-BE49-F238E27FC236}">
                        <a16:creationId xmlns:a16="http://schemas.microsoft.com/office/drawing/2014/main" id="{1DF4C53A-1176-4390-7456-4E2DB7BFD2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20800" y="1803505"/>
                    <a:ext cx="324000" cy="307777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121" name="Gerade Verbindung mit Pfeil 120">
              <a:extLst>
                <a:ext uri="{FF2B5EF4-FFF2-40B4-BE49-F238E27FC236}">
                  <a16:creationId xmlns:a16="http://schemas.microsoft.com/office/drawing/2014/main" id="{0CA5BB89-D15B-0A37-91C8-20CACE1B97E6}"/>
                </a:ext>
              </a:extLst>
            </p:cNvPr>
            <p:cNvCxnSpPr>
              <a:stCxn id="112" idx="2"/>
              <a:endCxn id="118" idx="0"/>
            </p:cNvCxnSpPr>
            <p:nvPr/>
          </p:nvCxnSpPr>
          <p:spPr>
            <a:xfrm>
              <a:off x="10149164" y="2495555"/>
              <a:ext cx="0" cy="4567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Rechteck 121">
                  <a:extLst>
                    <a:ext uri="{FF2B5EF4-FFF2-40B4-BE49-F238E27FC236}">
                      <a16:creationId xmlns:a16="http://schemas.microsoft.com/office/drawing/2014/main" id="{1C402EE8-93EF-8293-D8F7-9E75036722A2}"/>
                    </a:ext>
                  </a:extLst>
                </p:cNvPr>
                <p:cNvSpPr/>
                <p:nvPr/>
              </p:nvSpPr>
              <p:spPr>
                <a:xfrm>
                  <a:off x="10870882" y="5282716"/>
                  <a:ext cx="1116000" cy="1260000"/>
                </a:xfrm>
                <a:prstGeom prst="rect">
                  <a:avLst/>
                </a:prstGeom>
                <a:solidFill>
                  <a:schemeClr val="accent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2" name="Rechteck 121">
                  <a:extLst>
                    <a:ext uri="{FF2B5EF4-FFF2-40B4-BE49-F238E27FC236}">
                      <a16:creationId xmlns:a16="http://schemas.microsoft.com/office/drawing/2014/main" id="{1C402EE8-93EF-8293-D8F7-9E75036722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0882" y="5282716"/>
                  <a:ext cx="1116000" cy="126000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Gerade Verbindung mit Pfeil 122">
              <a:extLst>
                <a:ext uri="{FF2B5EF4-FFF2-40B4-BE49-F238E27FC236}">
                  <a16:creationId xmlns:a16="http://schemas.microsoft.com/office/drawing/2014/main" id="{68FDC543-4690-DF44-7261-C7E6708461C3}"/>
                </a:ext>
              </a:extLst>
            </p:cNvPr>
            <p:cNvCxnSpPr>
              <a:cxnSpLocks/>
            </p:cNvCxnSpPr>
            <p:nvPr/>
          </p:nvCxnSpPr>
          <p:spPr>
            <a:xfrm>
              <a:off x="10762882" y="5308835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Textfeld 123">
                  <a:extLst>
                    <a:ext uri="{FF2B5EF4-FFF2-40B4-BE49-F238E27FC236}">
                      <a16:creationId xmlns:a16="http://schemas.microsoft.com/office/drawing/2014/main" id="{18806A52-A34A-ADB9-06BB-50E35AA49ABC}"/>
                    </a:ext>
                  </a:extLst>
                </p:cNvPr>
                <p:cNvSpPr txBox="1"/>
                <p:nvPr/>
              </p:nvSpPr>
              <p:spPr>
                <a:xfrm>
                  <a:off x="10473511" y="5764918"/>
                  <a:ext cx="32400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124" name="Textfeld 123">
                  <a:extLst>
                    <a:ext uri="{FF2B5EF4-FFF2-40B4-BE49-F238E27FC236}">
                      <a16:creationId xmlns:a16="http://schemas.microsoft.com/office/drawing/2014/main" id="{18806A52-A34A-ADB9-06BB-50E35AA49A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3511" y="5764918"/>
                  <a:ext cx="324000" cy="30777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Gerade Verbindung mit Pfeil 124">
              <a:extLst>
                <a:ext uri="{FF2B5EF4-FFF2-40B4-BE49-F238E27FC236}">
                  <a16:creationId xmlns:a16="http://schemas.microsoft.com/office/drawing/2014/main" id="{711ABF22-63D4-F4DF-F56F-B20CE5A744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70881" y="5174118"/>
              <a:ext cx="111600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Textfeld 125">
                  <a:extLst>
                    <a:ext uri="{FF2B5EF4-FFF2-40B4-BE49-F238E27FC236}">
                      <a16:creationId xmlns:a16="http://schemas.microsoft.com/office/drawing/2014/main" id="{FF8F4597-5F4D-BE43-17DB-4604BCA153CA}"/>
                    </a:ext>
                  </a:extLst>
                </p:cNvPr>
                <p:cNvSpPr txBox="1"/>
                <p:nvPr/>
              </p:nvSpPr>
              <p:spPr>
                <a:xfrm>
                  <a:off x="10852711" y="4801939"/>
                  <a:ext cx="1115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de-DE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oMath>
                    </m:oMathPara>
                  </a14:m>
                  <a:endParaRPr lang="en-GB" sz="1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6" name="Textfeld 125">
                  <a:extLst>
                    <a:ext uri="{FF2B5EF4-FFF2-40B4-BE49-F238E27FC236}">
                      <a16:creationId xmlns:a16="http://schemas.microsoft.com/office/drawing/2014/main" id="{FF8F4597-5F4D-BE43-17DB-4604BCA153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2711" y="4801939"/>
                  <a:ext cx="1115995" cy="30777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8" name="Gerade Verbindung 127">
              <a:extLst>
                <a:ext uri="{FF2B5EF4-FFF2-40B4-BE49-F238E27FC236}">
                  <a16:creationId xmlns:a16="http://schemas.microsoft.com/office/drawing/2014/main" id="{1179A354-2629-A73B-5E9E-3CE552B20917}"/>
                </a:ext>
              </a:extLst>
            </p:cNvPr>
            <p:cNvCxnSpPr>
              <a:cxnSpLocks/>
              <a:stCxn id="86" idx="3"/>
            </p:cNvCxnSpPr>
            <p:nvPr/>
          </p:nvCxnSpPr>
          <p:spPr>
            <a:xfrm>
              <a:off x="6462712" y="5612165"/>
              <a:ext cx="1667202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Gerade Verbindung 129">
              <a:extLst>
                <a:ext uri="{FF2B5EF4-FFF2-40B4-BE49-F238E27FC236}">
                  <a16:creationId xmlns:a16="http://schemas.microsoft.com/office/drawing/2014/main" id="{5F7D139A-1BB2-1E2A-C4F3-390D6DEF4F05}"/>
                </a:ext>
              </a:extLst>
            </p:cNvPr>
            <p:cNvCxnSpPr>
              <a:cxnSpLocks/>
            </p:cNvCxnSpPr>
            <p:nvPr/>
          </p:nvCxnSpPr>
          <p:spPr>
            <a:xfrm>
              <a:off x="8129914" y="5612165"/>
              <a:ext cx="0" cy="30908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Gerade Verbindung mit Pfeil 132">
              <a:extLst>
                <a:ext uri="{FF2B5EF4-FFF2-40B4-BE49-F238E27FC236}">
                  <a16:creationId xmlns:a16="http://schemas.microsoft.com/office/drawing/2014/main" id="{7E6C3FA9-29AF-E006-CBCA-8D448873CFAA}"/>
                </a:ext>
              </a:extLst>
            </p:cNvPr>
            <p:cNvCxnSpPr>
              <a:cxnSpLocks/>
            </p:cNvCxnSpPr>
            <p:nvPr/>
          </p:nvCxnSpPr>
          <p:spPr>
            <a:xfrm>
              <a:off x="8129914" y="5921245"/>
              <a:ext cx="234359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Gerade Verbindung 136">
              <a:extLst>
                <a:ext uri="{FF2B5EF4-FFF2-40B4-BE49-F238E27FC236}">
                  <a16:creationId xmlns:a16="http://schemas.microsoft.com/office/drawing/2014/main" id="{5E807386-5CEB-CC32-21F8-E4CD6E7F07B8}"/>
                </a:ext>
              </a:extLst>
            </p:cNvPr>
            <p:cNvCxnSpPr>
              <a:cxnSpLocks/>
              <a:stCxn id="116" idx="2"/>
            </p:cNvCxnSpPr>
            <p:nvPr/>
          </p:nvCxnSpPr>
          <p:spPr>
            <a:xfrm>
              <a:off x="10120137" y="4680426"/>
              <a:ext cx="0" cy="123229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hteck 16">
                  <a:extLst>
                    <a:ext uri="{FF2B5EF4-FFF2-40B4-BE49-F238E27FC236}">
                      <a16:creationId xmlns:a16="http://schemas.microsoft.com/office/drawing/2014/main" id="{DE5EBBF0-6ED2-3530-8767-41F530F5F70B}"/>
                    </a:ext>
                  </a:extLst>
                </p:cNvPr>
                <p:cNvSpPr/>
                <p:nvPr/>
              </p:nvSpPr>
              <p:spPr>
                <a:xfrm>
                  <a:off x="1392543" y="3733415"/>
                  <a:ext cx="720000" cy="13680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GB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de-DE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GB" b="1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hteck 16">
                  <a:extLst>
                    <a:ext uri="{FF2B5EF4-FFF2-40B4-BE49-F238E27FC236}">
                      <a16:creationId xmlns:a16="http://schemas.microsoft.com/office/drawing/2014/main" id="{DE5EBBF0-6ED2-3530-8767-41F530F5F7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543" y="3733415"/>
                  <a:ext cx="720000" cy="136800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Gerade Verbindung mit Pfeil 17">
              <a:extLst>
                <a:ext uri="{FF2B5EF4-FFF2-40B4-BE49-F238E27FC236}">
                  <a16:creationId xmlns:a16="http://schemas.microsoft.com/office/drawing/2014/main" id="{997464F2-A9FF-FAD8-21BD-E6CF44830C38}"/>
                </a:ext>
              </a:extLst>
            </p:cNvPr>
            <p:cNvCxnSpPr>
              <a:cxnSpLocks/>
            </p:cNvCxnSpPr>
            <p:nvPr/>
          </p:nvCxnSpPr>
          <p:spPr>
            <a:xfrm>
              <a:off x="1284543" y="3733415"/>
              <a:ext cx="0" cy="126000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55200A9-A482-1D5F-81C9-96E45F093D4A}"/>
                </a:ext>
              </a:extLst>
            </p:cNvPr>
            <p:cNvSpPr txBox="1"/>
            <p:nvPr/>
          </p:nvSpPr>
          <p:spPr>
            <a:xfrm>
              <a:off x="232234" y="4098901"/>
              <a:ext cx="77117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 dirty="0"/>
                <a:t>Number of tokens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3FAE3426-8D65-CBFD-4725-F6748156CB90}"/>
                    </a:ext>
                  </a:extLst>
                </p:cNvPr>
                <p:cNvSpPr txBox="1"/>
                <p:nvPr/>
              </p:nvSpPr>
              <p:spPr>
                <a:xfrm>
                  <a:off x="996543" y="4218526"/>
                  <a:ext cx="37529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en-GB" sz="1400" dirty="0"/>
                </a:p>
              </p:txBody>
            </p:sp>
          </mc:Choice>
          <mc:Fallback xmlns=""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3FAE3426-8D65-CBFD-4725-F6748156CB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6543" y="4218526"/>
                  <a:ext cx="375296" cy="30777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C24FFB0B-25A7-576F-2192-85831CB7BC17}"/>
                </a:ext>
              </a:extLst>
            </p:cNvPr>
            <p:cNvCxnSpPr/>
            <p:nvPr/>
          </p:nvCxnSpPr>
          <p:spPr>
            <a:xfrm>
              <a:off x="1377911" y="3625415"/>
              <a:ext cx="7200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34D9B7A3-2D15-25ED-A139-D9F445FE8C59}"/>
                    </a:ext>
                  </a:extLst>
                </p:cNvPr>
                <p:cNvSpPr txBox="1"/>
                <p:nvPr/>
              </p:nvSpPr>
              <p:spPr>
                <a:xfrm>
                  <a:off x="1392543" y="3334478"/>
                  <a:ext cx="7580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GB" sz="1400" dirty="0">
                    <a:solidFill>
                      <a:schemeClr val="accent6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34D9B7A3-2D15-25ED-A139-D9F445FE8C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2543" y="3334478"/>
                  <a:ext cx="758026" cy="307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Gerade Verbindung 26">
              <a:extLst>
                <a:ext uri="{FF2B5EF4-FFF2-40B4-BE49-F238E27FC236}">
                  <a16:creationId xmlns:a16="http://schemas.microsoft.com/office/drawing/2014/main" id="{644E00F2-CBA5-1251-C548-93A8BD62C0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76800" y="4729930"/>
              <a:ext cx="8341" cy="8279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 Verbindung 28">
              <a:extLst>
                <a:ext uri="{FF2B5EF4-FFF2-40B4-BE49-F238E27FC236}">
                  <a16:creationId xmlns:a16="http://schemas.microsoft.com/office/drawing/2014/main" id="{C3044B76-EC10-3325-8BBC-52DA383478ED}"/>
                </a:ext>
              </a:extLst>
            </p:cNvPr>
            <p:cNvCxnSpPr>
              <a:cxnSpLocks/>
            </p:cNvCxnSpPr>
            <p:nvPr/>
          </p:nvCxnSpPr>
          <p:spPr>
            <a:xfrm>
              <a:off x="2486053" y="5567175"/>
              <a:ext cx="4176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Gerade Verbindung 46">
              <a:extLst>
                <a:ext uri="{FF2B5EF4-FFF2-40B4-BE49-F238E27FC236}">
                  <a16:creationId xmlns:a16="http://schemas.microsoft.com/office/drawing/2014/main" id="{DF81CC79-FDCB-EFB8-EB6D-249A2F635C14}"/>
                </a:ext>
              </a:extLst>
            </p:cNvPr>
            <p:cNvCxnSpPr>
              <a:cxnSpLocks/>
            </p:cNvCxnSpPr>
            <p:nvPr/>
          </p:nvCxnSpPr>
          <p:spPr>
            <a:xfrm>
              <a:off x="2487600" y="3282823"/>
              <a:ext cx="4176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460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 descr="\documentclass{article}&#10;\usepackage{amsmath}&#10;\pagestyle{empty}&#10;\begin{document}&#10;&#10;$x_{T-1} = \frac{1}{\sqrt{\alpha_T}} \left( x_T - \frac{1 - \alpha_T}{\sqrt{1 - \bar{\alpha}_T}} \epsilon_\theta(x_T, T) \right) + \sigma_T z$&#10;&#10;&#10;\end{document}" title="IguanaTex Bitmap Display">
            <a:extLst>
              <a:ext uri="{FF2B5EF4-FFF2-40B4-BE49-F238E27FC236}">
                <a16:creationId xmlns:a16="http://schemas.microsoft.com/office/drawing/2014/main" id="{BE4397C5-A083-DB62-EDF4-36D89ACA085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189759" y="6858000"/>
            <a:ext cx="4902200" cy="508000"/>
          </a:xfrm>
          <a:prstGeom prst="rect">
            <a:avLst/>
          </a:prstGeom>
        </p:spPr>
      </p:pic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F0953273-322D-96AC-EF90-F60B0435BF89}"/>
              </a:ext>
            </a:extLst>
          </p:cNvPr>
          <p:cNvGrpSpPr/>
          <p:nvPr/>
        </p:nvGrpSpPr>
        <p:grpSpPr>
          <a:xfrm>
            <a:off x="49902" y="351499"/>
            <a:ext cx="12092195" cy="5090128"/>
            <a:chOff x="84015" y="150021"/>
            <a:chExt cx="12092195" cy="5090128"/>
          </a:xfrm>
        </p:grpSpPr>
        <p:sp>
          <p:nvSpPr>
            <p:cNvPr id="2" name="Sechseck 1">
              <a:extLst>
                <a:ext uri="{FF2B5EF4-FFF2-40B4-BE49-F238E27FC236}">
                  <a16:creationId xmlns:a16="http://schemas.microsoft.com/office/drawing/2014/main" id="{2E9D92FD-C9BF-CA03-7134-876F04E38C80}"/>
                </a:ext>
              </a:extLst>
            </p:cNvPr>
            <p:cNvSpPr/>
            <p:nvPr/>
          </p:nvSpPr>
          <p:spPr>
            <a:xfrm>
              <a:off x="823505" y="842390"/>
              <a:ext cx="838800" cy="741600"/>
            </a:xfrm>
            <a:prstGeom prst="hexag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DDPM</a:t>
              </a:r>
            </a:p>
          </p:txBody>
        </p:sp>
        <p:pic>
          <p:nvPicPr>
            <p:cNvPr id="11" name="Grafik 10" descr="\documentclass{article}&#10;\usepackage{amsmath}&#10;\pagestyle{empty}&#10;\begin{document}&#10;&#10;&#10;$x_T \sim \mathcal{N}(0,1)$&#10;&#10;\end{document}" title="IguanaTex Bitmap Display">
              <a:extLst>
                <a:ext uri="{FF2B5EF4-FFF2-40B4-BE49-F238E27FC236}">
                  <a16:creationId xmlns:a16="http://schemas.microsoft.com/office/drawing/2014/main" id="{A5E64776-E99F-63BF-041A-BC1D7BFEA10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823505" y="150021"/>
              <a:ext cx="883920" cy="182880"/>
            </a:xfrm>
            <a:prstGeom prst="rect">
              <a:avLst/>
            </a:prstGeom>
          </p:spPr>
        </p:pic>
        <p:cxnSp>
          <p:nvCxnSpPr>
            <p:cNvPr id="15" name="Gerade Verbindung mit Pfeil 14">
              <a:extLst>
                <a:ext uri="{FF2B5EF4-FFF2-40B4-BE49-F238E27FC236}">
                  <a16:creationId xmlns:a16="http://schemas.microsoft.com/office/drawing/2014/main" id="{99635DDB-A286-032C-8E73-CB018F96629B}"/>
                </a:ext>
              </a:extLst>
            </p:cNvPr>
            <p:cNvCxnSpPr>
              <a:stCxn id="2" idx="0"/>
            </p:cNvCxnSpPr>
            <p:nvPr/>
          </p:nvCxnSpPr>
          <p:spPr>
            <a:xfrm flipV="1">
              <a:off x="1662305" y="1213093"/>
              <a:ext cx="541460" cy="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21FA58A-07EB-B27F-5C0D-E4AF11236E33}"/>
                </a:ext>
              </a:extLst>
            </p:cNvPr>
            <p:cNvSpPr/>
            <p:nvPr/>
          </p:nvSpPr>
          <p:spPr>
            <a:xfrm>
              <a:off x="2203765" y="842293"/>
              <a:ext cx="741600" cy="741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0" name="Grafik 19" descr="\documentclass{article}&#10;\usepackage{amsmath}&#10;\pagestyle{empty}&#10;\begin{document}&#10;&#10;&#10;$\epsilon_\theta$&#10;&#10;\end{document}" title="IguanaTex Bitmap Display">
              <a:extLst>
                <a:ext uri="{FF2B5EF4-FFF2-40B4-BE49-F238E27FC236}">
                  <a16:creationId xmlns:a16="http://schemas.microsoft.com/office/drawing/2014/main" id="{3C79F533-27E5-31EB-46DB-AD20E1055C79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2460265" y="1111493"/>
              <a:ext cx="228600" cy="203200"/>
            </a:xfrm>
            <a:prstGeom prst="rect">
              <a:avLst/>
            </a:prstGeom>
          </p:spPr>
        </p:pic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A0BAEF9F-A0C4-3BBB-059C-1E327A70188B}"/>
                </a:ext>
              </a:extLst>
            </p:cNvPr>
            <p:cNvCxnSpPr/>
            <p:nvPr/>
          </p:nvCxnSpPr>
          <p:spPr>
            <a:xfrm flipV="1">
              <a:off x="2945365" y="1212996"/>
              <a:ext cx="541460" cy="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Abgerundetes Rechteck 21">
              <a:extLst>
                <a:ext uri="{FF2B5EF4-FFF2-40B4-BE49-F238E27FC236}">
                  <a16:creationId xmlns:a16="http://schemas.microsoft.com/office/drawing/2014/main" id="{328BDCA0-A741-7E1A-816A-5DBBACEAE9E0}"/>
                </a:ext>
              </a:extLst>
            </p:cNvPr>
            <p:cNvSpPr/>
            <p:nvPr/>
          </p:nvSpPr>
          <p:spPr>
            <a:xfrm>
              <a:off x="3486825" y="842292"/>
              <a:ext cx="2798367" cy="741600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8" name="Grafik 27" descr="\documentclass{article}&#10;\usepackage{amsmath}&#10;\pagestyle{empty}&#10;\begin{document}&#10;&#10;$x_{T-1} = \frac{1}{\sqrt{\alpha_T}} \left( x_T - \frac{1 - \alpha_T}{\sqrt{1 - \bar{\alpha}_T}} \epsilon_\theta \right) + \sigma_T z$&#10;&#10;&#10;\end{document}" title="IguanaTex Bitmap Display">
              <a:extLst>
                <a:ext uri="{FF2B5EF4-FFF2-40B4-BE49-F238E27FC236}">
                  <a16:creationId xmlns:a16="http://schemas.microsoft.com/office/drawing/2014/main" id="{E3736F8E-A02C-EB4A-0B5B-BBB0FF54D1D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3651568" y="1060596"/>
              <a:ext cx="2468880" cy="304800"/>
            </a:xfrm>
            <a:prstGeom prst="rect">
              <a:avLst/>
            </a:prstGeom>
          </p:spPr>
        </p:pic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BC4251BF-5A97-D484-078D-92A160A7916B}"/>
                </a:ext>
              </a:extLst>
            </p:cNvPr>
            <p:cNvCxnSpPr>
              <a:cxnSpLocks/>
            </p:cNvCxnSpPr>
            <p:nvPr/>
          </p:nvCxnSpPr>
          <p:spPr>
            <a:xfrm>
              <a:off x="1218168" y="380199"/>
              <a:ext cx="0" cy="4620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7" name="Grafik 36" descr="\documentclass{article}&#10;\usepackage{amsmath}&#10;\pagestyle{empty}&#10;\begin{document}&#10;&#10;$t=T-1$&#10;&#10;&#10;\end{document}" title="IguanaTex Bitmap Display">
              <a:extLst>
                <a:ext uri="{FF2B5EF4-FFF2-40B4-BE49-F238E27FC236}">
                  <a16:creationId xmlns:a16="http://schemas.microsoft.com/office/drawing/2014/main" id="{7B2F5733-0A4C-9031-327E-DD7A3CB3DFD4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8"/>
            <a:stretch>
              <a:fillRect/>
            </a:stretch>
          </p:blipFill>
          <p:spPr>
            <a:xfrm>
              <a:off x="3281873" y="2354635"/>
              <a:ext cx="640080" cy="137160"/>
            </a:xfrm>
            <a:prstGeom prst="rect">
              <a:avLst/>
            </a:prstGeom>
          </p:spPr>
        </p:pic>
        <p:pic>
          <p:nvPicPr>
            <p:cNvPr id="39" name="Grafik 38" descr="\documentclass{article}&#10;\usepackage{amsmath}&#10;\pagestyle{empty}&#10;\begin{document}&#10;&#10;&#10;$t=T$&#10;&#10;\end{document}" title="IguanaTex Bitmap Display">
              <a:extLst>
                <a:ext uri="{FF2B5EF4-FFF2-40B4-BE49-F238E27FC236}">
                  <a16:creationId xmlns:a16="http://schemas.microsoft.com/office/drawing/2014/main" id="{FA73FC64-BE71-7BEF-D0B5-BAAFE9D365BF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84015" y="1140046"/>
              <a:ext cx="396240" cy="137160"/>
            </a:xfrm>
            <a:prstGeom prst="rect">
              <a:avLst/>
            </a:prstGeom>
          </p:spPr>
        </p:pic>
        <p:sp>
          <p:nvSpPr>
            <p:cNvPr id="40" name="Sechseck 39">
              <a:extLst>
                <a:ext uri="{FF2B5EF4-FFF2-40B4-BE49-F238E27FC236}">
                  <a16:creationId xmlns:a16="http://schemas.microsoft.com/office/drawing/2014/main" id="{17813A62-D688-0A45-BC52-A4A24D3A8533}"/>
                </a:ext>
              </a:extLst>
            </p:cNvPr>
            <p:cNvSpPr/>
            <p:nvPr/>
          </p:nvSpPr>
          <p:spPr>
            <a:xfrm>
              <a:off x="4299456" y="2062663"/>
              <a:ext cx="838800" cy="741600"/>
            </a:xfrm>
            <a:prstGeom prst="hexag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DDPM</a:t>
              </a:r>
            </a:p>
          </p:txBody>
        </p:sp>
        <p:cxnSp>
          <p:nvCxnSpPr>
            <p:cNvPr id="41" name="Gerade Verbindung mit Pfeil 40">
              <a:extLst>
                <a:ext uri="{FF2B5EF4-FFF2-40B4-BE49-F238E27FC236}">
                  <a16:creationId xmlns:a16="http://schemas.microsoft.com/office/drawing/2014/main" id="{3C792CFB-349B-7C09-CA49-F9CD4BF14425}"/>
                </a:ext>
              </a:extLst>
            </p:cNvPr>
            <p:cNvCxnSpPr>
              <a:cxnSpLocks/>
            </p:cNvCxnSpPr>
            <p:nvPr/>
          </p:nvCxnSpPr>
          <p:spPr>
            <a:xfrm>
              <a:off x="4718856" y="1583892"/>
              <a:ext cx="0" cy="4620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5AD15685-11D6-D0F6-E741-2D6082E85266}"/>
                </a:ext>
              </a:extLst>
            </p:cNvPr>
            <p:cNvCxnSpPr/>
            <p:nvPr/>
          </p:nvCxnSpPr>
          <p:spPr>
            <a:xfrm flipV="1">
              <a:off x="5138256" y="2425580"/>
              <a:ext cx="541460" cy="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53393146-BAE4-CFAF-5AB5-1488269B6A1C}"/>
                </a:ext>
              </a:extLst>
            </p:cNvPr>
            <p:cNvSpPr/>
            <p:nvPr/>
          </p:nvSpPr>
          <p:spPr>
            <a:xfrm>
              <a:off x="5679716" y="2054780"/>
              <a:ext cx="741600" cy="741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46" name="Grafik 45" descr="\documentclass{article}&#10;\usepackage{amsmath}&#10;\pagestyle{empty}&#10;\begin{document}&#10;&#10;&#10;$\epsilon_\theta$&#10;&#10;\end{document}" title="IguanaTex Bitmap Display">
              <a:extLst>
                <a:ext uri="{FF2B5EF4-FFF2-40B4-BE49-F238E27FC236}">
                  <a16:creationId xmlns:a16="http://schemas.microsoft.com/office/drawing/2014/main" id="{52B468A7-E50F-71A3-6B27-3F5180414F72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5936216" y="2323980"/>
              <a:ext cx="228600" cy="203200"/>
            </a:xfrm>
            <a:prstGeom prst="rect">
              <a:avLst/>
            </a:prstGeom>
          </p:spPr>
        </p:pic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F0E4310B-C178-E29B-AD87-3975818EFCE3}"/>
                </a:ext>
              </a:extLst>
            </p:cNvPr>
            <p:cNvCxnSpPr/>
            <p:nvPr/>
          </p:nvCxnSpPr>
          <p:spPr>
            <a:xfrm flipV="1">
              <a:off x="6421316" y="2433463"/>
              <a:ext cx="541460" cy="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B1736A3E-54E8-21A5-8503-04A970E8CDE3}"/>
                </a:ext>
              </a:extLst>
            </p:cNvPr>
            <p:cNvSpPr txBox="1"/>
            <p:nvPr/>
          </p:nvSpPr>
          <p:spPr>
            <a:xfrm>
              <a:off x="7028358" y="2225148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  <p:cxnSp>
          <p:nvCxnSpPr>
            <p:cNvPr id="49" name="Gerade Verbindung mit Pfeil 48">
              <a:extLst>
                <a:ext uri="{FF2B5EF4-FFF2-40B4-BE49-F238E27FC236}">
                  <a16:creationId xmlns:a16="http://schemas.microsoft.com/office/drawing/2014/main" id="{3994EE3E-8560-6E3B-C9D1-47598B329D1C}"/>
                </a:ext>
              </a:extLst>
            </p:cNvPr>
            <p:cNvCxnSpPr/>
            <p:nvPr/>
          </p:nvCxnSpPr>
          <p:spPr>
            <a:xfrm flipV="1">
              <a:off x="7437200" y="2425580"/>
              <a:ext cx="541460" cy="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Abgerundetes Rechteck 49">
              <a:extLst>
                <a:ext uri="{FF2B5EF4-FFF2-40B4-BE49-F238E27FC236}">
                  <a16:creationId xmlns:a16="http://schemas.microsoft.com/office/drawing/2014/main" id="{64CF358E-AAF0-888B-FB78-A095E1880664}"/>
                </a:ext>
              </a:extLst>
            </p:cNvPr>
            <p:cNvSpPr/>
            <p:nvPr/>
          </p:nvSpPr>
          <p:spPr>
            <a:xfrm>
              <a:off x="7978660" y="2062663"/>
              <a:ext cx="2798367" cy="741600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52" name="Grafik 51" descr="\documentclass{article}&#10;\usepackage{amsmath}&#10;\pagestyle{empty}&#10;\begin{document}&#10;&#10;&#10;$x_{1} = \frac{1}{\sqrt{\alpha_2}} \left( x_2 - \frac{1 - \alpha_2}{\sqrt{1 - \bar{\alpha}_2}} \epsilon_\theta \right) + \sigma_2 z$&#13;&#10;&#10;&#10;\end{document}" title="IguanaTex Bitmap Display">
              <a:extLst>
                <a:ext uri="{FF2B5EF4-FFF2-40B4-BE49-F238E27FC236}">
                  <a16:creationId xmlns:a16="http://schemas.microsoft.com/office/drawing/2014/main" id="{A001858F-F255-01A5-7905-A5A1688D06B8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20"/>
            <a:stretch>
              <a:fillRect/>
            </a:stretch>
          </p:blipFill>
          <p:spPr>
            <a:xfrm>
              <a:off x="8288183" y="2271384"/>
              <a:ext cx="2179320" cy="304800"/>
            </a:xfrm>
            <a:prstGeom prst="rect">
              <a:avLst/>
            </a:prstGeom>
          </p:spPr>
        </p:pic>
        <p:sp>
          <p:nvSpPr>
            <p:cNvPr id="53" name="Sechseck 52">
              <a:extLst>
                <a:ext uri="{FF2B5EF4-FFF2-40B4-BE49-F238E27FC236}">
                  <a16:creationId xmlns:a16="http://schemas.microsoft.com/office/drawing/2014/main" id="{E2400216-DF98-1B62-8AE6-2FE91A98EAFA}"/>
                </a:ext>
              </a:extLst>
            </p:cNvPr>
            <p:cNvSpPr/>
            <p:nvPr/>
          </p:nvSpPr>
          <p:spPr>
            <a:xfrm>
              <a:off x="8897732" y="3280606"/>
              <a:ext cx="838800" cy="741600"/>
            </a:xfrm>
            <a:prstGeom prst="hexag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100" dirty="0">
                  <a:solidFill>
                    <a:schemeClr val="tx1"/>
                  </a:solidFill>
                </a:rPr>
                <a:t>DDPM</a:t>
              </a:r>
            </a:p>
          </p:txBody>
        </p:sp>
        <p:cxnSp>
          <p:nvCxnSpPr>
            <p:cNvPr id="54" name="Gerade Verbindung mit Pfeil 53">
              <a:extLst>
                <a:ext uri="{FF2B5EF4-FFF2-40B4-BE49-F238E27FC236}">
                  <a16:creationId xmlns:a16="http://schemas.microsoft.com/office/drawing/2014/main" id="{C56EA5CE-B3B0-F19D-7175-FBD0FB859C42}"/>
                </a:ext>
              </a:extLst>
            </p:cNvPr>
            <p:cNvCxnSpPr>
              <a:cxnSpLocks/>
            </p:cNvCxnSpPr>
            <p:nvPr/>
          </p:nvCxnSpPr>
          <p:spPr>
            <a:xfrm>
              <a:off x="9317132" y="2801835"/>
              <a:ext cx="0" cy="4620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74DDCC89-FC3D-C37D-A78F-207F6A9BF582}"/>
                </a:ext>
              </a:extLst>
            </p:cNvPr>
            <p:cNvCxnSpPr/>
            <p:nvPr/>
          </p:nvCxnSpPr>
          <p:spPr>
            <a:xfrm flipV="1">
              <a:off x="9736532" y="3643523"/>
              <a:ext cx="541460" cy="9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3D4F41F-CC09-2FE8-E396-059798D613CB}"/>
                </a:ext>
              </a:extLst>
            </p:cNvPr>
            <p:cNvSpPr/>
            <p:nvPr/>
          </p:nvSpPr>
          <p:spPr>
            <a:xfrm>
              <a:off x="10277992" y="3272723"/>
              <a:ext cx="741600" cy="741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57" name="Grafik 56" descr="\documentclass{article}&#10;\usepackage{amsmath}&#10;\pagestyle{empty}&#10;\begin{document}&#10;&#10;&#10;$\epsilon_\theta$&#10;&#10;\end{document}" title="IguanaTex Bitmap Display">
              <a:extLst>
                <a:ext uri="{FF2B5EF4-FFF2-40B4-BE49-F238E27FC236}">
                  <a16:creationId xmlns:a16="http://schemas.microsoft.com/office/drawing/2014/main" id="{E99F9640-A140-07FD-375D-FD4BAE921E14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0534492" y="3541923"/>
              <a:ext cx="228600" cy="203200"/>
            </a:xfrm>
            <a:prstGeom prst="rect">
              <a:avLst/>
            </a:prstGeom>
          </p:spPr>
        </p:pic>
        <p:pic>
          <p:nvPicPr>
            <p:cNvPr id="59" name="Grafik 58" descr="\documentclass{article}&#10;\usepackage{amsmath}&#10;\pagestyle{empty}&#10;\begin{document}&#10;&#10;&#10;$t=1$&#10;&#10;\end{document}" title="IguanaTex Bitmap Display">
              <a:extLst>
                <a:ext uri="{FF2B5EF4-FFF2-40B4-BE49-F238E27FC236}">
                  <a16:creationId xmlns:a16="http://schemas.microsoft.com/office/drawing/2014/main" id="{E7F08247-3AA3-8B04-56E1-4241B91F0854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8185474" y="3569601"/>
              <a:ext cx="350520" cy="137160"/>
            </a:xfrm>
            <a:prstGeom prst="rect">
              <a:avLst/>
            </a:prstGeom>
          </p:spPr>
        </p:pic>
        <p:cxnSp>
          <p:nvCxnSpPr>
            <p:cNvPr id="60" name="Gerade Verbindung mit Pfeil 59">
              <a:extLst>
                <a:ext uri="{FF2B5EF4-FFF2-40B4-BE49-F238E27FC236}">
                  <a16:creationId xmlns:a16="http://schemas.microsoft.com/office/drawing/2014/main" id="{AE9C92D8-F2B0-0DD7-9505-CD9576EC98E4}"/>
                </a:ext>
              </a:extLst>
            </p:cNvPr>
            <p:cNvCxnSpPr>
              <a:cxnSpLocks/>
            </p:cNvCxnSpPr>
            <p:nvPr/>
          </p:nvCxnSpPr>
          <p:spPr>
            <a:xfrm>
              <a:off x="10690539" y="4022206"/>
              <a:ext cx="0" cy="46209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Abgerundetes Rechteck 60">
              <a:extLst>
                <a:ext uri="{FF2B5EF4-FFF2-40B4-BE49-F238E27FC236}">
                  <a16:creationId xmlns:a16="http://schemas.microsoft.com/office/drawing/2014/main" id="{10B02A55-5AB4-F7B6-10D2-FA9ED30C0D28}"/>
                </a:ext>
              </a:extLst>
            </p:cNvPr>
            <p:cNvSpPr/>
            <p:nvPr/>
          </p:nvSpPr>
          <p:spPr>
            <a:xfrm>
              <a:off x="9377843" y="4498549"/>
              <a:ext cx="2798367" cy="741600"/>
            </a:xfrm>
            <a:prstGeom prst="roundRect">
              <a:avLst/>
            </a:prstGeom>
            <a:solidFill>
              <a:schemeClr val="accent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3" name="Grafik 62" descr="\documentclass{article}&#10;\usepackage{amsmath}&#10;\pagestyle{empty}&#10;\begin{document}&#10;&#10;&#10;$x_{0} = \frac{1}{\sqrt{\alpha_1}} \left( x_1 - \frac{1 - \alpha_1}{\sqrt{1 - \bar{\alpha}_1}} \epsilon_\theta \right)$&#13;&#10;&#10;&#10;\end{document}" title="IguanaTex Bitmap Display">
              <a:extLst>
                <a:ext uri="{FF2B5EF4-FFF2-40B4-BE49-F238E27FC236}">
                  <a16:creationId xmlns:a16="http://schemas.microsoft.com/office/drawing/2014/main" id="{7E2ECF8D-69C5-CA73-9600-61EA0AF11171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22"/>
            <a:stretch>
              <a:fillRect/>
            </a:stretch>
          </p:blipFill>
          <p:spPr>
            <a:xfrm>
              <a:off x="9816610" y="4716852"/>
              <a:ext cx="1737360" cy="304800"/>
            </a:xfrm>
            <a:prstGeom prst="rect">
              <a:avLst/>
            </a:prstGeom>
          </p:spPr>
        </p:pic>
        <p:cxnSp>
          <p:nvCxnSpPr>
            <p:cNvPr id="66" name="Gerade Verbindung mit Pfeil 65">
              <a:extLst>
                <a:ext uri="{FF2B5EF4-FFF2-40B4-BE49-F238E27FC236}">
                  <a16:creationId xmlns:a16="http://schemas.microsoft.com/office/drawing/2014/main" id="{08C34FF6-1611-CBD4-0BF1-F2CBCA3C94E7}"/>
                </a:ext>
              </a:extLst>
            </p:cNvPr>
            <p:cNvCxnSpPr>
              <a:stCxn id="39" idx="3"/>
            </p:cNvCxnSpPr>
            <p:nvPr/>
          </p:nvCxnSpPr>
          <p:spPr>
            <a:xfrm>
              <a:off x="480255" y="1208626"/>
              <a:ext cx="3432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Gerade Verbindung mit Pfeil 66">
              <a:extLst>
                <a:ext uri="{FF2B5EF4-FFF2-40B4-BE49-F238E27FC236}">
                  <a16:creationId xmlns:a16="http://schemas.microsoft.com/office/drawing/2014/main" id="{82C9B770-12B5-A19B-2D51-E2FD7B44903E}"/>
                </a:ext>
              </a:extLst>
            </p:cNvPr>
            <p:cNvCxnSpPr/>
            <p:nvPr/>
          </p:nvCxnSpPr>
          <p:spPr>
            <a:xfrm>
              <a:off x="3955280" y="2433463"/>
              <a:ext cx="3432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Gerade Verbindung mit Pfeil 67">
              <a:extLst>
                <a:ext uri="{FF2B5EF4-FFF2-40B4-BE49-F238E27FC236}">
                  <a16:creationId xmlns:a16="http://schemas.microsoft.com/office/drawing/2014/main" id="{D031E24E-0DAD-B8BA-72C0-15CF48076762}"/>
                </a:ext>
              </a:extLst>
            </p:cNvPr>
            <p:cNvCxnSpPr/>
            <p:nvPr/>
          </p:nvCxnSpPr>
          <p:spPr>
            <a:xfrm>
              <a:off x="8554482" y="3651406"/>
              <a:ext cx="3432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00108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8512B-4636-9C7A-0641-B405A6570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fik 25" descr="\documentclass{article}&#10;\usepackage{amsmath}&#10;\pagestyle{empty}&#10;\begin{document}&#10;&#10;$x_{T-1} = \frac{1}{\sqrt{\alpha_T}} \left( x_T - \frac{1 - \alpha_T}{\sqrt{1 - \bar{\alpha}_T}} \epsilon_\theta(x_T, T) \right) + \sigma_T z$&#10;&#10;&#10;\end{document}" title="IguanaTex Bitmap Display">
            <a:extLst>
              <a:ext uri="{FF2B5EF4-FFF2-40B4-BE49-F238E27FC236}">
                <a16:creationId xmlns:a16="http://schemas.microsoft.com/office/drawing/2014/main" id="{5E769031-0128-0D57-52EC-71E482AC502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3189759" y="6858000"/>
            <a:ext cx="4902200" cy="508000"/>
          </a:xfrm>
          <a:prstGeom prst="rect">
            <a:avLst/>
          </a:prstGeom>
        </p:spPr>
      </p:pic>
      <p:sp>
        <p:nvSpPr>
          <p:cNvPr id="2" name="Sechseck 1">
            <a:extLst>
              <a:ext uri="{FF2B5EF4-FFF2-40B4-BE49-F238E27FC236}">
                <a16:creationId xmlns:a16="http://schemas.microsoft.com/office/drawing/2014/main" id="{8C585B59-D8B3-244A-CFB0-BE29E4897B9F}"/>
              </a:ext>
            </a:extLst>
          </p:cNvPr>
          <p:cNvSpPr/>
          <p:nvPr/>
        </p:nvSpPr>
        <p:spPr>
          <a:xfrm>
            <a:off x="1165353" y="971930"/>
            <a:ext cx="838800" cy="741600"/>
          </a:xfrm>
          <a:prstGeom prst="hexago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46EF7049-A076-19A7-24CE-2EBBE4BBB4CD}"/>
              </a:ext>
            </a:extLst>
          </p:cNvPr>
          <p:cNvCxnSpPr>
            <a:stCxn id="2" idx="0"/>
          </p:cNvCxnSpPr>
          <p:nvPr/>
        </p:nvCxnSpPr>
        <p:spPr>
          <a:xfrm flipV="1">
            <a:off x="2004153" y="1342633"/>
            <a:ext cx="541460" cy="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999DDB73-655D-53A5-0208-CA6637576CBE}"/>
              </a:ext>
            </a:extLst>
          </p:cNvPr>
          <p:cNvSpPr/>
          <p:nvPr/>
        </p:nvSpPr>
        <p:spPr>
          <a:xfrm>
            <a:off x="2545613" y="971833"/>
            <a:ext cx="741600" cy="74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A5EFFBB1-12AC-8B23-74D3-56532560E6B5}"/>
              </a:ext>
            </a:extLst>
          </p:cNvPr>
          <p:cNvCxnSpPr/>
          <p:nvPr/>
        </p:nvCxnSpPr>
        <p:spPr>
          <a:xfrm flipV="1">
            <a:off x="3287213" y="1342536"/>
            <a:ext cx="541460" cy="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Abgerundetes Rechteck 21">
            <a:extLst>
              <a:ext uri="{FF2B5EF4-FFF2-40B4-BE49-F238E27FC236}">
                <a16:creationId xmlns:a16="http://schemas.microsoft.com/office/drawing/2014/main" id="{2E755231-CD2C-F9CA-AEDF-12E2B2154B62}"/>
              </a:ext>
            </a:extLst>
          </p:cNvPr>
          <p:cNvSpPr/>
          <p:nvPr/>
        </p:nvSpPr>
        <p:spPr>
          <a:xfrm>
            <a:off x="3828673" y="971832"/>
            <a:ext cx="4202807" cy="7416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50544B05-7ECA-6307-F6C1-38C8FF2DF98A}"/>
              </a:ext>
            </a:extLst>
          </p:cNvPr>
          <p:cNvCxnSpPr>
            <a:cxnSpLocks/>
          </p:cNvCxnSpPr>
          <p:nvPr/>
        </p:nvCxnSpPr>
        <p:spPr>
          <a:xfrm>
            <a:off x="1560016" y="509739"/>
            <a:ext cx="0" cy="462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D3A204A0-2B65-723F-9BC5-6B5FB503E75A}"/>
              </a:ext>
            </a:extLst>
          </p:cNvPr>
          <p:cNvCxnSpPr>
            <a:cxnSpLocks/>
          </p:cNvCxnSpPr>
          <p:nvPr/>
        </p:nvCxnSpPr>
        <p:spPr>
          <a:xfrm>
            <a:off x="4245364" y="1713432"/>
            <a:ext cx="0" cy="462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 Verbindung mit Pfeil 43">
            <a:extLst>
              <a:ext uri="{FF2B5EF4-FFF2-40B4-BE49-F238E27FC236}">
                <a16:creationId xmlns:a16="http://schemas.microsoft.com/office/drawing/2014/main" id="{7958672C-094A-B2DA-39A4-B5665559A2BB}"/>
              </a:ext>
            </a:extLst>
          </p:cNvPr>
          <p:cNvCxnSpPr/>
          <p:nvPr/>
        </p:nvCxnSpPr>
        <p:spPr>
          <a:xfrm flipV="1">
            <a:off x="4664764" y="2555120"/>
            <a:ext cx="541460" cy="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F708B351-10FB-1893-F64D-9C1E04E4E856}"/>
              </a:ext>
            </a:extLst>
          </p:cNvPr>
          <p:cNvSpPr/>
          <p:nvPr/>
        </p:nvSpPr>
        <p:spPr>
          <a:xfrm>
            <a:off x="5206224" y="2184320"/>
            <a:ext cx="741600" cy="74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164604F8-92FE-B845-F245-D7A3A50EB655}"/>
              </a:ext>
            </a:extLst>
          </p:cNvPr>
          <p:cNvCxnSpPr/>
          <p:nvPr/>
        </p:nvCxnSpPr>
        <p:spPr>
          <a:xfrm flipV="1">
            <a:off x="5947824" y="2563003"/>
            <a:ext cx="541460" cy="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25700387-67D9-8DBD-FA2C-C4E86F94C164}"/>
              </a:ext>
            </a:extLst>
          </p:cNvPr>
          <p:cNvSpPr txBox="1"/>
          <p:nvPr/>
        </p:nvSpPr>
        <p:spPr>
          <a:xfrm>
            <a:off x="6554866" y="235468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cxnSp>
        <p:nvCxnSpPr>
          <p:cNvPr id="49" name="Gerade Verbindung mit Pfeil 48">
            <a:extLst>
              <a:ext uri="{FF2B5EF4-FFF2-40B4-BE49-F238E27FC236}">
                <a16:creationId xmlns:a16="http://schemas.microsoft.com/office/drawing/2014/main" id="{9AFDF1E3-527C-B868-59F0-BA579A392A1C}"/>
              </a:ext>
            </a:extLst>
          </p:cNvPr>
          <p:cNvCxnSpPr/>
          <p:nvPr/>
        </p:nvCxnSpPr>
        <p:spPr>
          <a:xfrm flipV="1">
            <a:off x="6963708" y="2555120"/>
            <a:ext cx="541460" cy="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 Verbindung mit Pfeil 53">
            <a:extLst>
              <a:ext uri="{FF2B5EF4-FFF2-40B4-BE49-F238E27FC236}">
                <a16:creationId xmlns:a16="http://schemas.microsoft.com/office/drawing/2014/main" id="{3AA46EFA-9980-3D9B-FEA9-8717125B0B0B}"/>
              </a:ext>
            </a:extLst>
          </p:cNvPr>
          <p:cNvCxnSpPr>
            <a:cxnSpLocks/>
          </p:cNvCxnSpPr>
          <p:nvPr/>
        </p:nvCxnSpPr>
        <p:spPr>
          <a:xfrm>
            <a:off x="8843640" y="2931375"/>
            <a:ext cx="0" cy="462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4AF21BA3-8811-1C31-CDA5-A4C82D811F77}"/>
              </a:ext>
            </a:extLst>
          </p:cNvPr>
          <p:cNvCxnSpPr/>
          <p:nvPr/>
        </p:nvCxnSpPr>
        <p:spPr>
          <a:xfrm flipV="1">
            <a:off x="9263040" y="3773063"/>
            <a:ext cx="541460" cy="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956D24AB-95C4-494A-7B95-7494184CD203}"/>
              </a:ext>
            </a:extLst>
          </p:cNvPr>
          <p:cNvSpPr/>
          <p:nvPr/>
        </p:nvSpPr>
        <p:spPr>
          <a:xfrm>
            <a:off x="9804500" y="3402263"/>
            <a:ext cx="741600" cy="74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0165B018-D26D-CC81-5647-50C3F04B83BF}"/>
              </a:ext>
            </a:extLst>
          </p:cNvPr>
          <p:cNvCxnSpPr>
            <a:cxnSpLocks/>
          </p:cNvCxnSpPr>
          <p:nvPr/>
        </p:nvCxnSpPr>
        <p:spPr>
          <a:xfrm>
            <a:off x="10217047" y="4151746"/>
            <a:ext cx="0" cy="462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Abgerundetes Rechteck 60">
            <a:extLst>
              <a:ext uri="{FF2B5EF4-FFF2-40B4-BE49-F238E27FC236}">
                <a16:creationId xmlns:a16="http://schemas.microsoft.com/office/drawing/2014/main" id="{6041C1D9-B3C7-670A-4A05-7C8F111C05AC}"/>
              </a:ext>
            </a:extLst>
          </p:cNvPr>
          <p:cNvSpPr/>
          <p:nvPr/>
        </p:nvSpPr>
        <p:spPr>
          <a:xfrm>
            <a:off x="8904351" y="4628089"/>
            <a:ext cx="2798367" cy="7416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Gerade Verbindung mit Pfeil 65">
            <a:extLst>
              <a:ext uri="{FF2B5EF4-FFF2-40B4-BE49-F238E27FC236}">
                <a16:creationId xmlns:a16="http://schemas.microsoft.com/office/drawing/2014/main" id="{00CD5DC7-547C-6480-1E7D-6539B305EA92}"/>
              </a:ext>
            </a:extLst>
          </p:cNvPr>
          <p:cNvCxnSpPr>
            <a:cxnSpLocks/>
          </p:cNvCxnSpPr>
          <p:nvPr/>
        </p:nvCxnSpPr>
        <p:spPr>
          <a:xfrm>
            <a:off x="822103" y="1338166"/>
            <a:ext cx="3432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Gerade Verbindung mit Pfeil 66">
            <a:extLst>
              <a:ext uri="{FF2B5EF4-FFF2-40B4-BE49-F238E27FC236}">
                <a16:creationId xmlns:a16="http://schemas.microsoft.com/office/drawing/2014/main" id="{742B62DB-D0E2-529E-75A8-8B4064D2DF5B}"/>
              </a:ext>
            </a:extLst>
          </p:cNvPr>
          <p:cNvCxnSpPr/>
          <p:nvPr/>
        </p:nvCxnSpPr>
        <p:spPr>
          <a:xfrm>
            <a:off x="3481788" y="2563003"/>
            <a:ext cx="3432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Gerade Verbindung mit Pfeil 67">
            <a:extLst>
              <a:ext uri="{FF2B5EF4-FFF2-40B4-BE49-F238E27FC236}">
                <a16:creationId xmlns:a16="http://schemas.microsoft.com/office/drawing/2014/main" id="{6F8F4B24-102C-8622-9337-E80838902CA8}"/>
              </a:ext>
            </a:extLst>
          </p:cNvPr>
          <p:cNvCxnSpPr/>
          <p:nvPr/>
        </p:nvCxnSpPr>
        <p:spPr>
          <a:xfrm>
            <a:off x="8080990" y="3780946"/>
            <a:ext cx="3432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Abgerundetes Rechteck 4">
            <a:extLst>
              <a:ext uri="{FF2B5EF4-FFF2-40B4-BE49-F238E27FC236}">
                <a16:creationId xmlns:a16="http://schemas.microsoft.com/office/drawing/2014/main" id="{3E8665A2-9229-560B-848A-6BDFE2B0477C}"/>
              </a:ext>
            </a:extLst>
          </p:cNvPr>
          <p:cNvSpPr/>
          <p:nvPr/>
        </p:nvSpPr>
        <p:spPr>
          <a:xfrm>
            <a:off x="7505168" y="2191135"/>
            <a:ext cx="4202807" cy="741600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fik 11" descr="\documentclass{article}&#10;\usepackage{amsmath}&#10;\pagestyle{empty}&#10;\begin{document}&#10;&#10;$t=T$&#10;&#10;&#10;\end{document}" title="IguanaTex Bitmap Display">
            <a:extLst>
              <a:ext uri="{FF2B5EF4-FFF2-40B4-BE49-F238E27FC236}">
                <a16:creationId xmlns:a16="http://schemas.microsoft.com/office/drawing/2014/main" id="{8DE31125-F681-ED92-B2F7-CC944BED575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200353" y="1222325"/>
            <a:ext cx="594360" cy="205740"/>
          </a:xfrm>
          <a:prstGeom prst="rect">
            <a:avLst/>
          </a:prstGeom>
        </p:spPr>
      </p:pic>
      <p:pic>
        <p:nvPicPr>
          <p:cNvPr id="14" name="Grafik 13" descr="\documentclass{article}&#10;\usepackage{amsmath}&#10;\pagestyle{empty}&#10;\begin{document}&#10;&#10;&#10;$t=T-1$&#10;&#10;\end{document}" title="IguanaTex Bitmap Display">
            <a:extLst>
              <a:ext uri="{FF2B5EF4-FFF2-40B4-BE49-F238E27FC236}">
                <a16:creationId xmlns:a16="http://schemas.microsoft.com/office/drawing/2014/main" id="{66D1B4B7-AE9F-479B-8DBF-8949DD422B9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2477388" y="2459065"/>
            <a:ext cx="960120" cy="205740"/>
          </a:xfrm>
          <a:prstGeom prst="rect">
            <a:avLst/>
          </a:prstGeom>
        </p:spPr>
      </p:pic>
      <p:pic>
        <p:nvPicPr>
          <p:cNvPr id="18" name="Grafik 17" descr="\documentclass{article}&#10;\usepackage{amsmath}&#10;\pagestyle{empty}&#10;\begin{document}&#10;&#10;&#10;$t=1$&#10;&#10;\end{document}" title="IguanaTex Bitmap Display">
            <a:extLst>
              <a:ext uri="{FF2B5EF4-FFF2-40B4-BE49-F238E27FC236}">
                <a16:creationId xmlns:a16="http://schemas.microsoft.com/office/drawing/2014/main" id="{8C90B0A0-715E-338C-BE60-DAD2C2A5F4F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7505168" y="3678076"/>
            <a:ext cx="525780" cy="205740"/>
          </a:xfrm>
          <a:prstGeom prst="rect">
            <a:avLst/>
          </a:prstGeom>
        </p:spPr>
      </p:pic>
      <p:pic>
        <p:nvPicPr>
          <p:cNvPr id="23" name="Grafik 22" descr="\documentclass{article}&#10;\usepackage{amsmath}&#10;\pagestyle{empty}&#10;\begin{document}&#10;&#10;$\mathbf{x}_T \sim \mathcal{N}(\mathbf{0},\mathbf{I})$&#10;&#10;&#10;\end{document}" title="IguanaTex Bitmap Display">
            <a:extLst>
              <a:ext uri="{FF2B5EF4-FFF2-40B4-BE49-F238E27FC236}">
                <a16:creationId xmlns:a16="http://schemas.microsoft.com/office/drawing/2014/main" id="{ECB37654-ED27-016E-AE6B-80ACD8C181A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054100" y="189801"/>
            <a:ext cx="1325880" cy="274320"/>
          </a:xfrm>
          <a:prstGeom prst="rect">
            <a:avLst/>
          </a:prstGeom>
        </p:spPr>
      </p:pic>
      <p:pic>
        <p:nvPicPr>
          <p:cNvPr id="32" name="Grafik 31" descr="\documentclass{article}&#10;\usepackage{amsmath}&#10;\pagestyle{empty}&#10;\begin{document}&#10;&#10;&#10;$\mathbf{x}_{T-1} = \frac{1}{\sqrt{\alpha_T}} \left( \mathbf{x}_T - \frac{1 - \alpha_T}{\sqrt{1 - \bar{\alpha}_T}} \boldsymbol {\epsilon}_\theta \right) + \sigma_T \mathbf{z}$&#13;&#10;&#10;&#10;\end{document}" title="IguanaTex Bitmap Display">
            <a:extLst>
              <a:ext uri="{FF2B5EF4-FFF2-40B4-BE49-F238E27FC236}">
                <a16:creationId xmlns:a16="http://schemas.microsoft.com/office/drawing/2014/main" id="{BF980631-5097-1E48-FD87-96AFB81B602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064660" y="1094109"/>
            <a:ext cx="3726180" cy="457200"/>
          </a:xfrm>
          <a:prstGeom prst="rect">
            <a:avLst/>
          </a:prstGeom>
        </p:spPr>
      </p:pic>
      <p:pic>
        <p:nvPicPr>
          <p:cNvPr id="34" name="Grafik 33" descr="\documentclass{article}&#10;\usepackage{amsmath}&#10;\pagestyle{empty}&#10;\begin{document}&#10;&#10;$\mathbf{x}_{1} = \frac{1}{\sqrt{\alpha_2}} \left( \mathbf{x}_2 - \frac{1 - \alpha_2}{\sqrt{1 - \bar{\alpha}_2}} \boldsymbol {\epsilon}_\theta \right) + \sigma_2 \mathbf{z}$&#13;&#10;&#10;&#10;&#10;\end{document}" title="IguanaTex Bitmap Display">
            <a:extLst>
              <a:ext uri="{FF2B5EF4-FFF2-40B4-BE49-F238E27FC236}">
                <a16:creationId xmlns:a16="http://schemas.microsoft.com/office/drawing/2014/main" id="{8B46AFE1-4CEE-13D7-F30D-92A81AC8A26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7960651" y="2338649"/>
            <a:ext cx="3291840" cy="457200"/>
          </a:xfrm>
          <a:prstGeom prst="rect">
            <a:avLst/>
          </a:prstGeom>
        </p:spPr>
      </p:pic>
      <p:pic>
        <p:nvPicPr>
          <p:cNvPr id="36" name="Grafik 35" descr="\documentclass{article}&#10;\usepackage{amsmath}&#10;\pagestyle{empty}&#10;\begin{document}&#10;&#10;$\mathbf{x}_{0} = \frac{1}{\sqrt{\alpha_1}} \left( \mathbf{x}_1 - \frac{1 - \alpha_1}{\sqrt{1 - \bar{\alpha}_1}} \boldsymbol {\epsilon}_\theta \right)$&#13;&#10;&#10;&#10;&#10;\end{document}" title="IguanaTex Bitmap Display">
            <a:extLst>
              <a:ext uri="{FF2B5EF4-FFF2-40B4-BE49-F238E27FC236}">
                <a16:creationId xmlns:a16="http://schemas.microsoft.com/office/drawing/2014/main" id="{B550F357-2AE7-24CD-E9E6-EE9BC5BF274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8977654" y="4778075"/>
            <a:ext cx="2651760" cy="457200"/>
          </a:xfrm>
          <a:prstGeom prst="rect">
            <a:avLst/>
          </a:prstGeom>
        </p:spPr>
      </p:pic>
      <p:pic>
        <p:nvPicPr>
          <p:cNvPr id="42" name="Grafik 41" descr="\documentclass{article}&#10;\usepackage{amsmath}&#10;\pagestyle{empty}&#10;\begin{document}&#10;&#10;&#10;$\mathbf{z} \sim \mathcal{N}(\mathbf{0},\mathbf{I})$&#13;&#10;&#10;&#10;\end{document}" title="IguanaTex Bitmap Display">
            <a:extLst>
              <a:ext uri="{FF2B5EF4-FFF2-40B4-BE49-F238E27FC236}">
                <a16:creationId xmlns:a16="http://schemas.microsoft.com/office/drawing/2014/main" id="{A19741DB-ACD3-1239-A1A0-9A8118E91E6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3957320" y="235419"/>
            <a:ext cx="1165860" cy="274320"/>
          </a:xfrm>
          <a:prstGeom prst="rect">
            <a:avLst/>
          </a:prstGeom>
        </p:spPr>
      </p:pic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D27DD86-B14F-E6BC-04C0-680363018803}"/>
              </a:ext>
            </a:extLst>
          </p:cNvPr>
          <p:cNvCxnSpPr>
            <a:cxnSpLocks/>
          </p:cNvCxnSpPr>
          <p:nvPr/>
        </p:nvCxnSpPr>
        <p:spPr>
          <a:xfrm>
            <a:off x="4245364" y="502118"/>
            <a:ext cx="0" cy="462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51" name="Grafik 50" descr="\documentclass{article}&#10;\usepackage{amsmath}&#10;\pagestyle{empty}&#10;\begin{document}&#10;&#10;&#10;$\mathbf{z} \sim \mathcal{N}(\mathbf{0},\mathbf{I})$&#13;&#10;&#10;&#10;\end{document}" title="IguanaTex Bitmap Display">
            <a:extLst>
              <a:ext uri="{FF2B5EF4-FFF2-40B4-BE49-F238E27FC236}">
                <a16:creationId xmlns:a16="http://schemas.microsoft.com/office/drawing/2014/main" id="{15784FEA-B660-23B5-A302-09806FBDEA52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8555596" y="1436302"/>
            <a:ext cx="1165860" cy="274320"/>
          </a:xfrm>
          <a:prstGeom prst="rect">
            <a:avLst/>
          </a:prstGeom>
        </p:spPr>
      </p:pic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DB43B46E-A1CB-784B-2919-0C0A61088878}"/>
              </a:ext>
            </a:extLst>
          </p:cNvPr>
          <p:cNvCxnSpPr>
            <a:cxnSpLocks/>
          </p:cNvCxnSpPr>
          <p:nvPr/>
        </p:nvCxnSpPr>
        <p:spPr>
          <a:xfrm>
            <a:off x="8843640" y="1710621"/>
            <a:ext cx="0" cy="462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4" name="Grafik 63" descr="\documentclass{article}&#10;\usepackage{amsmath}&#10;\pagestyle{empty}&#10;\begin{document}&#10;&#10;&#10;$\text{DDPM}$&#10;&#10;\end{document}" title="IguanaTex Bitmap Display">
            <a:extLst>
              <a:ext uri="{FF2B5EF4-FFF2-40B4-BE49-F238E27FC236}">
                <a16:creationId xmlns:a16="http://schemas.microsoft.com/office/drawing/2014/main" id="{B8F6D6C2-5980-B070-F31C-FFF39EE1B4AB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1209026" y="1230562"/>
            <a:ext cx="754380" cy="205740"/>
          </a:xfrm>
          <a:prstGeom prst="rect">
            <a:avLst/>
          </a:prstGeom>
        </p:spPr>
      </p:pic>
      <p:sp>
        <p:nvSpPr>
          <p:cNvPr id="65" name="Sechseck 64">
            <a:extLst>
              <a:ext uri="{FF2B5EF4-FFF2-40B4-BE49-F238E27FC236}">
                <a16:creationId xmlns:a16="http://schemas.microsoft.com/office/drawing/2014/main" id="{D32C5EE8-91B0-2C78-5C44-7D03168F5722}"/>
              </a:ext>
            </a:extLst>
          </p:cNvPr>
          <p:cNvSpPr/>
          <p:nvPr/>
        </p:nvSpPr>
        <p:spPr>
          <a:xfrm>
            <a:off x="3816969" y="2191940"/>
            <a:ext cx="838800" cy="741600"/>
          </a:xfrm>
          <a:prstGeom prst="hexago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69" name="Grafik 68" descr="\documentclass{article}&#10;\usepackage{amsmath}&#10;\pagestyle{empty}&#10;\begin{document}&#10;&#10;&#10;$\text{DDPM}$&#10;&#10;\end{document}" title="IguanaTex Bitmap Display">
            <a:extLst>
              <a:ext uri="{FF2B5EF4-FFF2-40B4-BE49-F238E27FC236}">
                <a16:creationId xmlns:a16="http://schemas.microsoft.com/office/drawing/2014/main" id="{D75C7198-A99B-54A5-9D30-F1B1D18F9EE4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860642" y="2450572"/>
            <a:ext cx="754380" cy="205740"/>
          </a:xfrm>
          <a:prstGeom prst="rect">
            <a:avLst/>
          </a:prstGeom>
        </p:spPr>
      </p:pic>
      <p:sp>
        <p:nvSpPr>
          <p:cNvPr id="71" name="Sechseck 70">
            <a:extLst>
              <a:ext uri="{FF2B5EF4-FFF2-40B4-BE49-F238E27FC236}">
                <a16:creationId xmlns:a16="http://schemas.microsoft.com/office/drawing/2014/main" id="{D599249E-64AF-4C52-BA6E-38D32BC2EB9A}"/>
              </a:ext>
            </a:extLst>
          </p:cNvPr>
          <p:cNvSpPr/>
          <p:nvPr/>
        </p:nvSpPr>
        <p:spPr>
          <a:xfrm>
            <a:off x="8422888" y="3409883"/>
            <a:ext cx="838800" cy="741600"/>
          </a:xfrm>
          <a:prstGeom prst="hexago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72" name="Grafik 71" descr="\documentclass{article}&#10;\usepackage{amsmath}&#10;\pagestyle{empty}&#10;\begin{document}&#10;&#10;&#10;$\text{DDPM}$&#10;&#10;\end{document}" title="IguanaTex Bitmap Display">
            <a:extLst>
              <a:ext uri="{FF2B5EF4-FFF2-40B4-BE49-F238E27FC236}">
                <a16:creationId xmlns:a16="http://schemas.microsoft.com/office/drawing/2014/main" id="{83D4B273-04E1-9D72-D397-7C2CE6752AAF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8466561" y="3668515"/>
            <a:ext cx="754380" cy="205740"/>
          </a:xfrm>
          <a:prstGeom prst="rect">
            <a:avLst/>
          </a:prstGeom>
        </p:spPr>
      </p:pic>
      <p:pic>
        <p:nvPicPr>
          <p:cNvPr id="78" name="Grafik 77" descr="\documentclass{article}&#10;\usepackage{amsmath}&#10;\pagestyle{empty}&#10;\begin{document}&#10;&#10;&#10;$\boldsymbol{\epsilon}_\theta$&#10;&#10;&#10;\end{document}" title="IguanaTex Bitmap Display">
            <a:extLst>
              <a:ext uri="{FF2B5EF4-FFF2-40B4-BE49-F238E27FC236}">
                <a16:creationId xmlns:a16="http://schemas.microsoft.com/office/drawing/2014/main" id="{F3CDBF16-A5B8-7231-D815-3D4EA07E5ED3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2796088" y="1263582"/>
            <a:ext cx="228600" cy="182880"/>
          </a:xfrm>
          <a:prstGeom prst="rect">
            <a:avLst/>
          </a:prstGeom>
        </p:spPr>
      </p:pic>
      <p:pic>
        <p:nvPicPr>
          <p:cNvPr id="79" name="Grafik 78" descr="\documentclass{article}&#10;\usepackage{amsmath}&#10;\pagestyle{empty}&#10;\begin{document}&#10;&#10;&#10;$\boldsymbol{\epsilon}_\theta$&#10;&#10;&#10;\end{document}" title="IguanaTex Bitmap Display">
            <a:extLst>
              <a:ext uri="{FF2B5EF4-FFF2-40B4-BE49-F238E27FC236}">
                <a16:creationId xmlns:a16="http://schemas.microsoft.com/office/drawing/2014/main" id="{B5877596-30A0-63A0-6A2A-5A53EC69E23E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5466127" y="2470495"/>
            <a:ext cx="228600" cy="182880"/>
          </a:xfrm>
          <a:prstGeom prst="rect">
            <a:avLst/>
          </a:prstGeom>
        </p:spPr>
      </p:pic>
      <p:pic>
        <p:nvPicPr>
          <p:cNvPr id="80" name="Grafik 79" descr="\documentclass{article}&#10;\usepackage{amsmath}&#10;\pagestyle{empty}&#10;\begin{document}&#10;&#10;&#10;$\boldsymbol{\epsilon}_\theta$&#10;&#10;&#10;\end{document}" title="IguanaTex Bitmap Display">
            <a:extLst>
              <a:ext uri="{FF2B5EF4-FFF2-40B4-BE49-F238E27FC236}">
                <a16:creationId xmlns:a16="http://schemas.microsoft.com/office/drawing/2014/main" id="{CC6E1697-1C17-853C-5B66-3EEBBEBA239C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10061000" y="3711317"/>
            <a:ext cx="228600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7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7DE28C6C-7601-98A0-963D-858281710061}"/>
              </a:ext>
            </a:extLst>
          </p:cNvPr>
          <p:cNvGrpSpPr/>
          <p:nvPr/>
        </p:nvGrpSpPr>
        <p:grpSpPr>
          <a:xfrm>
            <a:off x="548468" y="765444"/>
            <a:ext cx="7110053" cy="3609627"/>
            <a:chOff x="548468" y="765444"/>
            <a:chExt cx="7110053" cy="3609627"/>
          </a:xfrm>
        </p:grpSpPr>
        <p:sp>
          <p:nvSpPr>
            <p:cNvPr id="20" name="Abgerundetes Rechteck 19">
              <a:extLst>
                <a:ext uri="{FF2B5EF4-FFF2-40B4-BE49-F238E27FC236}">
                  <a16:creationId xmlns:a16="http://schemas.microsoft.com/office/drawing/2014/main" id="{3FFEE3D1-F2CB-9324-E266-2B6A3AE725F8}"/>
                </a:ext>
              </a:extLst>
            </p:cNvPr>
            <p:cNvSpPr/>
            <p:nvPr/>
          </p:nvSpPr>
          <p:spPr>
            <a:xfrm>
              <a:off x="2309249" y="3786136"/>
              <a:ext cx="4021809" cy="588935"/>
            </a:xfrm>
            <a:prstGeom prst="roundRect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Abgerundetes Rechteck 18">
              <a:extLst>
                <a:ext uri="{FF2B5EF4-FFF2-40B4-BE49-F238E27FC236}">
                  <a16:creationId xmlns:a16="http://schemas.microsoft.com/office/drawing/2014/main" id="{40F2A89E-A00B-FDA9-1865-A547BF6AAB6A}"/>
                </a:ext>
              </a:extLst>
            </p:cNvPr>
            <p:cNvSpPr/>
            <p:nvPr/>
          </p:nvSpPr>
          <p:spPr>
            <a:xfrm>
              <a:off x="3212533" y="1386028"/>
              <a:ext cx="2960176" cy="588935"/>
            </a:xfrm>
            <a:prstGeom prst="roundRect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6" name="Grafik 5" descr="\documentclass{article}&#10;\usepackage{amsmath}&#10;\pagestyle{empty}&#10;\begin{document}&#10;&#10;$t \sim \mathcal{U}(1,T)$&#10;&#10;&#10;\end{document}" title="IguanaTex Bitmap Display">
              <a:extLst>
                <a:ext uri="{FF2B5EF4-FFF2-40B4-BE49-F238E27FC236}">
                  <a16:creationId xmlns:a16="http://schemas.microsoft.com/office/drawing/2014/main" id="{2E997FE9-D9C4-C1B0-1D59-7F9CDBDF190B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548468" y="765444"/>
              <a:ext cx="1120140" cy="274320"/>
            </a:xfrm>
            <a:prstGeom prst="rect">
              <a:avLst/>
            </a:prstGeom>
          </p:spPr>
        </p:pic>
        <p:pic>
          <p:nvPicPr>
            <p:cNvPr id="10" name="Grafik 9" descr="\documentclass{article}&#10;\usepackage{amsmath}&#10;\pagestyle{empty}&#10;\begin{document}&#10;&#10;&#10;$\mathbf{x}_0 \sim p_\text{data}(\mathbf{x}_0)$&#10;&#10;&#10;\end{document}" title="IguanaTex Bitmap Display">
              <a:extLst>
                <a:ext uri="{FF2B5EF4-FFF2-40B4-BE49-F238E27FC236}">
                  <a16:creationId xmlns:a16="http://schemas.microsoft.com/office/drawing/2014/main" id="{1D2D8915-6F48-D780-4452-002FE5397FC5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233899" y="1543336"/>
              <a:ext cx="1463040" cy="274320"/>
            </a:xfrm>
            <a:prstGeom prst="rect">
              <a:avLst/>
            </a:prstGeom>
          </p:spPr>
        </p:pic>
        <p:pic>
          <p:nvPicPr>
            <p:cNvPr id="14" name="Grafik 13" descr="\documentclass{article}&#10;\usepackage{amsmath}&#10;\pagestyle{empty}&#10;\begin{document}&#10;&#10;&#10;$\mathbf{x_t} =  \sqrt{\bar{\alpha}_t} \mathbf{x_0} + \sqrt{(1- \bar{\alpha}_t)} \boldsymbol{\epsilon}$&#10;&#10;&#10;&#10;\end{document}" title="IguanaTex Bitmap Display">
              <a:extLst>
                <a:ext uri="{FF2B5EF4-FFF2-40B4-BE49-F238E27FC236}">
                  <a16:creationId xmlns:a16="http://schemas.microsoft.com/office/drawing/2014/main" id="{0FD534B7-2FAC-1056-B28D-DA97C49C47C7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3366741" y="1543336"/>
              <a:ext cx="2651760" cy="320040"/>
            </a:xfrm>
            <a:prstGeom prst="rect">
              <a:avLst/>
            </a:prstGeom>
          </p:spPr>
        </p:pic>
        <p:pic>
          <p:nvPicPr>
            <p:cNvPr id="16" name="Grafik 15" descr="\documentclass{article}&#10;\usepackage{amsmath}&#10;\pagestyle{empty}&#10;\begin{document}&#10;&#10;&#10;$\mathcal{L}_{\text{DDPM}}  = \frac{1}{2\sigma^2_t} \frac{(1 - \alpha_t)^2}{\alpha_t(1 - \bar{\alpha}_t)} \cdot | \boldsymbol{\epsilon}_\theta(x_t, t) - \boldsymbol{\epsilon}_t |_2^2 $&#10;&#10;\end{document}" title="IguanaTex Bitmap Display">
              <a:extLst>
                <a:ext uri="{FF2B5EF4-FFF2-40B4-BE49-F238E27FC236}">
                  <a16:creationId xmlns:a16="http://schemas.microsoft.com/office/drawing/2014/main" id="{A263F471-4BAF-FB30-9487-CAF794E6ABDC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2367104" y="3863434"/>
              <a:ext cx="3863340" cy="434340"/>
            </a:xfrm>
            <a:prstGeom prst="rect">
              <a:avLst/>
            </a:prstGeom>
          </p:spPr>
        </p:pic>
        <p:sp>
          <p:nvSpPr>
            <p:cNvPr id="17" name="Sechseck 16">
              <a:extLst>
                <a:ext uri="{FF2B5EF4-FFF2-40B4-BE49-F238E27FC236}">
                  <a16:creationId xmlns:a16="http://schemas.microsoft.com/office/drawing/2014/main" id="{27268669-228E-2641-ABA0-14EA20F78452}"/>
                </a:ext>
              </a:extLst>
            </p:cNvPr>
            <p:cNvSpPr/>
            <p:nvPr/>
          </p:nvSpPr>
          <p:spPr>
            <a:xfrm>
              <a:off x="6819721" y="1332556"/>
              <a:ext cx="838800" cy="741600"/>
            </a:xfrm>
            <a:prstGeom prst="hexagon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pic>
          <p:nvPicPr>
            <p:cNvPr id="18" name="Grafik 17" descr="\documentclass{article}&#10;\usepackage{amsmath}&#10;\pagestyle{empty}&#10;\begin{document}&#10;&#10;&#10;$\text{DDPM}$&#10;&#10;\end{document}" title="IguanaTex Bitmap Display">
              <a:extLst>
                <a:ext uri="{FF2B5EF4-FFF2-40B4-BE49-F238E27FC236}">
                  <a16:creationId xmlns:a16="http://schemas.microsoft.com/office/drawing/2014/main" id="{6A746CEA-9596-D30A-F732-0E8B8821D2EA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6863394" y="1591188"/>
              <a:ext cx="754380" cy="205740"/>
            </a:xfrm>
            <a:prstGeom prst="rect">
              <a:avLst/>
            </a:prstGeom>
          </p:spPr>
        </p:pic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BEAFBE8-1D8A-6E19-EC62-48D15E5F351D}"/>
                </a:ext>
              </a:extLst>
            </p:cNvPr>
            <p:cNvSpPr/>
            <p:nvPr/>
          </p:nvSpPr>
          <p:spPr>
            <a:xfrm>
              <a:off x="6891672" y="2718880"/>
              <a:ext cx="741600" cy="7416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pic>
          <p:nvPicPr>
            <p:cNvPr id="22" name="Grafik 21" descr="\documentclass{article}&#10;\usepackage{amsmath}&#10;\pagestyle{empty}&#10;\begin{document}&#10;&#10;&#10;$\boldsymbol{\epsilon}_\theta$&#10;&#10;&#10;\end{document}" title="IguanaTex Bitmap Display">
              <a:extLst>
                <a:ext uri="{FF2B5EF4-FFF2-40B4-BE49-F238E27FC236}">
                  <a16:creationId xmlns:a16="http://schemas.microsoft.com/office/drawing/2014/main" id="{E427F495-CADA-9CFC-11E2-A738C7016411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7132674" y="3027934"/>
              <a:ext cx="228600" cy="182880"/>
            </a:xfrm>
            <a:prstGeom prst="rect">
              <a:avLst/>
            </a:prstGeom>
          </p:spPr>
        </p:pic>
        <p:cxnSp>
          <p:nvCxnSpPr>
            <p:cNvPr id="24" name="Gerade Verbindung 23">
              <a:extLst>
                <a:ext uri="{FF2B5EF4-FFF2-40B4-BE49-F238E27FC236}">
                  <a16:creationId xmlns:a16="http://schemas.microsoft.com/office/drawing/2014/main" id="{92CE5F5E-C4D4-BBF6-078C-69CBC5025B8B}"/>
                </a:ext>
              </a:extLst>
            </p:cNvPr>
            <p:cNvCxnSpPr>
              <a:cxnSpLocks/>
              <a:stCxn id="6" idx="3"/>
            </p:cNvCxnSpPr>
            <p:nvPr/>
          </p:nvCxnSpPr>
          <p:spPr>
            <a:xfrm flipV="1">
              <a:off x="1668608" y="881353"/>
              <a:ext cx="5592348" cy="21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1AF9E5E6-B65E-F36B-549F-AC58ABB7A2CA}"/>
                </a:ext>
              </a:extLst>
            </p:cNvPr>
            <p:cNvCxnSpPr>
              <a:cxnSpLocks/>
            </p:cNvCxnSpPr>
            <p:nvPr/>
          </p:nvCxnSpPr>
          <p:spPr>
            <a:xfrm>
              <a:off x="7260956" y="881353"/>
              <a:ext cx="0" cy="45120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Gerade Verbindung mit Pfeil 29">
              <a:extLst>
                <a:ext uri="{FF2B5EF4-FFF2-40B4-BE49-F238E27FC236}">
                  <a16:creationId xmlns:a16="http://schemas.microsoft.com/office/drawing/2014/main" id="{759E6883-3387-B3AD-127C-F2E271D33EDC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260956" y="2074156"/>
              <a:ext cx="1516" cy="6447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7D297EC6-6138-E021-91F4-DCFFFE6F6D78}"/>
                </a:ext>
              </a:extLst>
            </p:cNvPr>
            <p:cNvCxnSpPr>
              <a:stCxn id="10" idx="3"/>
              <a:endCxn id="19" idx="1"/>
            </p:cNvCxnSpPr>
            <p:nvPr/>
          </p:nvCxnSpPr>
          <p:spPr>
            <a:xfrm>
              <a:off x="2696939" y="1680496"/>
              <a:ext cx="5155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Gerade Verbindung 34">
              <a:extLst>
                <a:ext uri="{FF2B5EF4-FFF2-40B4-BE49-F238E27FC236}">
                  <a16:creationId xmlns:a16="http://schemas.microsoft.com/office/drawing/2014/main" id="{94E1635E-E809-22F7-A2A7-1A2508EAE98C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1108538" y="1039764"/>
              <a:ext cx="0" cy="31722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Gerade Verbindung mit Pfeil 36">
              <a:extLst>
                <a:ext uri="{FF2B5EF4-FFF2-40B4-BE49-F238E27FC236}">
                  <a16:creationId xmlns:a16="http://schemas.microsoft.com/office/drawing/2014/main" id="{D3B8A96A-5929-9B7C-323F-3B92645ED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538" y="4212000"/>
              <a:ext cx="120071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Gerade Verbindung 39">
              <a:extLst>
                <a:ext uri="{FF2B5EF4-FFF2-40B4-BE49-F238E27FC236}">
                  <a16:creationId xmlns:a16="http://schemas.microsoft.com/office/drawing/2014/main" id="{6F99239F-6927-8276-B32D-5D9E60691B7D}"/>
                </a:ext>
              </a:extLst>
            </p:cNvPr>
            <p:cNvCxnSpPr>
              <a:cxnSpLocks/>
              <a:stCxn id="21" idx="4"/>
            </p:cNvCxnSpPr>
            <p:nvPr/>
          </p:nvCxnSpPr>
          <p:spPr>
            <a:xfrm flipH="1">
              <a:off x="7260956" y="3460480"/>
              <a:ext cx="1516" cy="620124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8B2F6781-4232-88D4-B4BF-D9B72E7F283C}"/>
                </a:ext>
              </a:extLst>
            </p:cNvPr>
            <p:cNvCxnSpPr>
              <a:cxnSpLocks/>
              <a:endCxn id="20" idx="3"/>
            </p:cNvCxnSpPr>
            <p:nvPr/>
          </p:nvCxnSpPr>
          <p:spPr>
            <a:xfrm flipH="1">
              <a:off x="6331058" y="4080604"/>
              <a:ext cx="92989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47" name="Grafik 46" descr="\documentclass{article}&#10;\usepackage{amsmath}&#10;\pagestyle{empty}&#10;\begin{document}&#10;&#10;&#10;$\boldsymbol{\epsilon} \sim \mathcal{N}(\mathbf{0}, \mathbf{1})$&#10;&#10;\end{document}" title="IguanaTex Bitmap Display">
              <a:extLst>
                <a:ext uri="{FF2B5EF4-FFF2-40B4-BE49-F238E27FC236}">
                  <a16:creationId xmlns:a16="http://schemas.microsoft.com/office/drawing/2014/main" id="{CBF5A685-B8A7-8856-7A45-0B2BF737E7AE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1439620" y="2797544"/>
              <a:ext cx="1188720" cy="274320"/>
            </a:xfrm>
            <a:prstGeom prst="rect">
              <a:avLst/>
            </a:prstGeom>
          </p:spPr>
        </p:pic>
        <p:cxnSp>
          <p:nvCxnSpPr>
            <p:cNvPr id="49" name="Gerade Verbindung 48">
              <a:extLst>
                <a:ext uri="{FF2B5EF4-FFF2-40B4-BE49-F238E27FC236}">
                  <a16:creationId xmlns:a16="http://schemas.microsoft.com/office/drawing/2014/main" id="{1459B0DD-62DB-D65D-9DF7-2FC560E63EB0}"/>
                </a:ext>
              </a:extLst>
            </p:cNvPr>
            <p:cNvCxnSpPr>
              <a:stCxn id="47" idx="3"/>
            </p:cNvCxnSpPr>
            <p:nvPr/>
          </p:nvCxnSpPr>
          <p:spPr>
            <a:xfrm>
              <a:off x="2628340" y="2934704"/>
              <a:ext cx="2059027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Gerade Verbindung mit Pfeil 50">
              <a:extLst>
                <a:ext uri="{FF2B5EF4-FFF2-40B4-BE49-F238E27FC236}">
                  <a16:creationId xmlns:a16="http://schemas.microsoft.com/office/drawing/2014/main" id="{897662C7-798C-1071-D376-28A5D772A303}"/>
                </a:ext>
              </a:extLst>
            </p:cNvPr>
            <p:cNvCxnSpPr>
              <a:endCxn id="19" idx="2"/>
            </p:cNvCxnSpPr>
            <p:nvPr/>
          </p:nvCxnSpPr>
          <p:spPr>
            <a:xfrm flipV="1">
              <a:off x="4692621" y="1974963"/>
              <a:ext cx="0" cy="95974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Gerade Verbindung 52">
              <a:extLst>
                <a:ext uri="{FF2B5EF4-FFF2-40B4-BE49-F238E27FC236}">
                  <a16:creationId xmlns:a16="http://schemas.microsoft.com/office/drawing/2014/main" id="{1196A78B-C1EE-6C7F-3333-7C23F41E908F}"/>
                </a:ext>
              </a:extLst>
            </p:cNvPr>
            <p:cNvCxnSpPr>
              <a:cxnSpLocks/>
              <a:stCxn id="47" idx="2"/>
            </p:cNvCxnSpPr>
            <p:nvPr/>
          </p:nvCxnSpPr>
          <p:spPr>
            <a:xfrm>
              <a:off x="2033980" y="3071864"/>
              <a:ext cx="0" cy="90973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Gerade Verbindung mit Pfeil 54">
              <a:extLst>
                <a:ext uri="{FF2B5EF4-FFF2-40B4-BE49-F238E27FC236}">
                  <a16:creationId xmlns:a16="http://schemas.microsoft.com/office/drawing/2014/main" id="{2F371A3A-9CE3-6C70-6BED-EEC2247F1644}"/>
                </a:ext>
              </a:extLst>
            </p:cNvPr>
            <p:cNvCxnSpPr/>
            <p:nvPr/>
          </p:nvCxnSpPr>
          <p:spPr>
            <a:xfrm>
              <a:off x="2033980" y="3981600"/>
              <a:ext cx="27526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0624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A2258-2D83-1F17-5889-B58E7CC4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32C72AA8-85AB-F1CB-BCCA-5A1024E94086}"/>
              </a:ext>
            </a:extLst>
          </p:cNvPr>
          <p:cNvSpPr/>
          <p:nvPr/>
        </p:nvSpPr>
        <p:spPr>
          <a:xfrm>
            <a:off x="2309249" y="3786136"/>
            <a:ext cx="4021809" cy="588935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bgerundetes Rechteck 18">
            <a:extLst>
              <a:ext uri="{FF2B5EF4-FFF2-40B4-BE49-F238E27FC236}">
                <a16:creationId xmlns:a16="http://schemas.microsoft.com/office/drawing/2014/main" id="{94D9A41C-4EAA-A5B8-9C8F-EDF679A51815}"/>
              </a:ext>
            </a:extLst>
          </p:cNvPr>
          <p:cNvSpPr/>
          <p:nvPr/>
        </p:nvSpPr>
        <p:spPr>
          <a:xfrm>
            <a:off x="3212533" y="1404000"/>
            <a:ext cx="2960176" cy="588935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Grafik 5" descr="\documentclass{article}&#10;\usepackage{amsmath}&#10;\pagestyle{empty}&#10;\begin{document}&#10;&#10;$t \sim \mathcal{U}(1,T)$&#10;&#10;&#10;\end{document}" title="IguanaTex Bitmap Display">
            <a:extLst>
              <a:ext uri="{FF2B5EF4-FFF2-40B4-BE49-F238E27FC236}">
                <a16:creationId xmlns:a16="http://schemas.microsoft.com/office/drawing/2014/main" id="{97C9E2C3-91D0-895F-83DB-330DD9ADE9C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48468" y="765444"/>
            <a:ext cx="1120140" cy="274320"/>
          </a:xfrm>
          <a:prstGeom prst="rect">
            <a:avLst/>
          </a:prstGeom>
        </p:spPr>
      </p:pic>
      <p:pic>
        <p:nvPicPr>
          <p:cNvPr id="14" name="Grafik 13" descr="\documentclass{article}&#10;\usepackage{amsmath}&#10;\pagestyle{empty}&#10;\begin{document}&#10;&#10;&#10;$\mathbf{x_t} =  \sqrt{\bar{\alpha}_t} \mathbf{x_0} + \sqrt{(1- \bar{\alpha}_t)} \boldsymbol{\epsilon}$&#10;&#10;&#10;&#10;\end{document}" title="IguanaTex Bitmap Display">
            <a:extLst>
              <a:ext uri="{FF2B5EF4-FFF2-40B4-BE49-F238E27FC236}">
                <a16:creationId xmlns:a16="http://schemas.microsoft.com/office/drawing/2014/main" id="{5DC0D175-D42D-A1FC-67A8-34AE68880C0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366741" y="1543336"/>
            <a:ext cx="2651760" cy="320040"/>
          </a:xfrm>
          <a:prstGeom prst="rect">
            <a:avLst/>
          </a:prstGeom>
        </p:spPr>
      </p:pic>
      <p:sp>
        <p:nvSpPr>
          <p:cNvPr id="17" name="Sechseck 16">
            <a:extLst>
              <a:ext uri="{FF2B5EF4-FFF2-40B4-BE49-F238E27FC236}">
                <a16:creationId xmlns:a16="http://schemas.microsoft.com/office/drawing/2014/main" id="{E59CF1E7-CBD2-E739-1755-94DAB36A0780}"/>
              </a:ext>
            </a:extLst>
          </p:cNvPr>
          <p:cNvSpPr/>
          <p:nvPr/>
        </p:nvSpPr>
        <p:spPr>
          <a:xfrm>
            <a:off x="6819721" y="1332556"/>
            <a:ext cx="838800" cy="741600"/>
          </a:xfrm>
          <a:prstGeom prst="hexagon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18" name="Grafik 17" descr="\documentclass{article}&#10;\usepackage{amsmath}&#10;\pagestyle{empty}&#10;\begin{document}&#10;&#10;&#10;$\text{DDPM}$&#10;&#10;\end{document}" title="IguanaTex Bitmap Display">
            <a:extLst>
              <a:ext uri="{FF2B5EF4-FFF2-40B4-BE49-F238E27FC236}">
                <a16:creationId xmlns:a16="http://schemas.microsoft.com/office/drawing/2014/main" id="{4C2B24EB-2A03-F36E-0A6C-EC1C408E42E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863394" y="1591188"/>
            <a:ext cx="754380" cy="205740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C8C770F-3493-C953-936C-4ECB2720D664}"/>
              </a:ext>
            </a:extLst>
          </p:cNvPr>
          <p:cNvSpPr/>
          <p:nvPr/>
        </p:nvSpPr>
        <p:spPr>
          <a:xfrm>
            <a:off x="6891672" y="2718880"/>
            <a:ext cx="741600" cy="741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22" name="Grafik 21" descr="\documentclass{article}&#10;\usepackage{amsmath}&#10;\pagestyle{empty}&#10;\begin{document}&#10;&#10;&#10;$\boldsymbol{\epsilon}_\theta$&#10;&#10;&#10;\end{document}" title="IguanaTex Bitmap Display">
            <a:extLst>
              <a:ext uri="{FF2B5EF4-FFF2-40B4-BE49-F238E27FC236}">
                <a16:creationId xmlns:a16="http://schemas.microsoft.com/office/drawing/2014/main" id="{1410B055-09D6-2936-2AF9-AB5EA31C332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132674" y="3027934"/>
            <a:ext cx="228600" cy="182880"/>
          </a:xfrm>
          <a:prstGeom prst="rect">
            <a:avLst/>
          </a:prstGeom>
        </p:spPr>
      </p:pic>
      <p:cxnSp>
        <p:nvCxnSpPr>
          <p:cNvPr id="24" name="Gerade Verbindung 23">
            <a:extLst>
              <a:ext uri="{FF2B5EF4-FFF2-40B4-BE49-F238E27FC236}">
                <a16:creationId xmlns:a16="http://schemas.microsoft.com/office/drawing/2014/main" id="{1383D22A-6CEA-DB90-EBAC-806E82FC5E8E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1668608" y="881353"/>
            <a:ext cx="5592348" cy="21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5ADDF3D8-98C5-503C-90B0-BD6C860A63D9}"/>
              </a:ext>
            </a:extLst>
          </p:cNvPr>
          <p:cNvCxnSpPr>
            <a:cxnSpLocks/>
          </p:cNvCxnSpPr>
          <p:nvPr/>
        </p:nvCxnSpPr>
        <p:spPr>
          <a:xfrm>
            <a:off x="7260956" y="881353"/>
            <a:ext cx="0" cy="4512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C11091DB-49C3-4F52-557B-BEBB55C45B14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260956" y="2074156"/>
            <a:ext cx="1516" cy="6447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7B25DA65-EBD9-3FEA-6917-D4829A97DA1F}"/>
              </a:ext>
            </a:extLst>
          </p:cNvPr>
          <p:cNvCxnSpPr>
            <a:cxnSpLocks/>
          </p:cNvCxnSpPr>
          <p:nvPr/>
        </p:nvCxnSpPr>
        <p:spPr>
          <a:xfrm>
            <a:off x="2696939" y="1699200"/>
            <a:ext cx="515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 Verbindung 34">
            <a:extLst>
              <a:ext uri="{FF2B5EF4-FFF2-40B4-BE49-F238E27FC236}">
                <a16:creationId xmlns:a16="http://schemas.microsoft.com/office/drawing/2014/main" id="{66727121-40B1-B75C-0BDF-C88EDB909F6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108538" y="1039764"/>
            <a:ext cx="0" cy="31722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7689665E-C271-5931-A48C-1E25132309E0}"/>
              </a:ext>
            </a:extLst>
          </p:cNvPr>
          <p:cNvCxnSpPr>
            <a:cxnSpLocks/>
          </p:cNvCxnSpPr>
          <p:nvPr/>
        </p:nvCxnSpPr>
        <p:spPr>
          <a:xfrm flipV="1">
            <a:off x="1108538" y="4212000"/>
            <a:ext cx="12007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 Verbindung 39">
            <a:extLst>
              <a:ext uri="{FF2B5EF4-FFF2-40B4-BE49-F238E27FC236}">
                <a16:creationId xmlns:a16="http://schemas.microsoft.com/office/drawing/2014/main" id="{2207A865-F772-6D59-F249-4FA0FEF4F446}"/>
              </a:ext>
            </a:extLst>
          </p:cNvPr>
          <p:cNvCxnSpPr>
            <a:cxnSpLocks/>
            <a:stCxn id="21" idx="4"/>
          </p:cNvCxnSpPr>
          <p:nvPr/>
        </p:nvCxnSpPr>
        <p:spPr>
          <a:xfrm flipH="1">
            <a:off x="7260956" y="3460480"/>
            <a:ext cx="1516" cy="62012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AD2C06B0-70D3-D8CB-FB6B-9812D322BAB9}"/>
              </a:ext>
            </a:extLst>
          </p:cNvPr>
          <p:cNvCxnSpPr>
            <a:cxnSpLocks/>
            <a:endCxn id="20" idx="3"/>
          </p:cNvCxnSpPr>
          <p:nvPr/>
        </p:nvCxnSpPr>
        <p:spPr>
          <a:xfrm flipH="1">
            <a:off x="6331058" y="4080604"/>
            <a:ext cx="92989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 Verbindung 48">
            <a:extLst>
              <a:ext uri="{FF2B5EF4-FFF2-40B4-BE49-F238E27FC236}">
                <a16:creationId xmlns:a16="http://schemas.microsoft.com/office/drawing/2014/main" id="{15437C52-1B5C-A5A1-A680-FC7ABF051E54}"/>
              </a:ext>
            </a:extLst>
          </p:cNvPr>
          <p:cNvCxnSpPr>
            <a:cxnSpLocks/>
          </p:cNvCxnSpPr>
          <p:nvPr/>
        </p:nvCxnSpPr>
        <p:spPr>
          <a:xfrm>
            <a:off x="2628340" y="2934704"/>
            <a:ext cx="205902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9A240164-EF1E-DB6F-22A4-708C07DA8710}"/>
              </a:ext>
            </a:extLst>
          </p:cNvPr>
          <p:cNvCxnSpPr>
            <a:endCxn id="19" idx="2"/>
          </p:cNvCxnSpPr>
          <p:nvPr/>
        </p:nvCxnSpPr>
        <p:spPr>
          <a:xfrm flipV="1">
            <a:off x="4692621" y="1992935"/>
            <a:ext cx="0" cy="9597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 Verbindung 52">
            <a:extLst>
              <a:ext uri="{FF2B5EF4-FFF2-40B4-BE49-F238E27FC236}">
                <a16:creationId xmlns:a16="http://schemas.microsoft.com/office/drawing/2014/main" id="{DD5500B5-A9D4-3CC2-757C-7BF6B4F6BC0E}"/>
              </a:ext>
            </a:extLst>
          </p:cNvPr>
          <p:cNvCxnSpPr>
            <a:cxnSpLocks/>
          </p:cNvCxnSpPr>
          <p:nvPr/>
        </p:nvCxnSpPr>
        <p:spPr>
          <a:xfrm>
            <a:off x="2033980" y="3071864"/>
            <a:ext cx="0" cy="9097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0B43E198-9517-D888-8002-66DB03EF3753}"/>
              </a:ext>
            </a:extLst>
          </p:cNvPr>
          <p:cNvCxnSpPr/>
          <p:nvPr/>
        </p:nvCxnSpPr>
        <p:spPr>
          <a:xfrm>
            <a:off x="2033980" y="3981600"/>
            <a:ext cx="2752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Grafik 2" descr="\documentclass{article}&#10;\usepackage{amsmath}&#10;\pagestyle{empty}&#10;\begin{document}&#10;&#10;&#10;$\mathcal{L}_{\text{DDPM}}  =| \boldsymbol{\epsilon}_\theta(x_t, t) - \boldsymbol{\epsilon}_t |_2^2 $&#13;&#10;&#10;&#10;\end{document}" title="IguanaTex Bitmap Display">
            <a:extLst>
              <a:ext uri="{FF2B5EF4-FFF2-40B4-BE49-F238E27FC236}">
                <a16:creationId xmlns:a16="http://schemas.microsoft.com/office/drawing/2014/main" id="{55EE5C01-58C5-0601-F56A-83FA53493DE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3051423" y="3946156"/>
            <a:ext cx="2537460" cy="279983"/>
          </a:xfrm>
          <a:prstGeom prst="rect">
            <a:avLst/>
          </a:prstGeom>
        </p:spPr>
      </p:pic>
      <p:pic>
        <p:nvPicPr>
          <p:cNvPr id="5" name="Grafik 4" descr="\documentclass{article}&#10;\usepackage{amsmath}&#10;\pagestyle{empty}&#10;\begin{document}&#10;&#10;&#10;$\mathbf{x}_0 \sim p_\text{data}$&#13;&#10;&#10;&#10;\end{document}" title="IguanaTex Bitmap Display">
            <a:extLst>
              <a:ext uri="{FF2B5EF4-FFF2-40B4-BE49-F238E27FC236}">
                <a16:creationId xmlns:a16="http://schemas.microsoft.com/office/drawing/2014/main" id="{6CA4AFDE-C99C-1BF6-8D10-62D4C919939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592857" y="1605600"/>
            <a:ext cx="1051560" cy="182880"/>
          </a:xfrm>
          <a:prstGeom prst="rect">
            <a:avLst/>
          </a:prstGeom>
        </p:spPr>
      </p:pic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AB7FD5BC-E4F7-3D2B-9971-DD0C9D87C1BC}"/>
              </a:ext>
            </a:extLst>
          </p:cNvPr>
          <p:cNvCxnSpPr>
            <a:cxnSpLocks/>
          </p:cNvCxnSpPr>
          <p:nvPr/>
        </p:nvCxnSpPr>
        <p:spPr>
          <a:xfrm>
            <a:off x="6172709" y="1694058"/>
            <a:ext cx="623298" cy="92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Grafik 3" descr="\documentclass{article}&#10;\usepackage{amsmath}&#10;\pagestyle{empty}&#10;\begin{document}&#10;&#10;&#10;$\boldsymbol{\epsilon} \sim \mathcal{N}(\mathbf{0}, \mathbf{I})$&#10;&#10;\end{document}" title="IguanaTex Bitmap Display">
            <a:extLst>
              <a:ext uri="{FF2B5EF4-FFF2-40B4-BE49-F238E27FC236}">
                <a16:creationId xmlns:a16="http://schemas.microsoft.com/office/drawing/2014/main" id="{10002449-7AE2-76DC-F816-A546CB30BC4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299920" y="2759444"/>
            <a:ext cx="1295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31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29E6B5-354C-CA3E-EDB5-05418301A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Inhaltsplatzhalter 8" descr="Ein Bild, das Text, Screenshot, Entwurf, Diagramm enthält.&#10;&#10;KI-generierte Inhalte können fehlerhaft sein.">
            <a:extLst>
              <a:ext uri="{FF2B5EF4-FFF2-40B4-BE49-F238E27FC236}">
                <a16:creationId xmlns:a16="http://schemas.microsoft.com/office/drawing/2014/main" id="{FF5CE4B6-76A8-D295-C455-C596244EDF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7550" y="2070894"/>
            <a:ext cx="3136900" cy="3860800"/>
          </a:xfrm>
        </p:spPr>
      </p:pic>
      <p:pic>
        <p:nvPicPr>
          <p:cNvPr id="11" name="Grafik 10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F191394A-66FE-D28C-7175-71098D842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138" y="2915728"/>
            <a:ext cx="1447800" cy="74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04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Grafiken, Grafikdesign, Kunst, Kreativität enthält.&#10;&#10;KI-generierte Inhalte können fehlerhaft sein.">
            <a:extLst>
              <a:ext uri="{FF2B5EF4-FFF2-40B4-BE49-F238E27FC236}">
                <a16:creationId xmlns:a16="http://schemas.microsoft.com/office/drawing/2014/main" id="{8212713C-4EC0-CE21-D59F-8D7906B4B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3968750" y="2134394"/>
            <a:ext cx="4254500" cy="3733800"/>
          </a:xfrm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9FD3EBF-D718-CCFB-8711-A920F4756929}"/>
              </a:ext>
            </a:extLst>
          </p:cNvPr>
          <p:cNvGrpSpPr/>
          <p:nvPr/>
        </p:nvGrpSpPr>
        <p:grpSpPr>
          <a:xfrm>
            <a:off x="3763456" y="2037600"/>
            <a:ext cx="4636512" cy="3499933"/>
            <a:chOff x="3763456" y="2036618"/>
            <a:chExt cx="4636512" cy="3499933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F83B28CF-5258-887F-E046-A3F978CE420B}"/>
                </a:ext>
              </a:extLst>
            </p:cNvPr>
            <p:cNvGrpSpPr/>
            <p:nvPr/>
          </p:nvGrpSpPr>
          <p:grpSpPr>
            <a:xfrm>
              <a:off x="3763456" y="2036618"/>
              <a:ext cx="4636512" cy="1510940"/>
              <a:chOff x="3763456" y="2036618"/>
              <a:chExt cx="4636512" cy="1510940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BF66394F-1432-C971-89DB-57069C35D87D}"/>
                  </a:ext>
                </a:extLst>
              </p:cNvPr>
              <p:cNvGrpSpPr/>
              <p:nvPr/>
            </p:nvGrpSpPr>
            <p:grpSpPr>
              <a:xfrm>
                <a:off x="3763456" y="2036618"/>
                <a:ext cx="1255245" cy="1510940"/>
                <a:chOff x="3763456" y="2036618"/>
                <a:chExt cx="1255245" cy="1510940"/>
              </a:xfrm>
            </p:grpSpPr>
            <p:sp>
              <p:nvSpPr>
                <p:cNvPr id="7" name="Rechteck 6">
                  <a:extLst>
                    <a:ext uri="{FF2B5EF4-FFF2-40B4-BE49-F238E27FC236}">
                      <a16:creationId xmlns:a16="http://schemas.microsoft.com/office/drawing/2014/main" id="{5122D74F-A50B-C063-66F1-DB0321C73027}"/>
                    </a:ext>
                  </a:extLst>
                </p:cNvPr>
                <p:cNvSpPr/>
                <p:nvPr/>
              </p:nvSpPr>
              <p:spPr>
                <a:xfrm>
                  <a:off x="3763456" y="2840976"/>
                  <a:ext cx="1051431" cy="706582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grpSp>
              <p:nvGrpSpPr>
                <p:cNvPr id="11" name="Gruppieren 10">
                  <a:extLst>
                    <a:ext uri="{FF2B5EF4-FFF2-40B4-BE49-F238E27FC236}">
                      <a16:creationId xmlns:a16="http://schemas.microsoft.com/office/drawing/2014/main" id="{FD75AC5E-F0A8-4708-77BA-E5A7A56FD088}"/>
                    </a:ext>
                  </a:extLst>
                </p:cNvPr>
                <p:cNvGrpSpPr/>
                <p:nvPr/>
              </p:nvGrpSpPr>
              <p:grpSpPr>
                <a:xfrm>
                  <a:off x="4142509" y="2036618"/>
                  <a:ext cx="876192" cy="1388845"/>
                  <a:chOff x="4142509" y="2036618"/>
                  <a:chExt cx="876192" cy="1388845"/>
                </a:xfrm>
              </p:grpSpPr>
              <p:sp>
                <p:nvSpPr>
                  <p:cNvPr id="6" name="Rechteck 5">
                    <a:extLst>
                      <a:ext uri="{FF2B5EF4-FFF2-40B4-BE49-F238E27FC236}">
                        <a16:creationId xmlns:a16="http://schemas.microsoft.com/office/drawing/2014/main" id="{F7C01F53-3B44-886C-1137-7EFC3F936407}"/>
                      </a:ext>
                    </a:extLst>
                  </p:cNvPr>
                  <p:cNvSpPr/>
                  <p:nvPr/>
                </p:nvSpPr>
                <p:spPr>
                  <a:xfrm>
                    <a:off x="4142509" y="2036618"/>
                    <a:ext cx="700954" cy="706582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" name="Rechteck 7">
                    <a:extLst>
                      <a:ext uri="{FF2B5EF4-FFF2-40B4-BE49-F238E27FC236}">
                        <a16:creationId xmlns:a16="http://schemas.microsoft.com/office/drawing/2014/main" id="{3E5DE93F-8E2B-F4AA-CD92-5B7CCC82AD01}"/>
                      </a:ext>
                    </a:extLst>
                  </p:cNvPr>
                  <p:cNvSpPr/>
                  <p:nvPr/>
                </p:nvSpPr>
                <p:spPr>
                  <a:xfrm>
                    <a:off x="4317747" y="3011630"/>
                    <a:ext cx="700954" cy="413833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C3ECBA33-46E1-81B8-4735-5A60E2B70505}"/>
                  </a:ext>
                </a:extLst>
              </p:cNvPr>
              <p:cNvSpPr/>
              <p:nvPr/>
            </p:nvSpPr>
            <p:spPr>
              <a:xfrm>
                <a:off x="7699014" y="2148682"/>
                <a:ext cx="700954" cy="70658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CCDF4D8-01B0-DE66-162F-A88849419FA7}"/>
                </a:ext>
              </a:extLst>
            </p:cNvPr>
            <p:cNvSpPr/>
            <p:nvPr/>
          </p:nvSpPr>
          <p:spPr>
            <a:xfrm>
              <a:off x="7542212" y="4829969"/>
              <a:ext cx="700954" cy="70658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18" name="Grafik 17" descr="\documentclass{article}&#10;\usepackage{amsmath}&#10;\pagestyle{empty}&#10;\begin{document}&#10;&#10;&#10;$x_0$&#10;&#10;\end{document}" title="IguanaTex Bitmap Display">
            <a:extLst>
              <a:ext uri="{FF2B5EF4-FFF2-40B4-BE49-F238E27FC236}">
                <a16:creationId xmlns:a16="http://schemas.microsoft.com/office/drawing/2014/main" id="{70DF7975-C62D-90CF-0267-8219EFE025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17747" y="2282960"/>
            <a:ext cx="419100" cy="304800"/>
          </a:xfrm>
          <a:prstGeom prst="rect">
            <a:avLst/>
          </a:prstGeom>
        </p:spPr>
      </p:pic>
      <p:pic>
        <p:nvPicPr>
          <p:cNvPr id="22" name="Grafik 21" descr="\documentclass{article}&#10;\usepackage{amsmath}&#10;\pagestyle{empty}&#10;\begin{document}&#10;&#10;$(x_0')$&#10;&#10;&#10;\end{document}" title="IguanaTex Bitmap Display">
            <a:extLst>
              <a:ext uri="{FF2B5EF4-FFF2-40B4-BE49-F238E27FC236}">
                <a16:creationId xmlns:a16="http://schemas.microsoft.com/office/drawing/2014/main" id="{94A58750-DA1F-2A94-0B9C-9A1DD88FAE7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118154" y="2729706"/>
            <a:ext cx="685800" cy="457200"/>
          </a:xfrm>
          <a:prstGeom prst="rect">
            <a:avLst/>
          </a:prstGeom>
        </p:spPr>
      </p:pic>
      <p:pic>
        <p:nvPicPr>
          <p:cNvPr id="24" name="Grafik 23" descr="\documentclass{article}&#10;\usepackage{amsmath}&#10;\pagestyle{empty}&#10;\begin{document}&#10;&#10;&#10;$x_1'$&#10;&#10;\end{document}" title="IguanaTex Bitmap Display">
            <a:extLst>
              <a:ext uri="{FF2B5EF4-FFF2-40B4-BE49-F238E27FC236}">
                <a16:creationId xmlns:a16="http://schemas.microsoft.com/office/drawing/2014/main" id="{1B377EE2-7206-3653-8D4F-850883C0CD7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7689600" y="2282960"/>
            <a:ext cx="419100" cy="457200"/>
          </a:xfrm>
          <a:prstGeom prst="rect">
            <a:avLst/>
          </a:prstGeom>
        </p:spPr>
      </p:pic>
      <p:pic>
        <p:nvPicPr>
          <p:cNvPr id="26" name="Grafik 25" descr="\documentclass{article}&#10;\usepackage{amsmath}&#10;\pagestyle{empty}&#10;\begin{document}&#10;&#10;&#10;$x_1$&#10;&#10;\end{document}" title="IguanaTex Bitmap Display">
            <a:extLst>
              <a:ext uri="{FF2B5EF4-FFF2-40B4-BE49-F238E27FC236}">
                <a16:creationId xmlns:a16="http://schemas.microsoft.com/office/drawing/2014/main" id="{9734DB76-2741-73BE-AC16-0C7C74DC771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689600" y="5660981"/>
            <a:ext cx="4191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7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A3B93-6BB0-5A83-71EA-88A41131E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D9CD2C8-6764-C0E8-632C-36578357F0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968750" y="2134394"/>
            <a:ext cx="4254500" cy="3733800"/>
          </a:xfrm>
        </p:spPr>
      </p:pic>
    </p:spTree>
    <p:extLst>
      <p:ext uri="{BB962C8B-B14F-4D97-AF65-F5344CB8AC3E}">
        <p14:creationId xmlns:p14="http://schemas.microsoft.com/office/powerpoint/2010/main" val="3652069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979B-4BFF-371C-CB19-DA2737A32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4E6149CA-1896-62FB-5F6C-BFE624EBBA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968750" y="2134394"/>
            <a:ext cx="4254500" cy="3733800"/>
          </a:xfrm>
        </p:spPr>
      </p:pic>
    </p:spTree>
    <p:extLst>
      <p:ext uri="{BB962C8B-B14F-4D97-AF65-F5344CB8AC3E}">
        <p14:creationId xmlns:p14="http://schemas.microsoft.com/office/powerpoint/2010/main" val="3673439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42B05-D42C-AA64-46FE-2ADD2A1F8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105E042E-211A-D92F-1247-8033BA882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968750" y="2134394"/>
            <a:ext cx="4254500" cy="3733800"/>
          </a:xfrm>
        </p:spPr>
      </p:pic>
    </p:spTree>
    <p:extLst>
      <p:ext uri="{BB962C8B-B14F-4D97-AF65-F5344CB8AC3E}">
        <p14:creationId xmlns:p14="http://schemas.microsoft.com/office/powerpoint/2010/main" val="1065389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8D2C9-1F29-BCF9-AFE1-D0C35BB68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4F96A03-4255-4B1C-D439-4D95B6AD2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968750" y="2134394"/>
            <a:ext cx="4254500" cy="3733800"/>
          </a:xfrm>
        </p:spPr>
      </p:pic>
      <p:pic>
        <p:nvPicPr>
          <p:cNvPr id="2" name="Inhaltsplatzhalter 4">
            <a:extLst>
              <a:ext uri="{FF2B5EF4-FFF2-40B4-BE49-F238E27FC236}">
                <a16:creationId xmlns:a16="http://schemas.microsoft.com/office/drawing/2014/main" id="{58BE7AEE-E5FD-43DD-FF29-F5DC483632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21150" y="2286794"/>
            <a:ext cx="42545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00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BD087-C4CE-048E-DA14-E8C04ACA6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0AE10DD7-F0D8-499E-6165-645B2EF1C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rcRect/>
          <a:stretch/>
        </p:blipFill>
        <p:spPr>
          <a:xfrm>
            <a:off x="3968750" y="2134394"/>
            <a:ext cx="4254500" cy="3733800"/>
          </a:xfr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4D716090-CF2F-1EFD-7CBA-E4211D81C41B}"/>
              </a:ext>
            </a:extLst>
          </p:cNvPr>
          <p:cNvSpPr/>
          <p:nvPr/>
        </p:nvSpPr>
        <p:spPr>
          <a:xfrm>
            <a:off x="4929188" y="2328863"/>
            <a:ext cx="514350" cy="6143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8BA5372-6F8E-F26C-4B10-6C0D823BC794}"/>
              </a:ext>
            </a:extLst>
          </p:cNvPr>
          <p:cNvSpPr/>
          <p:nvPr/>
        </p:nvSpPr>
        <p:spPr>
          <a:xfrm>
            <a:off x="6967538" y="2328863"/>
            <a:ext cx="514350" cy="6143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1ACC4E7-36F7-E046-4E90-1188E998BF9B}"/>
              </a:ext>
            </a:extLst>
          </p:cNvPr>
          <p:cNvSpPr/>
          <p:nvPr/>
        </p:nvSpPr>
        <p:spPr>
          <a:xfrm>
            <a:off x="5453057" y="3429000"/>
            <a:ext cx="2347917" cy="6143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FC8C8445-281E-7E36-6B8C-E01183D5992F}"/>
              </a:ext>
            </a:extLst>
          </p:cNvPr>
          <p:cNvSpPr/>
          <p:nvPr/>
        </p:nvSpPr>
        <p:spPr>
          <a:xfrm>
            <a:off x="5453057" y="5030787"/>
            <a:ext cx="2347917" cy="837407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1AF29DA-02A5-1E8B-206E-90790718EFC2}"/>
              </a:ext>
            </a:extLst>
          </p:cNvPr>
          <p:cNvSpPr/>
          <p:nvPr/>
        </p:nvSpPr>
        <p:spPr>
          <a:xfrm>
            <a:off x="5443538" y="4489449"/>
            <a:ext cx="2347917" cy="6143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" name="Grafik 18" descr="\documentclass{article}&#10;\usepackage{amsmath}&#10;\pagestyle{empty}&#10;\begin{document}&#10;&#10;&#10;$\pi_0$&#10;&#10;\end{document}" title="IguanaTex Bitmap Display">
            <a:extLst>
              <a:ext uri="{FF2B5EF4-FFF2-40B4-BE49-F238E27FC236}">
                <a16:creationId xmlns:a16="http://schemas.microsoft.com/office/drawing/2014/main" id="{B336F98B-1271-2DBF-2572-FB38FD8BC58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929188" y="2483644"/>
            <a:ext cx="419100" cy="304800"/>
          </a:xfrm>
          <a:prstGeom prst="rect">
            <a:avLst/>
          </a:prstGeom>
        </p:spPr>
      </p:pic>
      <p:pic>
        <p:nvPicPr>
          <p:cNvPr id="21" name="Grafik 20" descr="\documentclass{article}&#10;\usepackage{amsmath}&#10;\pagestyle{empty}&#10;\begin{document}&#10;&#10;$\pi_1$&#10;&#10;&#10;\end{document}" title="IguanaTex Bitmap Display">
            <a:extLst>
              <a:ext uri="{FF2B5EF4-FFF2-40B4-BE49-F238E27FC236}">
                <a16:creationId xmlns:a16="http://schemas.microsoft.com/office/drawing/2014/main" id="{DEAA06ED-CD37-80DB-686E-3BCED84189F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6972307" y="2483644"/>
            <a:ext cx="419100" cy="304800"/>
          </a:xfrm>
          <a:prstGeom prst="rect">
            <a:avLst/>
          </a:prstGeom>
        </p:spPr>
      </p:pic>
      <p:pic>
        <p:nvPicPr>
          <p:cNvPr id="25" name="Grafik 24" descr="\documentclass{article}&#10;\usepackage{amsmath}&#10;\pagestyle{empty}&#10;\begin{document}&#10;&#10;&#10;Rectified Flow&#10;&#10;\end{document}" title="IguanaTex Bitmap Display">
            <a:extLst>
              <a:ext uri="{FF2B5EF4-FFF2-40B4-BE49-F238E27FC236}">
                <a16:creationId xmlns:a16="http://schemas.microsoft.com/office/drawing/2014/main" id="{DCAF1100-7B86-DBD2-D95B-B20AECA8852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73712" y="3612353"/>
            <a:ext cx="2438400" cy="342900"/>
          </a:xfrm>
          <a:prstGeom prst="rect">
            <a:avLst/>
          </a:prstGeom>
        </p:spPr>
      </p:pic>
      <p:pic>
        <p:nvPicPr>
          <p:cNvPr id="28" name="Grafik 27" descr="\documentclass{article}&#10;\usepackage{amsmath}&#10;\pagestyle{empty}&#10;\begin{document}&#10;&#10;&#10;Linear \\&#10;Interpolation&#10;&#10;\end{document}" title="IguanaTex Bitmap Display">
            <a:extLst>
              <a:ext uri="{FF2B5EF4-FFF2-40B4-BE49-F238E27FC236}">
                <a16:creationId xmlns:a16="http://schemas.microsoft.com/office/drawing/2014/main" id="{826CF716-F4B2-14FB-7309-3484BE9ED84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522115" y="4597799"/>
            <a:ext cx="22098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893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"/>
  <p:tag name="ORIGINALWIDTH" val="193"/>
  <p:tag name="OUTPUTTYPE" val="PDF"/>
  <p:tag name="IGUANATEXVERSION" val="160"/>
  <p:tag name="LATEXADDIN" val="\documentclass{article}&#10;\usepackage{amsmath}&#10;\pagestyle{empty}&#10;\begin{document}&#10;&#10;$x_{T-1} = \frac{1}{\sqrt{\alpha_T}} \left( x_T - \frac{1 - \alpha_T}{\sqrt{1 - \bar{\alpha}_T}} \epsilon_\theta(x_T, T) \right) + \sigma_T z$&#10;&#10;&#10;\end{document}"/>
  <p:tag name="IGUANATEXSIZE" val="20"/>
  <p:tag name="IGUANATEXCURSOR" val="81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58"/>
  <p:tag name="OUTPUTTYPE" val="PDF"/>
  <p:tag name="IGUANATEXVERSION" val="160"/>
  <p:tag name="LATEXADDIN" val="\documentclass{article}&#10;\usepackage{amsmath}&#10;\pagestyle{empty}&#10;\begin{document}&#10;&#10;&#10;$x_T \sim \mathcal{N}(0,1)$&#10;&#10;\end{document}"/>
  <p:tag name="IGUANATEXSIZE" val="12"/>
  <p:tag name="IGUANATEXCURSOR" val="109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9"/>
  <p:tag name="OUTPUTTYPE" val="PDF"/>
  <p:tag name="IGUANATEXVERSION" val="160"/>
  <p:tag name="LATEXADDIN" val="\documentclass{article}&#10;\usepackage{amsmath}&#10;\pagestyle{empty}&#10;\begin{document}&#10;&#10;&#10;$\epsilon_\theta$&#10;&#10;\end{document}"/>
  <p:tag name="IGUANATEXSIZE" val="20"/>
  <p:tag name="IGUANATEXCURSOR" val="99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"/>
  <p:tag name="ORIGINALWIDTH" val="162"/>
  <p:tag name="OUTPUTTYPE" val="PDF"/>
  <p:tag name="IGUANATEXVERSION" val="160"/>
  <p:tag name="LATEXADDIN" val="\documentclass{article}&#10;\usepackage{amsmath}&#10;\pagestyle{empty}&#10;\begin{document}&#10;&#10;$x_{T-1} = \frac{1}{\sqrt{\alpha_T}} \left( x_T - \frac{1 - \alpha_T}{\sqrt{1 - \bar{\alpha}_T}} \epsilon_\theta \right) + \sigma_T z$&#10;&#10;&#10;\end{document}"/>
  <p:tag name="IGUANATEXSIZE" val="12"/>
  <p:tag name="IGUANATEXCURSOR" val="81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42"/>
  <p:tag name="OUTPUTTYPE" val="PDF"/>
  <p:tag name="IGUANATEXVERSION" val="160"/>
  <p:tag name="LATEXADDIN" val="\documentclass{article}&#10;\usepackage{amsmath}&#10;\pagestyle{empty}&#10;\begin{document}&#10;&#10;$t=T-1$&#10;&#10;&#10;\end{document}"/>
  <p:tag name="IGUANATEXSIZE" val="12"/>
  <p:tag name="IGUANATEXCURSOR" val="88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26"/>
  <p:tag name="OUTPUTTYPE" val="PDF"/>
  <p:tag name="IGUANATEXVERSION" val="160"/>
  <p:tag name="LATEXADDIN" val="\documentclass{article}&#10;\usepackage{amsmath}&#10;\pagestyle{empty}&#10;\begin{document}&#10;&#10;&#10;$t=T$&#10;&#10;\end{document}"/>
  <p:tag name="IGUANATEXSIZE" val="12"/>
  <p:tag name="IGUANATEXCURSOR" val="87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9"/>
  <p:tag name="OUTPUTTYPE" val="PDF"/>
  <p:tag name="IGUANATEXVERSION" val="160"/>
  <p:tag name="LATEXADDIN" val="\documentclass{article}&#10;\usepackage{amsmath}&#10;\pagestyle{empty}&#10;\begin{document}&#10;&#10;&#10;$\epsilon_\theta$&#10;&#10;\end{document}"/>
  <p:tag name="IGUANATEXSIZE" val="20"/>
  <p:tag name="IGUANATEXCURSOR" val="99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"/>
  <p:tag name="ORIGINALWIDTH" val="143"/>
  <p:tag name="OUTPUTTYPE" val="PDF"/>
  <p:tag name="IGUANATEXVERSION" val="160"/>
  <p:tag name="LATEXADDIN" val="\documentclass{article}&#10;\usepackage{amsmath}&#10;\pagestyle{empty}&#10;\begin{document}&#10;&#10;&#10;$x_{1} = \frac{1}{\sqrt{\alpha_2}} \left( x_2 - \frac{1 - \alpha_2}{\sqrt{1 - \bar{\alpha}_2}} \epsilon_\theta \right) + \sigma_2 z$&#13;&#10;&#10;&#10;\end{document}"/>
  <p:tag name="IGUANATEXSIZE" val="12"/>
  <p:tag name="IGUANATEXCURSOR" val="211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9"/>
  <p:tag name="OUTPUTTYPE" val="PDF"/>
  <p:tag name="IGUANATEXVERSION" val="160"/>
  <p:tag name="LATEXADDIN" val="\documentclass{article}&#10;\usepackage{amsmath}&#10;\pagestyle{empty}&#10;\begin{document}&#10;&#10;&#10;$\epsilon_\theta$&#10;&#10;\end{document}"/>
  <p:tag name="IGUANATEXSIZE" val="20"/>
  <p:tag name="IGUANATEXCURSOR" val="99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23"/>
  <p:tag name="OUTPUTTYPE" val="PDF"/>
  <p:tag name="IGUANATEXVERSION" val="160"/>
  <p:tag name="LATEXADDIN" val="\documentclass{article}&#10;\usepackage{amsmath}&#10;\pagestyle{empty}&#10;\begin{document}&#10;&#10;&#10;$t=1$&#10;&#10;\end{document}"/>
  <p:tag name="IGUANATEXSIZE" val="12"/>
  <p:tag name="IGUANATEXCURSOR" val="87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"/>
  <p:tag name="ORIGINALWIDTH" val="114"/>
  <p:tag name="OUTPUTTYPE" val="PDF"/>
  <p:tag name="IGUANATEXVERSION" val="160"/>
  <p:tag name="LATEXADDIN" val="\documentclass{article}&#10;\usepackage{amsmath}&#10;\pagestyle{empty}&#10;\begin{document}&#10;&#10;&#10;$x_{0} = \frac{1}{\sqrt{\alpha_1}} \left( x_1 - \frac{1 - \alpha_1}{\sqrt{1 - \bar{\alpha}_1}} \epsilon_\theta \right)$&#13;&#10;&#10;&#10;\end{document}"/>
  <p:tag name="IGUANATEXSIZE" val="12"/>
  <p:tag name="IGUANATEXCURSOR" val="200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"/>
  <p:tag name="ORIGINALWIDTH" val="193"/>
  <p:tag name="OUTPUTTYPE" val="PDF"/>
  <p:tag name="IGUANATEXVERSION" val="160"/>
  <p:tag name="LATEXADDIN" val="\documentclass{article}&#10;\usepackage{amsmath}&#10;\pagestyle{empty}&#10;\begin{document}&#10;&#10;$x_{T-1} = \frac{1}{\sqrt{\alpha_T}} \left( x_T - \frac{1 - \alpha_T}{\sqrt{1 - \bar{\alpha}_T}} \epsilon_\theta(x_T, T) \right) + \sigma_T z$&#10;&#10;&#10;\end{document}"/>
  <p:tag name="IGUANATEXSIZE" val="20"/>
  <p:tag name="IGUANATEXCURSOR" val="81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26"/>
  <p:tag name="OUTPUTTYPE" val="PDF"/>
  <p:tag name="IGUANATEXVERSION" val="160"/>
  <p:tag name="LATEXADDIN" val="\documentclass{article}&#10;\usepackage{amsmath}&#10;\pagestyle{empty}&#10;\begin{document}&#10;&#10;$t=T$&#10;&#10;&#10;\end{document}"/>
  <p:tag name="IGUANATEXSIZE" val="18"/>
  <p:tag name="IGUANATEXCURSOR" val="8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42"/>
  <p:tag name="OUTPUTTYPE" val="PDF"/>
  <p:tag name="IGUANATEXVERSION" val="160"/>
  <p:tag name="LATEXADDIN" val="\documentclass{article}&#10;\usepackage{amsmath}&#10;\pagestyle{empty}&#10;\begin{document}&#10;&#10;&#10;$t=T-1$&#10;&#10;\end{document}"/>
  <p:tag name="IGUANATEXSIZE" val="18"/>
  <p:tag name="IGUANATEXCURSOR" val="89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23"/>
  <p:tag name="OUTPUTTYPE" val="PDF"/>
  <p:tag name="IGUANATEXVERSION" val="160"/>
  <p:tag name="LATEXADDIN" val="\documentclass{article}&#10;\usepackage{amsmath}&#10;\pagestyle{empty}&#10;\begin{document}&#10;&#10;&#10;$t=1$&#10;&#10;\end{document}"/>
  <p:tag name="IGUANATEXSIZE" val="18"/>
  <p:tag name="IGUANATEXCURSOR" val="87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58"/>
  <p:tag name="OUTPUTTYPE" val="PDF"/>
  <p:tag name="IGUANATEXVERSION" val="160"/>
  <p:tag name="LATEXADDIN" val="\documentclass{article}&#10;\usepackage{amsmath}&#10;\pagestyle{empty}&#10;\begin{document}&#10;&#10;$\mathbf{x}_T \sim \mathcal{N}(\mathbf{0},\mathbf{I})$&#10;&#10;&#10;\end{document}"/>
  <p:tag name="IGUANATEXSIZE" val="18"/>
  <p:tag name="IGUANATEXCURSOR" val="81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"/>
  <p:tag name="ORIGINALWIDTH" val="163"/>
  <p:tag name="OUTPUTTYPE" val="PDF"/>
  <p:tag name="IGUANATEXVERSION" val="160"/>
  <p:tag name="LATEXADDIN" val="\documentclass{article}&#10;\usepackage{amsmath}&#10;\pagestyle{empty}&#10;\begin{document}&#10;&#10;&#10;$\mathbf{x}_{T-1} = \frac{1}{\sqrt{\alpha_T}} \left( \mathbf{x}_T - \frac{1 - \alpha_T}{\sqrt{1 - \bar{\alpha}_T}} \boldsymbol {\epsilon}_\theta \right) + \sigma_T \mathbf{z}$&#13;&#10;&#10;&#10;\end{document}"/>
  <p:tag name="IGUANATEXSIZE" val="18"/>
  <p:tag name="IGUANATEXCURSOR" val="259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"/>
  <p:tag name="ORIGINALWIDTH" val="144"/>
  <p:tag name="OUTPUTTYPE" val="PDF"/>
  <p:tag name="IGUANATEXVERSION" val="160"/>
  <p:tag name="LATEXADDIN" val="\documentclass{article}&#10;\usepackage{amsmath}&#10;\pagestyle{empty}&#10;\begin{document}&#10;&#10;$\mathbf{x}_{1} = \frac{1}{\sqrt{\alpha_2}} \left( \mathbf{x}_2 - \frac{1 - \alpha_2}{\sqrt{1 - \bar{\alpha}_2}} \boldsymbol {\epsilon}_\theta \right) + \sigma_2 \mathbf{z}$&#13;&#10;&#10;&#10;&#10;\end{document}"/>
  <p:tag name="IGUANATEXSIZE" val="18"/>
  <p:tag name="IGUANATEXCURSOR" val="242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"/>
  <p:tag name="ORIGINALWIDTH" val="116"/>
  <p:tag name="OUTPUTTYPE" val="PDF"/>
  <p:tag name="IGUANATEXVERSION" val="160"/>
  <p:tag name="LATEXADDIN" val="\documentclass{article}&#10;\usepackage{amsmath}&#10;\pagestyle{empty}&#10;\begin{document}&#10;&#10;$\mathbf{x}_{0} = \frac{1}{\sqrt{\alpha_1}} \left( \mathbf{x}_1 - \frac{1 - \alpha_1}{\sqrt{1 - \bar{\alpha}_1}} \boldsymbol {\epsilon}_\theta \right)$&#13;&#10;&#10;&#10;&#10;\end{document}"/>
  <p:tag name="IGUANATEXSIZE" val="18"/>
  <p:tag name="IGUANATEXCURSOR" val="9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51"/>
  <p:tag name="OUTPUTTYPE" val="PDF"/>
  <p:tag name="IGUANATEXVERSION" val="160"/>
  <p:tag name="LATEXADDIN" val="\documentclass{article}&#10;\usepackage{amsmath}&#10;\pagestyle{empty}&#10;\begin{document}&#10;&#10;&#10;$\mathbf{z} \sim \mathcal{N}(\mathbf{0},\mathbf{I})$&#13;&#10;&#10;&#10;\end{document}"/>
  <p:tag name="IGUANATEXSIZE" val="18"/>
  <p:tag name="IGUANATEXCURSOR" val="92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51"/>
  <p:tag name="OUTPUTTYPE" val="PDF"/>
  <p:tag name="IGUANATEXVERSION" val="160"/>
  <p:tag name="LATEXADDIN" val="\documentclass{article}&#10;\usepackage{amsmath}&#10;\pagestyle{empty}&#10;\begin{document}&#10;&#10;&#10;$\mathbf{z} \sim \mathcal{N}(\mathbf{0},\mathbf{I})$&#13;&#10;&#10;&#10;\end{document}"/>
  <p:tag name="IGUANATEXSIZE" val="18"/>
  <p:tag name="IGUANATEXCURSOR" val="92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33"/>
  <p:tag name="OUTPUTTYPE" val="PDF"/>
  <p:tag name="IGUANATEXVERSION" val="160"/>
  <p:tag name="LATEXADDIN" val="\documentclass{article}&#10;\usepackage{amsmath}&#10;\pagestyle{empty}&#10;\begin{document}&#10;&#10;&#10;$\text{DDPM}$&#10;&#10;\end{document}"/>
  <p:tag name="IGUANATEXSIZE" val="18"/>
  <p:tag name="IGUANATEXCURSOR" val="9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33"/>
  <p:tag name="OUTPUTTYPE" val="PDF"/>
  <p:tag name="IGUANATEXVERSION" val="160"/>
  <p:tag name="LATEXADDIN" val="\documentclass{article}&#10;\usepackage{amsmath}&#10;\pagestyle{empty}&#10;\begin{document}&#10;&#10;&#10;$\text{DDPM}$&#10;&#10;\end{document}"/>
  <p:tag name="IGUANATEXSIZE" val="18"/>
  <p:tag name="IGUANATEXCURSOR" val="9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33"/>
  <p:tag name="OUTPUTTYPE" val="PDF"/>
  <p:tag name="IGUANATEXVERSION" val="160"/>
  <p:tag name="LATEXADDIN" val="\documentclass{article}&#10;\usepackage{amsmath}&#10;\pagestyle{empty}&#10;\begin{document}&#10;&#10;&#10;$\text{DDPM}$&#10;&#10;\end{document}"/>
  <p:tag name="IGUANATEXSIZE" val="18"/>
  <p:tag name="IGUANATEXCURSOR" val="9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0"/>
  <p:tag name="OUTPUTTYPE" val="PDF"/>
  <p:tag name="IGUANATEXVERSION" val="160"/>
  <p:tag name="LATEXADDIN" val="\documentclass{article}&#10;\usepackage{amsmath}&#10;\pagestyle{empty}&#10;\begin{document}&#10;&#10;&#10;$\boldsymbol{\epsilon}_\theta$&#10;&#10;&#10;\end{document}"/>
  <p:tag name="IGUANATEXSIZE" val="18"/>
  <p:tag name="IGUANATEXCURSOR" val="94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0"/>
  <p:tag name="OUTPUTTYPE" val="PDF"/>
  <p:tag name="IGUANATEXVERSION" val="160"/>
  <p:tag name="LATEXADDIN" val="\documentclass{article}&#10;\usepackage{amsmath}&#10;\pagestyle{empty}&#10;\begin{document}&#10;&#10;&#10;$\boldsymbol{\epsilon}_\theta$&#10;&#10;&#10;\end{document}"/>
  <p:tag name="IGUANATEXSIZE" val="18"/>
  <p:tag name="IGUANATEXCURSOR" val="94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0"/>
  <p:tag name="OUTPUTTYPE" val="PDF"/>
  <p:tag name="IGUANATEXVERSION" val="160"/>
  <p:tag name="LATEXADDIN" val="\documentclass{article}&#10;\usepackage{amsmath}&#10;\pagestyle{empty}&#10;\begin{document}&#10;&#10;&#10;$\boldsymbol{\epsilon}_\theta$&#10;&#10;&#10;\end{document}"/>
  <p:tag name="IGUANATEXSIZE" val="18"/>
  <p:tag name="IGUANATEXCURSOR" val="94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49"/>
  <p:tag name="OUTPUTTYPE" val="PDF"/>
  <p:tag name="IGUANATEXVERSION" val="160"/>
  <p:tag name="LATEXADDIN" val="\documentclass{article}&#10;\usepackage{amsmath}&#10;\pagestyle{empty}&#10;\begin{document}&#10;&#10;$t \sim \mathcal{U}(1,T)$&#10;&#10;&#10;\end{document}"/>
  <p:tag name="IGUANATEXSIZE" val="18"/>
  <p:tag name="IGUANATEXCURSOR" val="81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64"/>
  <p:tag name="OUTPUTTYPE" val="PDF"/>
  <p:tag name="IGUANATEXVERSION" val="160"/>
  <p:tag name="LATEXADDIN" val="\documentclass{article}&#10;\usepackage{amsmath}&#10;\pagestyle{empty}&#10;\begin{document}&#10;&#10;&#10;$\mathbf{x}_0 \sim p_\text{data}(\mathbf{x}_0)$&#10;&#10;&#10;\end{document}"/>
  <p:tag name="IGUANATEXSIZE" val="18"/>
  <p:tag name="IGUANATEXCURSOR" val="82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"/>
  <p:tag name="ORIGINALWIDTH" val="116"/>
  <p:tag name="OUTPUTTYPE" val="PDF"/>
  <p:tag name="IGUANATEXVERSION" val="160"/>
  <p:tag name="LATEXADDIN" val="\documentclass{article}&#10;\usepackage{amsmath}&#10;\pagestyle{empty}&#10;\begin{document}&#10;&#10;&#10;$\mathbf{x_t} =  \sqrt{\bar{\alpha}_t} \mathbf{x_0} + \sqrt{(1- \bar{\alpha}_t)} \boldsymbol{\epsilon}$&#10;&#10;&#10;&#10;\end{document}"/>
  <p:tag name="IGUANATEXSIZE" val="18"/>
  <p:tag name="IGUANATEXCURSOR" val="18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"/>
  <p:tag name="ORIGINALWIDTH" val="169"/>
  <p:tag name="OUTPUTTYPE" val="PDF"/>
  <p:tag name="IGUANATEXVERSION" val="160"/>
  <p:tag name="LATEXADDIN" val="\documentclass{article}&#10;\usepackage{amsmath}&#10;\pagestyle{empty}&#10;\begin{document}&#10;&#10;&#10;$\mathcal{L}_{\text{DDPM}}  = \frac{1}{2\sigma^2_t} \frac{(1 - \alpha_t)^2}{\alpha_t(1 - \bar{\alpha}_t)} \cdot | \boldsymbol{\epsilon}_\theta(x_t, t) - \boldsymbol{\epsilon}_t |_2^2 $&#10;&#10;\end{document}"/>
  <p:tag name="IGUANATEXSIZE" val="18"/>
  <p:tag name="IGUANATEXCURSOR" val="82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33"/>
  <p:tag name="OUTPUTTYPE" val="PDF"/>
  <p:tag name="IGUANATEXVERSION" val="160"/>
  <p:tag name="LATEXADDIN" val="\documentclass{article}&#10;\usepackage{amsmath}&#10;\pagestyle{empty}&#10;\begin{document}&#10;&#10;&#10;$\text{DDPM}$&#10;&#10;\end{document}"/>
  <p:tag name="IGUANATEXSIZE" val="18"/>
  <p:tag name="IGUANATEXCURSOR" val="9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0"/>
  <p:tag name="OUTPUTTYPE" val="PDF"/>
  <p:tag name="IGUANATEXVERSION" val="160"/>
  <p:tag name="LATEXADDIN" val="\documentclass{article}&#10;\usepackage{amsmath}&#10;\pagestyle{empty}&#10;\begin{document}&#10;&#10;&#10;$\boldsymbol{\epsilon}_\theta$&#10;&#10;&#10;\end{document}"/>
  <p:tag name="IGUANATEXSIZE" val="18"/>
  <p:tag name="IGUANATEXCURSOR" val="94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52"/>
  <p:tag name="OUTPUTTYPE" val="PDF"/>
  <p:tag name="IGUANATEXVERSION" val="160"/>
  <p:tag name="LATEXADDIN" val="\documentclass{article}&#10;\usepackage{amsmath}&#10;\pagestyle{empty}&#10;\begin{document}&#10;&#10;&#10;$\boldsymbol{\epsilon} \sim \mathcal{N}(\mathbf{0}, \mathbf{1})$&#10;&#10;\end{document}"/>
  <p:tag name="IGUANATEXSIZE" val="18"/>
  <p:tag name="IGUANATEXCURSOR" val="82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49"/>
  <p:tag name="OUTPUTTYPE" val="PDF"/>
  <p:tag name="IGUANATEXVERSION" val="160"/>
  <p:tag name="LATEXADDIN" val="\documentclass{article}&#10;\usepackage{amsmath}&#10;\pagestyle{empty}&#10;\begin{document}&#10;&#10;$t \sim \mathcal{U}(1,T)$&#10;&#10;&#10;\end{document}"/>
  <p:tag name="IGUANATEXSIZE" val="18"/>
  <p:tag name="IGUANATEXCURSOR" val="81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"/>
  <p:tag name="ORIGINALWIDTH" val="116"/>
  <p:tag name="OUTPUTTYPE" val="PDF"/>
  <p:tag name="IGUANATEXVERSION" val="160"/>
  <p:tag name="LATEXADDIN" val="\documentclass{article}&#10;\usepackage{amsmath}&#10;\pagestyle{empty}&#10;\begin{document}&#10;&#10;&#10;$\mathbf{x_t} =  \sqrt{\bar{\alpha}_t} \mathbf{x_0} + \sqrt{(1- \bar{\alpha}_t)} \boldsymbol{\epsilon}$&#10;&#10;&#10;&#10;\end{document}"/>
  <p:tag name="IGUANATEXSIZE" val="18"/>
  <p:tag name="IGUANATEXCURSOR" val="18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33"/>
  <p:tag name="OUTPUTTYPE" val="PDF"/>
  <p:tag name="IGUANATEXVERSION" val="160"/>
  <p:tag name="LATEXADDIN" val="\documentclass{article}&#10;\usepackage{amsmath}&#10;\pagestyle{empty}&#10;\begin{document}&#10;&#10;&#10;$\text{DDPM}$&#10;&#10;\end{document}"/>
  <p:tag name="IGUANATEXSIZE" val="18"/>
  <p:tag name="IGUANATEXCURSOR" val="9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0"/>
  <p:tag name="OUTPUTTYPE" val="PDF"/>
  <p:tag name="IGUANATEXVERSION" val="160"/>
  <p:tag name="LATEXADDIN" val="\documentclass{article}&#10;\usepackage{amsmath}&#10;\pagestyle{empty}&#10;\begin{document}&#10;&#10;&#10;$\boldsymbol{\epsilon}_\theta$&#10;&#10;&#10;\end{document}"/>
  <p:tag name="IGUANATEXSIZE" val="18"/>
  <p:tag name="IGUANATEXCURSOR" val="94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"/>
  <p:tag name="ORIGINALWIDTH" val="111"/>
  <p:tag name="OUTPUTTYPE" val="PDF"/>
  <p:tag name="IGUANATEXVERSION" val="160"/>
  <p:tag name="LATEXADDIN" val="\documentclass{article}&#10;\usepackage{amsmath}&#10;\pagestyle{empty}&#10;\begin{document}&#10;&#10;&#10;$\mathcal{L}_{\text{DDPM}}  =| \boldsymbol{\epsilon}_\theta(x_t, t) - \boldsymbol{\epsilon}_t |_2^2 $&#13;&#10;&#10;&#10;\end{document}"/>
  <p:tag name="IGUANATEXSIZE" val="18"/>
  <p:tag name="IGUANATEXCURSOR" val="18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46"/>
  <p:tag name="OUTPUTTYPE" val="PDF"/>
  <p:tag name="IGUANATEXVERSION" val="160"/>
  <p:tag name="LATEXADDIN" val="\documentclass{article}&#10;\usepackage{amsmath}&#10;\pagestyle{empty}&#10;\begin{document}&#10;&#10;&#10;$\mathbf{x}_0 \sim p_\text{data}$&#13;&#10;&#10;&#10;\end{document}"/>
  <p:tag name="IGUANATEXSIZE" val="18"/>
  <p:tag name="IGUANATEXCURSOR" val="117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51"/>
  <p:tag name="OUTPUTTYPE" val="PDF"/>
  <p:tag name="IGUANATEXVERSION" val="160"/>
  <p:tag name="LATEXADDIN" val="\documentclass{article}&#10;\usepackage{amsmath}&#10;\pagestyle{empty}&#10;\begin{document}&#10;&#10;&#10;$\boldsymbol{\epsilon} \sim \mathcal{N}(\mathbf{0}, \mathbf{I})$&#10;&#10;\end{document}"/>
  <p:tag name="IGUANATEXSIZE" val="20"/>
  <p:tag name="IGUANATEXCURSOR" val="14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1"/>
  <p:tag name="OUTPUTTYPE" val="PDF"/>
  <p:tag name="IGUANATEXVERSION" val="160"/>
  <p:tag name="LATEXADDIN" val="\documentclass{article}&#10;\usepackage{amsmath}&#10;\pagestyle{empty}&#10;\begin{document}&#10;&#10;&#10;$x_0$&#10;&#10;\end{document}"/>
  <p:tag name="IGUANATEXSIZE" val="30"/>
  <p:tag name="IGUANATEXCURSOR" val="87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18"/>
  <p:tag name="OUTPUTTYPE" val="PDF"/>
  <p:tag name="IGUANATEXVERSION" val="160"/>
  <p:tag name="LATEXADDIN" val="\documentclass{article}&#10;\usepackage{amsmath}&#10;\pagestyle{empty}&#10;\begin{document}&#10;&#10;$(x_0')$&#10;&#10;&#10;\end{document}"/>
  <p:tag name="IGUANATEXSIZE" val="30"/>
  <p:tag name="IGUANATEXCURSOR" val="88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"/>
  <p:tag name="ORIGINALWIDTH" val="11"/>
  <p:tag name="OUTPUTTYPE" val="PDF"/>
  <p:tag name="IGUANATEXVERSION" val="160"/>
  <p:tag name="LATEXADDIN" val="\documentclass{article}&#10;\usepackage{amsmath}&#10;\pagestyle{empty}&#10;\begin{document}&#10;&#10;&#10;$x_1'$&#10;&#10;\end{document}"/>
  <p:tag name="IGUANATEXSIZE" val="30"/>
  <p:tag name="IGUANATEXCURSOR" val="8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1"/>
  <p:tag name="OUTPUTTYPE" val="PDF"/>
  <p:tag name="IGUANATEXVERSION" val="160"/>
  <p:tag name="LATEXADDIN" val="\documentclass{article}&#10;\usepackage{amsmath}&#10;\pagestyle{empty}&#10;\begin{document}&#10;&#10;&#10;$x_1$&#10;&#10;\end{document}"/>
  <p:tag name="IGUANATEXSIZE" val="30"/>
  <p:tag name="IGUANATEXCURSOR" val="87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1"/>
  <p:tag name="OUTPUTTYPE" val="PDF"/>
  <p:tag name="IGUANATEXVERSION" val="160"/>
  <p:tag name="LATEXADDIN" val="\documentclass{article}&#10;\usepackage{amsmath}&#10;\pagestyle{empty}&#10;\begin{document}&#10;&#10;&#10;$\pi_0$&#10;&#10;\end{document}"/>
  <p:tag name="IGUANATEXSIZE" val="30"/>
  <p:tag name="IGUANATEXCURSOR" val="89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"/>
  <p:tag name="ORIGINALWIDTH" val="11"/>
  <p:tag name="OUTPUTTYPE" val="PDF"/>
  <p:tag name="IGUANATEXVERSION" val="160"/>
  <p:tag name="LATEXADDIN" val="\documentclass{article}&#10;\usepackage{amsmath}&#10;\pagestyle{empty}&#10;\begin{document}&#10;&#10;$\pi_1$&#10;&#10;&#10;\end{document}"/>
  <p:tag name="IGUANATEXSIZE" val="30"/>
  <p:tag name="IGUANATEXCURSOR" val="88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"/>
  <p:tag name="ORIGINALWIDTH" val="64"/>
  <p:tag name="OUTPUTTYPE" val="PDF"/>
  <p:tag name="IGUANATEXVERSION" val="160"/>
  <p:tag name="LATEXADDIN" val="\documentclass{article}&#10;\usepackage{amsmath}&#10;\pagestyle{empty}&#10;\begin{document}&#10;&#10;&#10;Rectified Flow&#10;&#10;\end{document}"/>
  <p:tag name="IGUANATEXSIZE" val="30"/>
  <p:tag name="IGUANATEXCURSOR" val="96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3"/>
  <p:tag name="ORIGINALWIDTH" val="58"/>
  <p:tag name="OUTPUTTYPE" val="PDF"/>
  <p:tag name="IGUANATEXVERSION" val="160"/>
  <p:tag name="LATEXADDIN" val="\documentclass{article}&#10;\usepackage{amsmath}&#10;\pagestyle{empty}&#10;\begin{document}&#10;&#10;&#10;Linear \\&#10;Interpolation&#10;&#10;\end{document}"/>
  <p:tag name="IGUANATEXSIZE" val="30"/>
  <p:tag name="IGUANATEXCURSOR" val="105"/>
  <p:tag name="TRANSPARENCY" val="Wahr"/>
  <p:tag name="LATEXENGINEID" val="0"/>
  <p:tag name="TEMPFOLDER" val="/private/var/folders/c6/t8mdrkg55qn7fgh__gkv7nlc0000gn/T/com.microsoft.Powerpoint/TemporaryItems/"/>
  <p:tag name="LATEXFORMHEIGHT" val="426,65"/>
  <p:tag name="LATEXFORMWIDTH" val="513,35"/>
  <p:tag name="LATEXFORMWRAP" val="Wahr"/>
  <p:tag name="BITMAPVECTOR" val="0"/>
</p:tagLst>
</file>

<file path=ppt/theme/theme1.xml><?xml version="1.0" encoding="utf-8"?>
<a:theme xmlns:a="http://schemas.openxmlformats.org/drawingml/2006/main" name="Office">
  <a:themeElements>
    <a:clrScheme name="Masterarbeit">
      <a:dk1>
        <a:srgbClr val="000000"/>
      </a:dk1>
      <a:lt1>
        <a:srgbClr val="F9FFFD"/>
      </a:lt1>
      <a:dk2>
        <a:srgbClr val="D3D3D3"/>
      </a:dk2>
      <a:lt2>
        <a:srgbClr val="D6DAE9"/>
      </a:lt2>
      <a:accent1>
        <a:srgbClr val="FFE1BA"/>
      </a:accent1>
      <a:accent2>
        <a:srgbClr val="F1F4C1"/>
      </a:accent2>
      <a:accent3>
        <a:srgbClr val="CCE6CF"/>
      </a:accent3>
      <a:accent4>
        <a:srgbClr val="C1E8F7"/>
      </a:accent4>
      <a:accent5>
        <a:srgbClr val="FBDFE1"/>
      </a:accent5>
      <a:accent6>
        <a:srgbClr val="B9B2D0"/>
      </a:accent6>
      <a:hlink>
        <a:srgbClr val="D6DAE9"/>
      </a:hlink>
      <a:folHlink>
        <a:srgbClr val="D3D3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785</Words>
  <Application>Microsoft Macintosh PowerPoint</Application>
  <PresentationFormat>Breitbild</PresentationFormat>
  <Paragraphs>121</Paragraphs>
  <Slides>13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Sabine Hofmann-Heid</dc:creator>
  <cp:lastModifiedBy>Sabine Hofmann-Heid</cp:lastModifiedBy>
  <cp:revision>50</cp:revision>
  <dcterms:created xsi:type="dcterms:W3CDTF">2025-06-10T13:06:19Z</dcterms:created>
  <dcterms:modified xsi:type="dcterms:W3CDTF">2025-12-19T08:40:49Z</dcterms:modified>
</cp:coreProperties>
</file>