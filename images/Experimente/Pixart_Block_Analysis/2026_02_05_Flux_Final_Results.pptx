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4" r:id="rId9"/>
    <p:sldId id="263" r:id="rId10"/>
    <p:sldId id="34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8"/>
  </p:normalViewPr>
  <p:slideViewPr>
    <p:cSldViewPr snapToGrid="0">
      <p:cViewPr>
        <p:scale>
          <a:sx n="107" d="100"/>
          <a:sy n="107" d="100"/>
        </p:scale>
        <p:origin x="54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8195F-5357-2A5A-5E35-6438EAF1F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080291-BDC6-E003-0856-08945135A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DC4D23-4FD1-801E-C5E8-3877215C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8C1768-3A2A-9369-E9EC-F2890FFE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A663DD-0E89-7F75-D218-BDFA643EB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14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F224DA-B224-BEF3-D9B8-09364F07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7705BF-76E2-4A73-5A02-CFD87079C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8FED01-F093-42FA-B48D-5F979D36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DEC669-2A5F-17EC-9B2D-AD70D09F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0F3392-9718-DB39-C685-CD7E66A5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59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5F04E-A349-C147-0701-5A11C597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239B10-4E65-5EFC-F5E9-06BEA5E46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2A26B3-D4EE-7614-F9ED-5C807B4B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03B73F-2484-426A-4BB7-03FAC780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9C3FE7-9364-6050-0513-47E25C60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61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CCEE5-63C0-DCC2-FF4E-BD4884C3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13E87E-5F97-72D9-C3C1-452206E90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23F58A-23C5-67B2-C650-11B7DF3C0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3E657C-3D46-716F-3E28-EE62C6418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C9FF48-35EB-5A58-391A-1AB3F789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482D6E-A39C-AF9B-5343-638754A57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52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24D545-7E24-2335-511C-78A0AA9DE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05CB2E-A689-3062-E56A-474FB2AFF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2AD7F8-C215-0A0A-F8F5-E9DF5EB8F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BF0477B-ED13-8E25-BB9E-32EB7A4AA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E93F44F-DA3F-A77E-29DA-DFBA7E257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A72574C-CF03-332F-D7EB-A8370D9A5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E7A2C21-41EC-27C7-FAA3-A7896C80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44F2BF4-A602-67A4-4354-B78AD7A2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727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5AE25-BB8B-6982-F1BF-66933462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DC7E9CD-BFB2-F6D5-0F03-0154D7C48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BCD3F8-212B-A9CC-DD76-6A350193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7C535C-FB68-73D5-A6F7-2BBD5B457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45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111C2A0-FA74-40F9-57FF-9A36E25DB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2BBA39B-8212-D7EE-5637-748CE966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C73407-98FC-A6CC-03AA-BD62296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305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401DD9-D0D4-AAE1-0179-DB0B3E58D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B4938A-28AE-1569-8389-82E897A5D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8EB7451-CD7A-2676-FE5D-BCF28E9C9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B81325-F936-24B8-5C96-EA5FF0EC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43626F-C19F-B1A0-8F46-DFB8BA67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8EC092-1451-23C7-55B1-5C82F3AF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130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FE5D2-1150-793F-CB0F-0CDDC9A30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D6D76DB-36EC-1665-8F08-E5D28FE05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FC9581-2834-7076-280C-C2806CB47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23F861-4697-FA80-8C95-B320A879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453838-22D5-AF0E-DB89-A83B451E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352A20-9CB9-3579-8E4D-450E194E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185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99E351-8FA1-E7D8-6A41-C7643858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611E2C-1572-FCF8-B108-5F8CC0624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8EBA50-D823-99A5-12D7-A7B4D7C2C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990EF8-6EE6-6664-0C3C-BC0DF9896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994B23-F19C-45A6-B43E-855FCA3E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30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CA7EA94-99BB-7C6D-C4B3-836A2D7FD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A945EFF-A601-938E-4471-E7D8B5A49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BDDCAB-0C5F-CAB6-82B2-0BFE9AD0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757DC2-ABC9-96D7-339A-5EB404D3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773FAB-3A0D-4DC2-2E1E-FA942A0A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732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397405D-9C13-5A41-9CDF-7EA5668CE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DDB6F4-D4BE-4C97-AF6C-3AA6FF659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884ACD-07B2-6F76-986D-162CA7E02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CD748-2991-1D49-9F4F-A4C0EFC81089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60F9B-C8E2-FAFC-3020-8343B1A84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4F5372-2C83-AB54-A13C-3D3942C5F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5C096-BDFE-C144-BEFF-CE1EFEFA6D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38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9B12AD-23DF-7709-EDC1-E6C85834B0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Flux Final Results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11006C-055B-50F3-477B-570EA140DB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9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07392-045E-90E7-B728-C5569FC2B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5671"/>
            <a:ext cx="10515600" cy="1325563"/>
          </a:xfrm>
        </p:spPr>
        <p:txBody>
          <a:bodyPr/>
          <a:lstStyle/>
          <a:p>
            <a:r>
              <a:rPr lang="en-GB" dirty="0"/>
              <a:t>Competitors on Flux-dev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5F720D74-0ECF-5C88-731A-334CCD3DC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83907"/>
              </p:ext>
            </p:extLst>
          </p:nvPr>
        </p:nvGraphicFramePr>
        <p:xfrm>
          <a:off x="174320" y="1174273"/>
          <a:ext cx="6701040" cy="243927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37630">
                  <a:extLst>
                    <a:ext uri="{9D8B030D-6E8A-4147-A177-3AD203B41FA5}">
                      <a16:colId xmlns:a16="http://schemas.microsoft.com/office/drawing/2014/main" val="80715158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3089883723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1430416056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2062275930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54603479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1661783508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1126076820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3441905742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FastFlux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EcoDiff</a:t>
                      </a:r>
                      <a:r>
                        <a:rPr lang="de-DE" sz="900" dirty="0"/>
                        <a:t>-Lora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Eco-Diff 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FluxLite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PPCL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FluxMini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31372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two_object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76.77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56.06%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27.27%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84986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color_attr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45.50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12.00%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137804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colors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75.80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72.61%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51.60%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074881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counting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16.88%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49057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position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11.75%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4.00%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5387834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single_object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91.88%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78.75%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50803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64.688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53 (Paper)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52.340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60.5</a:t>
                      </a:r>
                    </a:p>
                    <a:p>
                      <a:r>
                        <a:rPr lang="de-DE" sz="900" dirty="0"/>
                        <a:t>(Paper)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0.31749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60322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259525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5FDC17E8-7D3F-D7AD-CFE3-AB002F5F463F}"/>
              </a:ext>
            </a:extLst>
          </p:cNvPr>
          <p:cNvSpPr txBox="1"/>
          <p:nvPr/>
        </p:nvSpPr>
        <p:spPr>
          <a:xfrm>
            <a:off x="237995" y="789141"/>
            <a:ext cx="2204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GenEval</a:t>
            </a:r>
            <a:r>
              <a:rPr lang="en-GB" dirty="0"/>
              <a:t> Benchmark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F461A0A9-6FFD-5BD2-5177-333901D13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458777"/>
              </p:ext>
            </p:extLst>
          </p:nvPr>
        </p:nvGraphicFramePr>
        <p:xfrm>
          <a:off x="174319" y="3897409"/>
          <a:ext cx="6701040" cy="170775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37630">
                  <a:extLst>
                    <a:ext uri="{9D8B030D-6E8A-4147-A177-3AD203B41FA5}">
                      <a16:colId xmlns:a16="http://schemas.microsoft.com/office/drawing/2014/main" val="3582881742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3968855310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4251828807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1420392918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2338550837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3776790480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763854012"/>
                    </a:ext>
                  </a:extLst>
                </a:gridCol>
                <a:gridCol w="837630">
                  <a:extLst>
                    <a:ext uri="{9D8B030D-6E8A-4147-A177-3AD203B41FA5}">
                      <a16:colId xmlns:a16="http://schemas.microsoft.com/office/drawing/2014/main" val="1754558206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FastFlux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EcoDiff</a:t>
                      </a:r>
                      <a:r>
                        <a:rPr lang="de-DE" sz="900" dirty="0"/>
                        <a:t>-Lora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Eco-Diff 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FluxLite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PPCL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FluxMini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920313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Concept-Art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25.63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60064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photo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27.53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25.25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26.19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70404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Anime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26.59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23025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Painting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26.48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41926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27.76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25.99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490499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26%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702924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20232FA5-7139-791F-E5CC-3659F68769F6}"/>
              </a:ext>
            </a:extLst>
          </p:cNvPr>
          <p:cNvSpPr txBox="1"/>
          <p:nvPr/>
        </p:nvSpPr>
        <p:spPr>
          <a:xfrm>
            <a:off x="300942" y="3614316"/>
            <a:ext cx="839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HPSv2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81DF8628-4894-150E-61C3-563084B1B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435981"/>
              </p:ext>
            </p:extLst>
          </p:nvPr>
        </p:nvGraphicFramePr>
        <p:xfrm>
          <a:off x="213167" y="6117075"/>
          <a:ext cx="7406936" cy="74092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25867">
                  <a:extLst>
                    <a:ext uri="{9D8B030D-6E8A-4147-A177-3AD203B41FA5}">
                      <a16:colId xmlns:a16="http://schemas.microsoft.com/office/drawing/2014/main" val="3797624129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2293388445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489645457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324038968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338591750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300180594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77591344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090413672"/>
                    </a:ext>
                  </a:extLst>
                </a:gridCol>
              </a:tblGrid>
              <a:tr h="283725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FastFlux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EcoDiff</a:t>
                      </a:r>
                      <a:r>
                        <a:rPr lang="de-DE" sz="900" dirty="0"/>
                        <a:t>-Lora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Eco-Diff 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FluxLite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PPCL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FluxMini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731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79.314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70.577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34529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26%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297534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DE1404E7-C7F1-C790-D9FB-0B72F4C036F1}"/>
              </a:ext>
            </a:extLst>
          </p:cNvPr>
          <p:cNvSpPr txBox="1"/>
          <p:nvPr/>
        </p:nvSpPr>
        <p:spPr>
          <a:xfrm>
            <a:off x="399019" y="5686763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DPG</a:t>
            </a:r>
          </a:p>
        </p:txBody>
      </p:sp>
    </p:spTree>
    <p:extLst>
      <p:ext uri="{BB962C8B-B14F-4D97-AF65-F5344CB8AC3E}">
        <p14:creationId xmlns:p14="http://schemas.microsoft.com/office/powerpoint/2010/main" val="1026699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4B044F-0316-CA7F-5B13-3D2E9AF7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 Guidance Training – First Attempt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2D5057-CB91-4BE5-08A1-EA62BFD80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blocks are compressed by a fixed ratio</a:t>
            </a:r>
          </a:p>
          <a:p>
            <a:pPr lvl="1"/>
            <a:r>
              <a:rPr lang="en-GB" dirty="0"/>
              <a:t>Pre-defined ranks</a:t>
            </a:r>
          </a:p>
          <a:p>
            <a:r>
              <a:rPr lang="en-GB" dirty="0"/>
              <a:t>The block importance is determined once (for the current architecture and not iterative like in </a:t>
            </a:r>
            <a:r>
              <a:rPr lang="en-GB" dirty="0" err="1"/>
              <a:t>PixArt</a:t>
            </a:r>
            <a:r>
              <a:rPr lang="en-GB" dirty="0"/>
              <a:t> due to high computational demands of Flux-dev)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241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D8C437-8D54-A9AE-0F77-87B071894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67" y="-329361"/>
            <a:ext cx="10515600" cy="1325563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8734B916-E485-B076-E5A1-1BD40D1F5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77522"/>
              </p:ext>
            </p:extLst>
          </p:nvPr>
        </p:nvGraphicFramePr>
        <p:xfrm>
          <a:off x="213167" y="1054077"/>
          <a:ext cx="8173503" cy="239355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08167">
                  <a:extLst>
                    <a:ext uri="{9D8B030D-6E8A-4147-A177-3AD203B41FA5}">
                      <a16:colId xmlns:a16="http://schemas.microsoft.com/office/drawing/2014/main" val="1921223470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4227588639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150553903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3497696400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344605178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1634687586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573994835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3075698289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3909357500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D_12_s_12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D_15_s_12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D15_s_24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D15_s_30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D16_s_36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97532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two_object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76.77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78.28%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72.47%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71.72%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67.68%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59.34%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58.59%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57.32%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33094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color_attr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45.50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46.00%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44.75%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44.25%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37.50%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34.50%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34.25%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25.00%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809225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colors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75.80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76.86%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77.13%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79.26%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72.87%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62.77%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61.44%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53.99%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23654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counting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60.31%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58.75%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50.31%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46.56%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45.00%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42.19%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41581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position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20.25%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20.25%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20.75%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15.75%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14.75%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15.25%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16.25%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015173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single_object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97.19%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99.06%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96.25%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95.94%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94.38%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93.75%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00089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64.688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64.660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62.017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62.297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56.727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52.310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0.51483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0.48083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54690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dirty="0"/>
                        <a:t>49%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39%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81069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Iterationen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107457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00311312-DB3D-7321-42B8-08D2155A94FB}"/>
              </a:ext>
            </a:extLst>
          </p:cNvPr>
          <p:cNvSpPr txBox="1"/>
          <p:nvPr/>
        </p:nvSpPr>
        <p:spPr>
          <a:xfrm>
            <a:off x="213167" y="684745"/>
            <a:ext cx="101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GenEval</a:t>
            </a:r>
            <a:endParaRPr lang="en-GB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F4B466C1-80FE-5AAB-B785-6EF0404A4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060819"/>
              </p:ext>
            </p:extLst>
          </p:nvPr>
        </p:nvGraphicFramePr>
        <p:xfrm>
          <a:off x="213167" y="3816962"/>
          <a:ext cx="8173503" cy="170775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08167">
                  <a:extLst>
                    <a:ext uri="{9D8B030D-6E8A-4147-A177-3AD203B41FA5}">
                      <a16:colId xmlns:a16="http://schemas.microsoft.com/office/drawing/2014/main" val="2232437405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1834692877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2794212621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4186600185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2035550117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1056760498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2473762058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305047238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3423692130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D_12_s_12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D_15_s_12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D_15_s_24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D_15_s_30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D_16_s_36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04802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Concept-Art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78535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photo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0495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Anime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32.12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75583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Painting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31.76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22867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626363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39%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2618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9DAD332A-1B20-3635-EDA5-2DF624C495B7}"/>
              </a:ext>
            </a:extLst>
          </p:cNvPr>
          <p:cNvSpPr txBox="1"/>
          <p:nvPr/>
        </p:nvSpPr>
        <p:spPr>
          <a:xfrm>
            <a:off x="213167" y="3530275"/>
            <a:ext cx="839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HPSv2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ED8CC75B-2215-DFF6-B670-C5CD33154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182108"/>
              </p:ext>
            </p:extLst>
          </p:nvPr>
        </p:nvGraphicFramePr>
        <p:xfrm>
          <a:off x="213167" y="6117075"/>
          <a:ext cx="7406936" cy="74092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25867">
                  <a:extLst>
                    <a:ext uri="{9D8B030D-6E8A-4147-A177-3AD203B41FA5}">
                      <a16:colId xmlns:a16="http://schemas.microsoft.com/office/drawing/2014/main" val="3797624129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2293388445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489645457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324038968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338591750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300180594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77591344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090413672"/>
                    </a:ext>
                  </a:extLst>
                </a:gridCol>
              </a:tblGrid>
              <a:tr h="283725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D_12_s_12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D_15_s_12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D_15_s_24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D_15_s_30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D_16_s_36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731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82.86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solidFill>
                            <a:schemeClr val="tx1"/>
                          </a:solidFill>
                        </a:rPr>
                        <a:t>82.45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81.12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78.9316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34529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297534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AC5CE704-A1DA-D334-CC51-2E38DFD20F39}"/>
              </a:ext>
            </a:extLst>
          </p:cNvPr>
          <p:cNvSpPr txBox="1"/>
          <p:nvPr/>
        </p:nvSpPr>
        <p:spPr>
          <a:xfrm>
            <a:off x="399019" y="5686763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DPG</a:t>
            </a:r>
          </a:p>
        </p:txBody>
      </p:sp>
    </p:spTree>
    <p:extLst>
      <p:ext uri="{BB962C8B-B14F-4D97-AF65-F5344CB8AC3E}">
        <p14:creationId xmlns:p14="http://schemas.microsoft.com/office/powerpoint/2010/main" val="2256310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C03AD-4100-B541-2039-4F074FF3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Compression Scheme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BDB8F6-7B56-072A-F605-1FBED4015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Compress the blocks accordingly to its importance</a:t>
            </a:r>
          </a:p>
          <a:p>
            <a:pPr lvl="1"/>
            <a:r>
              <a:rPr lang="en-GB" dirty="0"/>
              <a:t>20 blocks: per Iteration 20 blocks are compressed</a:t>
            </a:r>
          </a:p>
          <a:p>
            <a:pPr lvl="1"/>
            <a:r>
              <a:rPr lang="en-GB" dirty="0"/>
              <a:t>30 blocks: per Iteration 30 blocks are compressed</a:t>
            </a:r>
          </a:p>
          <a:p>
            <a:pPr lvl="1"/>
            <a:r>
              <a:rPr lang="en-GB" dirty="0"/>
              <a:t>40 blocks: per Iteration 40 blocks are compressed</a:t>
            </a:r>
          </a:p>
          <a:p>
            <a:endParaRPr lang="en-GB" dirty="0"/>
          </a:p>
          <a:p>
            <a:r>
              <a:rPr lang="en-GB" dirty="0"/>
              <a:t>Per Iteration 20k Steps are trained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9114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C1C3-B1B5-31AA-ADE8-EB7422CE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B4439E-BBA8-7C65-C287-CB5BEBF3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67" y="-329361"/>
            <a:ext cx="10515600" cy="1325563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5E3088FB-7C65-A3BA-61D4-FACF2E5B6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804059"/>
              </p:ext>
            </p:extLst>
          </p:nvPr>
        </p:nvGraphicFramePr>
        <p:xfrm>
          <a:off x="213166" y="1054077"/>
          <a:ext cx="9830240" cy="239355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83024">
                  <a:extLst>
                    <a:ext uri="{9D8B030D-6E8A-4147-A177-3AD203B41FA5}">
                      <a16:colId xmlns:a16="http://schemas.microsoft.com/office/drawing/2014/main" val="1921223470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4227588639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150553903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3497696400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344605178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1634687586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573994835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3075698289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1473534079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2125944842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97532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two_object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two_object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76.77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82.07%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80.56%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79.55%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78.79%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80.05%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81.82%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33094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color_attr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color_attr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45.50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46.00%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47.25%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46.00%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47.25%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46.75%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45.11%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809225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colors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colors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75.80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76.33%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76.86%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77.39%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76.60%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75.53%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73.94%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23654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counting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counting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70.31%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63.75%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66.25%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64.06%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41581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position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position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22.25%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22.50%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21.00%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22.75%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23.50%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23.00%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015173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single_object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single_object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99.06%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00089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64.688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0.65640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0.65986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0.65188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0.64595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0.65139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64.498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54690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81069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Iterationen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107457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2940A4CC-5B00-36A1-7541-889B6CC69E10}"/>
              </a:ext>
            </a:extLst>
          </p:cNvPr>
          <p:cNvSpPr txBox="1"/>
          <p:nvPr/>
        </p:nvSpPr>
        <p:spPr>
          <a:xfrm>
            <a:off x="213167" y="684745"/>
            <a:ext cx="101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GenEval</a:t>
            </a:r>
            <a:endParaRPr lang="en-GB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91D45E9C-B506-0BBC-E10A-88C3955AC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467148"/>
              </p:ext>
            </p:extLst>
          </p:nvPr>
        </p:nvGraphicFramePr>
        <p:xfrm>
          <a:off x="213166" y="3816962"/>
          <a:ext cx="9830240" cy="170775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83024">
                  <a:extLst>
                    <a:ext uri="{9D8B030D-6E8A-4147-A177-3AD203B41FA5}">
                      <a16:colId xmlns:a16="http://schemas.microsoft.com/office/drawing/2014/main" val="2232437405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1834692877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2794212621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4186600185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2035550117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1056760498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2473762058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305047238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3939345563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2446056142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04802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Concept-Art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78535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photo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0495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Anime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75583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Painting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22867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626363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2618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F0CC26D4-5ACD-CEC5-998E-78C7BEE5A582}"/>
              </a:ext>
            </a:extLst>
          </p:cNvPr>
          <p:cNvSpPr txBox="1"/>
          <p:nvPr/>
        </p:nvSpPr>
        <p:spPr>
          <a:xfrm>
            <a:off x="213167" y="3530275"/>
            <a:ext cx="839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HPSv2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22B2D373-2FD1-FCE3-C3BE-1CEC4999F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853864"/>
              </p:ext>
            </p:extLst>
          </p:nvPr>
        </p:nvGraphicFramePr>
        <p:xfrm>
          <a:off x="213166" y="6117075"/>
          <a:ext cx="9830240" cy="74092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83024">
                  <a:extLst>
                    <a:ext uri="{9D8B030D-6E8A-4147-A177-3AD203B41FA5}">
                      <a16:colId xmlns:a16="http://schemas.microsoft.com/office/drawing/2014/main" val="3797624129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2293388445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1489645457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1324038968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338591750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1300180594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77591344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1090413672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3268709278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1219080668"/>
                    </a:ext>
                  </a:extLst>
                </a:gridCol>
              </a:tblGrid>
              <a:tr h="283725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Blocks_20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731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83.305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83.551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83.777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83.42443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83.365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34529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297534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BA5878AF-AC7E-1FAD-B58A-E1E1C19CE7AE}"/>
              </a:ext>
            </a:extLst>
          </p:cNvPr>
          <p:cNvSpPr txBox="1"/>
          <p:nvPr/>
        </p:nvSpPr>
        <p:spPr>
          <a:xfrm>
            <a:off x="399019" y="5686763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DPG</a:t>
            </a:r>
          </a:p>
        </p:txBody>
      </p:sp>
    </p:spTree>
    <p:extLst>
      <p:ext uri="{BB962C8B-B14F-4D97-AF65-F5344CB8AC3E}">
        <p14:creationId xmlns:p14="http://schemas.microsoft.com/office/powerpoint/2010/main" val="48840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CF9FD6-8F87-BEE5-B37B-0076103F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6207"/>
            <a:ext cx="10515600" cy="1325563"/>
          </a:xfrm>
        </p:spPr>
        <p:txBody>
          <a:bodyPr/>
          <a:lstStyle/>
          <a:p>
            <a:r>
              <a:rPr lang="en-GB" dirty="0"/>
              <a:t>Comparison Linear Method with Competitors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6ADE50C-7344-1A7F-4170-E897F9C2A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457855"/>
              </p:ext>
            </p:extLst>
          </p:nvPr>
        </p:nvGraphicFramePr>
        <p:xfrm>
          <a:off x="213167" y="1054077"/>
          <a:ext cx="7397048" cy="23317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24631">
                  <a:extLst>
                    <a:ext uri="{9D8B030D-6E8A-4147-A177-3AD203B41FA5}">
                      <a16:colId xmlns:a16="http://schemas.microsoft.com/office/drawing/2014/main" val="1186025608"/>
                    </a:ext>
                  </a:extLst>
                </a:gridCol>
                <a:gridCol w="924631">
                  <a:extLst>
                    <a:ext uri="{9D8B030D-6E8A-4147-A177-3AD203B41FA5}">
                      <a16:colId xmlns:a16="http://schemas.microsoft.com/office/drawing/2014/main" val="4142929916"/>
                    </a:ext>
                  </a:extLst>
                </a:gridCol>
                <a:gridCol w="924631">
                  <a:extLst>
                    <a:ext uri="{9D8B030D-6E8A-4147-A177-3AD203B41FA5}">
                      <a16:colId xmlns:a16="http://schemas.microsoft.com/office/drawing/2014/main" val="3083108735"/>
                    </a:ext>
                  </a:extLst>
                </a:gridCol>
                <a:gridCol w="924631">
                  <a:extLst>
                    <a:ext uri="{9D8B030D-6E8A-4147-A177-3AD203B41FA5}">
                      <a16:colId xmlns:a16="http://schemas.microsoft.com/office/drawing/2014/main" val="4273003575"/>
                    </a:ext>
                  </a:extLst>
                </a:gridCol>
                <a:gridCol w="924631">
                  <a:extLst>
                    <a:ext uri="{9D8B030D-6E8A-4147-A177-3AD203B41FA5}">
                      <a16:colId xmlns:a16="http://schemas.microsoft.com/office/drawing/2014/main" val="3999854382"/>
                    </a:ext>
                  </a:extLst>
                </a:gridCol>
                <a:gridCol w="924631">
                  <a:extLst>
                    <a:ext uri="{9D8B030D-6E8A-4147-A177-3AD203B41FA5}">
                      <a16:colId xmlns:a16="http://schemas.microsoft.com/office/drawing/2014/main" val="3899421955"/>
                    </a:ext>
                  </a:extLst>
                </a:gridCol>
                <a:gridCol w="924631">
                  <a:extLst>
                    <a:ext uri="{9D8B030D-6E8A-4147-A177-3AD203B41FA5}">
                      <a16:colId xmlns:a16="http://schemas.microsoft.com/office/drawing/2014/main" val="1188322566"/>
                    </a:ext>
                  </a:extLst>
                </a:gridCol>
                <a:gridCol w="924631">
                  <a:extLst>
                    <a:ext uri="{9D8B030D-6E8A-4147-A177-3AD203B41FA5}">
                      <a16:colId xmlns:a16="http://schemas.microsoft.com/office/drawing/2014/main" val="2926495780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FluxLite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PPCL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EcoDiff</a:t>
                      </a:r>
                      <a:r>
                        <a:rPr lang="de-DE" sz="900" dirty="0"/>
                        <a:t>-Lora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Var </a:t>
                      </a:r>
                      <a:r>
                        <a:rPr lang="de-DE" sz="900" dirty="0" err="1"/>
                        <a:t>Guidance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Uniform </a:t>
                      </a:r>
                      <a:r>
                        <a:rPr lang="de-DE" sz="900" dirty="0" err="1"/>
                        <a:t>Compression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Compression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39680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two_object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76.77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56.06%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71.72%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79.80%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81.82%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146871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color_attr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45.50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44.25%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42.75%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45.11%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467313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colors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75.80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72.61%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79.26%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70.74%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73.94%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86185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counting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58.75%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67.19%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64.06%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24051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position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11.75%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20.75%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20.75%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23.00%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6898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single_object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91.88%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99.06%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99.06%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50991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64.688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52.340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60.5</a:t>
                      </a:r>
                    </a:p>
                    <a:p>
                      <a:r>
                        <a:rPr lang="de-DE" sz="900" dirty="0"/>
                        <a:t>(Paper)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62.297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63.278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64.498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340421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114360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57196476-2C1E-9ACE-8A4D-F9719730188B}"/>
              </a:ext>
            </a:extLst>
          </p:cNvPr>
          <p:cNvSpPr txBox="1"/>
          <p:nvPr/>
        </p:nvSpPr>
        <p:spPr>
          <a:xfrm>
            <a:off x="213167" y="684745"/>
            <a:ext cx="101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GenEval</a:t>
            </a:r>
            <a:endParaRPr lang="en-GB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C7357C09-DEAA-EADE-ADF7-6EA805245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332744"/>
              </p:ext>
            </p:extLst>
          </p:nvPr>
        </p:nvGraphicFramePr>
        <p:xfrm>
          <a:off x="213167" y="3816962"/>
          <a:ext cx="7265336" cy="17803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08167">
                  <a:extLst>
                    <a:ext uri="{9D8B030D-6E8A-4147-A177-3AD203B41FA5}">
                      <a16:colId xmlns:a16="http://schemas.microsoft.com/office/drawing/2014/main" val="2232437405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1834692877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2794212621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4186600185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2035550117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1056760498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2473762058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305047238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FluxLite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PPCL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EcoDiff</a:t>
                      </a:r>
                      <a:r>
                        <a:rPr lang="de-DE" sz="900" dirty="0"/>
                        <a:t>-Lora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Var </a:t>
                      </a:r>
                      <a:r>
                        <a:rPr lang="de-DE" sz="900" dirty="0" err="1"/>
                        <a:t>Guidance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Uniform </a:t>
                      </a:r>
                      <a:r>
                        <a:rPr lang="de-DE" sz="900" dirty="0" err="1"/>
                        <a:t>Compression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Compression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04802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Concept-Art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25.63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78535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photo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25.25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0495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Anime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26.59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75583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Painting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26.48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228672"/>
                  </a:ext>
                </a:extLst>
              </a:tr>
              <a:tr h="271556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25.99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626363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2618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5DD0A47-59AF-BC03-0C3B-04577660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677346"/>
              </p:ext>
            </p:extLst>
          </p:nvPr>
        </p:nvGraphicFramePr>
        <p:xfrm>
          <a:off x="213167" y="6117075"/>
          <a:ext cx="7406936" cy="8229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25867">
                  <a:extLst>
                    <a:ext uri="{9D8B030D-6E8A-4147-A177-3AD203B41FA5}">
                      <a16:colId xmlns:a16="http://schemas.microsoft.com/office/drawing/2014/main" val="3797624129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2293388445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489645457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324038968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338591750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300180594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77591344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090413672"/>
                    </a:ext>
                  </a:extLst>
                </a:gridCol>
              </a:tblGrid>
              <a:tr h="289372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Flux-dev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FluxLite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PPCL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EcoDiff</a:t>
                      </a:r>
                      <a:r>
                        <a:rPr lang="de-DE" sz="900" dirty="0"/>
                        <a:t>-Lora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Var </a:t>
                      </a:r>
                      <a:r>
                        <a:rPr lang="de-DE" sz="900" dirty="0" err="1"/>
                        <a:t>Guidance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Uniform </a:t>
                      </a:r>
                      <a:r>
                        <a:rPr lang="de-DE" sz="900" dirty="0" err="1"/>
                        <a:t>Compression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Compression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731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 79.314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80.0 (Paper)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83.365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34529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29753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69113AC1-D8A9-DC4C-58F1-BB08B63264C6}"/>
              </a:ext>
            </a:extLst>
          </p:cNvPr>
          <p:cNvSpPr txBox="1"/>
          <p:nvPr/>
        </p:nvSpPr>
        <p:spPr>
          <a:xfrm>
            <a:off x="399019" y="5686763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DPG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3F98A34-36DC-C688-BB78-569AAE719D5E}"/>
              </a:ext>
            </a:extLst>
          </p:cNvPr>
          <p:cNvSpPr txBox="1"/>
          <p:nvPr/>
        </p:nvSpPr>
        <p:spPr>
          <a:xfrm>
            <a:off x="213167" y="3472204"/>
            <a:ext cx="839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HPSv2</a:t>
            </a:r>
          </a:p>
        </p:txBody>
      </p:sp>
    </p:spTree>
    <p:extLst>
      <p:ext uri="{BB962C8B-B14F-4D97-AF65-F5344CB8AC3E}">
        <p14:creationId xmlns:p14="http://schemas.microsoft.com/office/powerpoint/2010/main" val="2039682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260E5-3833-DAB3-DC2A-C846E0E60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7FE1CC-09D3-BD23-FE84-61CFD9DD6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6207"/>
            <a:ext cx="10515600" cy="1325563"/>
          </a:xfrm>
        </p:spPr>
        <p:txBody>
          <a:bodyPr/>
          <a:lstStyle/>
          <a:p>
            <a:r>
              <a:rPr lang="en-GB" dirty="0"/>
              <a:t>Flux-Schnell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A8234728-F87D-B0B3-1E34-0A0038AB9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259139"/>
              </p:ext>
            </p:extLst>
          </p:nvPr>
        </p:nvGraphicFramePr>
        <p:xfrm>
          <a:off x="213167" y="1054077"/>
          <a:ext cx="3698524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24631">
                  <a:extLst>
                    <a:ext uri="{9D8B030D-6E8A-4147-A177-3AD203B41FA5}">
                      <a16:colId xmlns:a16="http://schemas.microsoft.com/office/drawing/2014/main" val="1186025608"/>
                    </a:ext>
                  </a:extLst>
                </a:gridCol>
                <a:gridCol w="924631">
                  <a:extLst>
                    <a:ext uri="{9D8B030D-6E8A-4147-A177-3AD203B41FA5}">
                      <a16:colId xmlns:a16="http://schemas.microsoft.com/office/drawing/2014/main" val="4142929916"/>
                    </a:ext>
                  </a:extLst>
                </a:gridCol>
                <a:gridCol w="924631">
                  <a:extLst>
                    <a:ext uri="{9D8B030D-6E8A-4147-A177-3AD203B41FA5}">
                      <a16:colId xmlns:a16="http://schemas.microsoft.com/office/drawing/2014/main" val="3083108735"/>
                    </a:ext>
                  </a:extLst>
                </a:gridCol>
                <a:gridCol w="924631">
                  <a:extLst>
                    <a:ext uri="{9D8B030D-6E8A-4147-A177-3AD203B41FA5}">
                      <a16:colId xmlns:a16="http://schemas.microsoft.com/office/drawing/2014/main" val="4273003575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</a:t>
                      </a:r>
                      <a:r>
                        <a:rPr lang="de-DE" sz="900" dirty="0"/>
                        <a:t>-schnell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Hierarchical</a:t>
                      </a:r>
                      <a:r>
                        <a:rPr lang="de-DE" sz="900" dirty="0"/>
                        <a:t> </a:t>
                      </a:r>
                      <a:r>
                        <a:rPr lang="de-DE" sz="900" dirty="0" err="1"/>
                        <a:t>Pruning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Compression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39680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two_object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89.14%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89.65%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146871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color_attr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48.75%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48.75%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467313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colors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74.73%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74.47%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86185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counting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61.88%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60.00%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24051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position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27.25%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27.50%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6898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single_object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99.38%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50991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0.66698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0.64 (Paper)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0.66623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340421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114360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DF9ADCCD-5271-8373-F8D1-1629F4D6D1A1}"/>
              </a:ext>
            </a:extLst>
          </p:cNvPr>
          <p:cNvSpPr txBox="1"/>
          <p:nvPr/>
        </p:nvSpPr>
        <p:spPr>
          <a:xfrm>
            <a:off x="213167" y="684745"/>
            <a:ext cx="101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GenEval</a:t>
            </a:r>
            <a:endParaRPr lang="en-GB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5354F73D-1EE5-8FCA-4DB2-4C0C022A2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877899"/>
              </p:ext>
            </p:extLst>
          </p:nvPr>
        </p:nvGraphicFramePr>
        <p:xfrm>
          <a:off x="213167" y="3816962"/>
          <a:ext cx="3632668" cy="17803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08167">
                  <a:extLst>
                    <a:ext uri="{9D8B030D-6E8A-4147-A177-3AD203B41FA5}">
                      <a16:colId xmlns:a16="http://schemas.microsoft.com/office/drawing/2014/main" val="2232437405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1834692877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2794212621"/>
                    </a:ext>
                  </a:extLst>
                </a:gridCol>
                <a:gridCol w="908167">
                  <a:extLst>
                    <a:ext uri="{9D8B030D-6E8A-4147-A177-3AD203B41FA5}">
                      <a16:colId xmlns:a16="http://schemas.microsoft.com/office/drawing/2014/main" val="4186600185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</a:t>
                      </a:r>
                      <a:r>
                        <a:rPr lang="de-DE" sz="900" dirty="0"/>
                        <a:t>-schnell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Hierarchical</a:t>
                      </a:r>
                      <a:r>
                        <a:rPr lang="de-DE" sz="900" dirty="0"/>
                        <a:t> </a:t>
                      </a:r>
                      <a:r>
                        <a:rPr lang="de-DE" sz="900" dirty="0" err="1"/>
                        <a:t>Pruning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Compression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04802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Concept-Art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78535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photo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0495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Anime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75583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Painting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228672"/>
                  </a:ext>
                </a:extLst>
              </a:tr>
              <a:tr h="271556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626363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2618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08622B86-0758-DFCD-417C-A3EDA8E67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943981"/>
              </p:ext>
            </p:extLst>
          </p:nvPr>
        </p:nvGraphicFramePr>
        <p:xfrm>
          <a:off x="213167" y="5971837"/>
          <a:ext cx="3703468" cy="8686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25867">
                  <a:extLst>
                    <a:ext uri="{9D8B030D-6E8A-4147-A177-3AD203B41FA5}">
                      <a16:colId xmlns:a16="http://schemas.microsoft.com/office/drawing/2014/main" val="3797624129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2293388445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489645457"/>
                    </a:ext>
                  </a:extLst>
                </a:gridCol>
                <a:gridCol w="925867">
                  <a:extLst>
                    <a:ext uri="{9D8B030D-6E8A-4147-A177-3AD203B41FA5}">
                      <a16:colId xmlns:a16="http://schemas.microsoft.com/office/drawing/2014/main" val="1324038968"/>
                    </a:ext>
                  </a:extLst>
                </a:gridCol>
              </a:tblGrid>
              <a:tr h="289372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Flux-schenll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Hierarchical</a:t>
                      </a:r>
                      <a:r>
                        <a:rPr lang="de-DE" sz="900" dirty="0"/>
                        <a:t> </a:t>
                      </a:r>
                      <a:r>
                        <a:rPr lang="de-DE" sz="900" dirty="0" err="1"/>
                        <a:t>Pruning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Linear </a:t>
                      </a:r>
                      <a:r>
                        <a:rPr lang="de-DE" sz="900" dirty="0" err="1"/>
                        <a:t>Compression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731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85.004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34529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29753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86BD2D86-A97D-13C7-4A3F-AB20E2BC8743}"/>
              </a:ext>
            </a:extLst>
          </p:cNvPr>
          <p:cNvSpPr txBox="1"/>
          <p:nvPr/>
        </p:nvSpPr>
        <p:spPr>
          <a:xfrm>
            <a:off x="399019" y="5686763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DPG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DA8B29A-4F29-3F75-8025-FA7584C15227}"/>
              </a:ext>
            </a:extLst>
          </p:cNvPr>
          <p:cNvSpPr txBox="1"/>
          <p:nvPr/>
        </p:nvSpPr>
        <p:spPr>
          <a:xfrm>
            <a:off x="213167" y="3472204"/>
            <a:ext cx="839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HPSv2</a:t>
            </a:r>
          </a:p>
        </p:txBody>
      </p:sp>
    </p:spTree>
    <p:extLst>
      <p:ext uri="{BB962C8B-B14F-4D97-AF65-F5344CB8AC3E}">
        <p14:creationId xmlns:p14="http://schemas.microsoft.com/office/powerpoint/2010/main" val="3752621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9FE71-2289-463E-FBB9-ED4283105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3494"/>
            <a:ext cx="10515600" cy="1325563"/>
          </a:xfrm>
        </p:spPr>
        <p:txBody>
          <a:bodyPr/>
          <a:lstStyle/>
          <a:p>
            <a:r>
              <a:rPr lang="en-GB" dirty="0"/>
              <a:t>No-Training Compression Methods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B6FDC5F4-66CB-F13B-788C-9D05FA82F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762560"/>
              </p:ext>
            </p:extLst>
          </p:nvPr>
        </p:nvGraphicFramePr>
        <p:xfrm>
          <a:off x="213167" y="1054077"/>
          <a:ext cx="4168485" cy="230211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33697">
                  <a:extLst>
                    <a:ext uri="{9D8B030D-6E8A-4147-A177-3AD203B41FA5}">
                      <a16:colId xmlns:a16="http://schemas.microsoft.com/office/drawing/2014/main" val="1186025608"/>
                    </a:ext>
                  </a:extLst>
                </a:gridCol>
                <a:gridCol w="833697">
                  <a:extLst>
                    <a:ext uri="{9D8B030D-6E8A-4147-A177-3AD203B41FA5}">
                      <a16:colId xmlns:a16="http://schemas.microsoft.com/office/drawing/2014/main" val="1944881106"/>
                    </a:ext>
                  </a:extLst>
                </a:gridCol>
                <a:gridCol w="833697">
                  <a:extLst>
                    <a:ext uri="{9D8B030D-6E8A-4147-A177-3AD203B41FA5}">
                      <a16:colId xmlns:a16="http://schemas.microsoft.com/office/drawing/2014/main" val="4142929916"/>
                    </a:ext>
                  </a:extLst>
                </a:gridCol>
                <a:gridCol w="833697">
                  <a:extLst>
                    <a:ext uri="{9D8B030D-6E8A-4147-A177-3AD203B41FA5}">
                      <a16:colId xmlns:a16="http://schemas.microsoft.com/office/drawing/2014/main" val="4273003575"/>
                    </a:ext>
                  </a:extLst>
                </a:gridCol>
                <a:gridCol w="833697">
                  <a:extLst>
                    <a:ext uri="{9D8B030D-6E8A-4147-A177-3AD203B41FA5}">
                      <a16:colId xmlns:a16="http://schemas.microsoft.com/office/drawing/2014/main" val="645002458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Eco-Diff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Eco-Diff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SVD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GRASP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39680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two_object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65.91%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73.23%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146871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color_attr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39.50%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44.00%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467313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colors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73.94%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78.99%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86185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counting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60.94%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63.44%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24051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position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13.25%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17.75%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6898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single_object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97.19%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96.56%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50991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0.58453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0.62329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340421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114360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AC6B8ACB-FCA3-672D-5A7F-50F87F6523C9}"/>
              </a:ext>
            </a:extLst>
          </p:cNvPr>
          <p:cNvSpPr txBox="1"/>
          <p:nvPr/>
        </p:nvSpPr>
        <p:spPr>
          <a:xfrm>
            <a:off x="213167" y="684745"/>
            <a:ext cx="101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GenEval</a:t>
            </a:r>
            <a:endParaRPr lang="en-GB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BB3CC786-24C6-8943-50E1-286BF9990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835"/>
              </p:ext>
            </p:extLst>
          </p:nvPr>
        </p:nvGraphicFramePr>
        <p:xfrm>
          <a:off x="213167" y="3816962"/>
          <a:ext cx="3632670" cy="188786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26534">
                  <a:extLst>
                    <a:ext uri="{9D8B030D-6E8A-4147-A177-3AD203B41FA5}">
                      <a16:colId xmlns:a16="http://schemas.microsoft.com/office/drawing/2014/main" val="2232437405"/>
                    </a:ext>
                  </a:extLst>
                </a:gridCol>
                <a:gridCol w="726534">
                  <a:extLst>
                    <a:ext uri="{9D8B030D-6E8A-4147-A177-3AD203B41FA5}">
                      <a16:colId xmlns:a16="http://schemas.microsoft.com/office/drawing/2014/main" val="81727236"/>
                    </a:ext>
                  </a:extLst>
                </a:gridCol>
                <a:gridCol w="726534">
                  <a:extLst>
                    <a:ext uri="{9D8B030D-6E8A-4147-A177-3AD203B41FA5}">
                      <a16:colId xmlns:a16="http://schemas.microsoft.com/office/drawing/2014/main" val="1834692877"/>
                    </a:ext>
                  </a:extLst>
                </a:gridCol>
                <a:gridCol w="726534">
                  <a:extLst>
                    <a:ext uri="{9D8B030D-6E8A-4147-A177-3AD203B41FA5}">
                      <a16:colId xmlns:a16="http://schemas.microsoft.com/office/drawing/2014/main" val="2794212621"/>
                    </a:ext>
                  </a:extLst>
                </a:gridCol>
                <a:gridCol w="726534">
                  <a:extLst>
                    <a:ext uri="{9D8B030D-6E8A-4147-A177-3AD203B41FA5}">
                      <a16:colId xmlns:a16="http://schemas.microsoft.com/office/drawing/2014/main" val="4186600185"/>
                    </a:ext>
                  </a:extLst>
                </a:gridCol>
              </a:tblGrid>
              <a:tr h="336153">
                <a:tc>
                  <a:txBody>
                    <a:bodyPr/>
                    <a:lstStyle/>
                    <a:p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/>
                        <a:t>Eco-Diff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Eco-Diff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SVD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GRASP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04802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Concept-Art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23.23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785357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 err="1"/>
                        <a:t>photo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28.55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22.69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04956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Anime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24.17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31.81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32.19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755835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Painting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24.41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228672"/>
                  </a:ext>
                </a:extLst>
              </a:tr>
              <a:tr h="271556">
                <a:tc>
                  <a:txBody>
                    <a:bodyPr/>
                    <a:lstStyle/>
                    <a:p>
                      <a:r>
                        <a:rPr lang="de-DE" sz="900" dirty="0" err="1"/>
                        <a:t>AVerage</a:t>
                      </a:r>
                      <a:endParaRPr lang="de-DE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29.67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23.63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30.82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626363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r>
                        <a:rPr lang="de-DE" sz="900" dirty="0"/>
                        <a:t># Param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900" dirty="0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2618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E278A65D-FD8D-2F9B-9074-30BE109698D4}"/>
              </a:ext>
            </a:extLst>
          </p:cNvPr>
          <p:cNvSpPr txBox="1"/>
          <p:nvPr/>
        </p:nvSpPr>
        <p:spPr>
          <a:xfrm>
            <a:off x="213167" y="3472204"/>
            <a:ext cx="839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HPSv2</a:t>
            </a:r>
          </a:p>
        </p:txBody>
      </p:sp>
    </p:spTree>
    <p:extLst>
      <p:ext uri="{BB962C8B-B14F-4D97-AF65-F5344CB8AC3E}">
        <p14:creationId xmlns:p14="http://schemas.microsoft.com/office/powerpoint/2010/main" val="372154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DE2AFA-89A4-C0E9-2DDD-72F4C0513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Runtime and VRAM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1C317179-DD62-226C-BDA8-5E3E63481A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454274"/>
          <a:ext cx="9920289" cy="174625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71029">
                  <a:extLst>
                    <a:ext uri="{9D8B030D-6E8A-4147-A177-3AD203B41FA5}">
                      <a16:colId xmlns:a16="http://schemas.microsoft.com/office/drawing/2014/main" val="1617647828"/>
                    </a:ext>
                  </a:extLst>
                </a:gridCol>
                <a:gridCol w="1248371">
                  <a:extLst>
                    <a:ext uri="{9D8B030D-6E8A-4147-A177-3AD203B41FA5}">
                      <a16:colId xmlns:a16="http://schemas.microsoft.com/office/drawing/2014/main" val="1140514159"/>
                    </a:ext>
                  </a:extLst>
                </a:gridCol>
                <a:gridCol w="1868348">
                  <a:extLst>
                    <a:ext uri="{9D8B030D-6E8A-4147-A177-3AD203B41FA5}">
                      <a16:colId xmlns:a16="http://schemas.microsoft.com/office/drawing/2014/main" val="907767012"/>
                    </a:ext>
                  </a:extLst>
                </a:gridCol>
                <a:gridCol w="1266959">
                  <a:extLst>
                    <a:ext uri="{9D8B030D-6E8A-4147-A177-3AD203B41FA5}">
                      <a16:colId xmlns:a16="http://schemas.microsoft.com/office/drawing/2014/main" val="465157021"/>
                    </a:ext>
                  </a:extLst>
                </a:gridCol>
                <a:gridCol w="1550993">
                  <a:extLst>
                    <a:ext uri="{9D8B030D-6E8A-4147-A177-3AD203B41FA5}">
                      <a16:colId xmlns:a16="http://schemas.microsoft.com/office/drawing/2014/main" val="298417006"/>
                    </a:ext>
                  </a:extLst>
                </a:gridCol>
                <a:gridCol w="2414589">
                  <a:extLst>
                    <a:ext uri="{9D8B030D-6E8A-4147-A177-3AD203B41FA5}">
                      <a16:colId xmlns:a16="http://schemas.microsoft.com/office/drawing/2014/main" val="2793018711"/>
                    </a:ext>
                  </a:extLst>
                </a:gridCol>
              </a:tblGrid>
              <a:tr h="35961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Original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90%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90%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80%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80%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2260565498"/>
                  </a:ext>
                </a:extLst>
              </a:tr>
              <a:tr h="500810">
                <a:tc>
                  <a:txBody>
                    <a:bodyPr/>
                    <a:lstStyle/>
                    <a:p>
                      <a:r>
                        <a:rPr lang="de-DE" sz="1200" dirty="0"/>
                        <a:t>Zeit 1 Inferenz Schritt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584ms 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692.55 </a:t>
                      </a:r>
                      <a:r>
                        <a:rPr lang="de-DE" sz="1200" dirty="0" err="1">
                          <a:effectLst/>
                        </a:rPr>
                        <a:t>ms</a:t>
                      </a:r>
                      <a:endParaRPr lang="de-DE" sz="1200" dirty="0">
                        <a:effectLst/>
                      </a:endParaRP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806.70 ms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656.83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789.23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28585478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de-DE" sz="1200"/>
                        <a:t>Vram (GB)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32.09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29.92 GB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29.94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27.72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27.75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358644807"/>
                  </a:ext>
                </a:extLst>
              </a:tr>
              <a:tr h="428626">
                <a:tc>
                  <a:txBody>
                    <a:bodyPr/>
                    <a:lstStyle/>
                    <a:p>
                      <a:r>
                        <a:rPr lang="de-DE" sz="1200" dirty="0" err="1"/>
                        <a:t>Number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of</a:t>
                      </a:r>
                      <a:r>
                        <a:rPr lang="de-DE" sz="1200" dirty="0"/>
                        <a:t>  </a:t>
                      </a:r>
                      <a:r>
                        <a:rPr lang="de-DE" sz="1200" dirty="0" err="1"/>
                        <a:t>modified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blocks</a:t>
                      </a:r>
                      <a:endParaRPr lang="de-DE" sz="1200" dirty="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endParaRPr lang="de-DE" sz="1200">
                        <a:effectLst/>
                      </a:endParaRP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20 Blocks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40 Blocks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22 Blocks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48 Blocks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2685807982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A02A2896-760D-B901-AE9C-B30FC82B263E}"/>
              </a:ext>
            </a:extLst>
          </p:cNvPr>
          <p:cNvSpPr txBox="1"/>
          <p:nvPr/>
        </p:nvSpPr>
        <p:spPr>
          <a:xfrm>
            <a:off x="838200" y="1889680"/>
            <a:ext cx="3855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Runtime was averaged over 100 trails</a:t>
            </a:r>
          </a:p>
        </p:txBody>
      </p:sp>
    </p:spTree>
    <p:extLst>
      <p:ext uri="{BB962C8B-B14F-4D97-AF65-F5344CB8AC3E}">
        <p14:creationId xmlns:p14="http://schemas.microsoft.com/office/powerpoint/2010/main" val="2071343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</Words>
  <Application>Microsoft Macintosh PowerPoint</Application>
  <PresentationFormat>Breitbild</PresentationFormat>
  <Paragraphs>764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Flux Final Results</vt:lpstr>
      <vt:lpstr>Competitors on Flux-dev</vt:lpstr>
      <vt:lpstr>Var Guidance Training – First Attempt</vt:lpstr>
      <vt:lpstr>Results</vt:lpstr>
      <vt:lpstr>Linear Compression Scheme</vt:lpstr>
      <vt:lpstr>Results</vt:lpstr>
      <vt:lpstr>Comparison Linear Method with Competitors</vt:lpstr>
      <vt:lpstr>Flux-Schnell</vt:lpstr>
      <vt:lpstr>No-Training Compression Methods</vt:lpstr>
      <vt:lpstr>Runtime and VRAM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28</cp:revision>
  <dcterms:created xsi:type="dcterms:W3CDTF">2026-02-05T08:12:49Z</dcterms:created>
  <dcterms:modified xsi:type="dcterms:W3CDTF">2026-02-05T09:30:33Z</dcterms:modified>
</cp:coreProperties>
</file>